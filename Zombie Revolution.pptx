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2.xml" ContentType="application/vnd.openxmlformats-officedocument.drawingml.chartshapes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78" r:id="rId5"/>
    <p:sldId id="279" r:id="rId6"/>
    <p:sldId id="280" r:id="rId7"/>
    <p:sldId id="282" r:id="rId8"/>
    <p:sldId id="281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77" r:id="rId2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6DD9404-1CC3-4706-8EFC-6ACBD19CAEBD}">
          <p14:sldIdLst>
            <p14:sldId id="256"/>
            <p14:sldId id="257"/>
          </p14:sldIdLst>
        </p14:section>
        <p14:section name="Общие показатели" id="{5F7BAFF9-48BA-4343-B8AF-E69633CE747E}">
          <p14:sldIdLst>
            <p14:sldId id="258"/>
            <p14:sldId id="278"/>
            <p14:sldId id="279"/>
            <p14:sldId id="280"/>
            <p14:sldId id="282"/>
          </p14:sldIdLst>
        </p14:section>
        <p14:section name="Технические проблемы" id="{62BA9B7D-27A0-4D1E-B77F-155C6511F816}">
          <p14:sldIdLst>
            <p14:sldId id="281"/>
          </p14:sldIdLst>
        </p14:section>
        <p14:section name="Маркетинговая акция" id="{7D7258B8-0A62-4FB8-86B9-D0BC0F4A621F}">
          <p14:sldIdLst>
            <p14:sldId id="283"/>
            <p14:sldId id="284"/>
          </p14:sldIdLst>
        </p14:section>
        <p14:section name="Финансовые метрики" id="{F99954B6-E59A-41FB-8EF1-2CA431A7FB9D}">
          <p14:sldIdLst>
            <p14:sldId id="285"/>
            <p14:sldId id="286"/>
            <p14:sldId id="287"/>
          </p14:sldIdLst>
        </p14:section>
        <p14:section name="Показатель вирусности" id="{82D2292F-C518-4370-B3ED-7F2CCC1A0189}">
          <p14:sldIdLst>
            <p14:sldId id="288"/>
          </p14:sldIdLst>
        </p14:section>
        <p14:section name="Новый канал привлечения" id="{CCF9A4D3-F915-489E-8BFC-19791FE91A8B}">
          <p14:sldIdLst>
            <p14:sldId id="289"/>
          </p14:sldIdLst>
        </p14:section>
        <p14:section name="Лояльность" id="{B8BC9C3B-CC98-40B6-9BBA-1470E541915E}">
          <p14:sldIdLst>
            <p14:sldId id="290"/>
            <p14:sldId id="291"/>
            <p14:sldId id="292"/>
            <p14:sldId id="293"/>
            <p14:sldId id="294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9253"/>
    <a:srgbClr val="202020"/>
    <a:srgbClr val="FFE73B"/>
    <a:srgbClr val="5B9BD5"/>
    <a:srgbClr val="4472C4"/>
    <a:srgbClr val="00B050"/>
    <a:srgbClr val="7030A0"/>
    <a:srgbClr val="ED7D31"/>
    <a:srgbClr val="FFC0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483" y="437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1%20&#1082;&#1086;&#1083;&#1080;&#1095;&#1077;&#1089;&#1090;&#1074;&#1086;%20&#1088;&#1077;&#1075;&#1080;&#1089;&#1090;&#1088;&#1072;&#1094;&#1080;&#108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1%20&#1082;&#1086;&#1083;&#1080;&#1095;&#1077;&#1089;&#1090;&#1074;&#1086;%20&#1080;%20&#1082;&#1072;&#1095;&#1077;&#1089;&#1090;&#1074;&#1086;%20&#1080;&#1075;&#1088;&#1086;&#1074;&#1099;&#1093;%20&#1089;&#1077;&#1089;&#1089;&#1080;&#108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1%20&#1076;&#1086;&#1083;&#1103;%20&#1076;&#1083;&#1080;&#1085;&#1085;&#1099;&#1093;%20&#1089;&#1077;&#1089;&#1089;&#1080;&#1081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1%20&#1089;&#1088;&#1077;&#1076;&#1085;&#1103;&#1103;%20&#1076;&#1083;&#1080;&#1090;&#1077;&#1083;&#1100;&#1085;&#1086;&#1089;&#1090;&#1100;%20&#1080;&#1075;&#1088;&#1086;&#1074;&#1099;&#1093;%20&#1089;&#1077;&#1089;&#1089;&#1080;&#1081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ios_android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&#1058;&#1047;_1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&#1058;&#1047;_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2%20&#1089;&#1091;&#1084;&#1084;&#1072;&#1088;&#1085;&#1099;&#1077;%20&#1082;&#1083;&#1080;&#1077;&#1085;&#1090;&#1089;&#1082;&#1080;&#1077;%20&#1074;&#1099;&#1087;&#1083;&#1072;&#1090;&#1099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2%20&#1089;&#1088;&#1077;&#1076;&#1085;&#1077;&#1077;%20&#1082;&#1086;&#1083;&#1080;&#1095;&#1077;&#1089;&#1090;&#1074;&#1086;%20&#1080;%20&#1074;&#1099;&#1088;&#1091;&#1095;&#1082;&#1072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2%20&#1089;&#1088;&#1077;&#1076;&#1085;&#1103;&#1103;%20&#1074;&#1099;&#1088;&#1091;&#1095;&#1082;&#1072;%20&#1085;&#1072;%201%20&#1095;&#1077;&#1083;&#1086;&#1074;&#1077;&#1082;&#1072;%20&#1087;&#1086;%20&#1082;&#1086;&#1075;&#1086;&#1088;&#1090;&#1072;&#1084;.xlsx" TargetMode="Externa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2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3%20LMAU%20crit%20invit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3%20LMAU%20crit%201000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3%20LMAU%20crit%20and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kypro\3%20LMAU%20crit%20or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Динамика</a:t>
            </a:r>
            <a:r>
              <a:rPr lang="ru-RU" baseline="0">
                <a:solidFill>
                  <a:schemeClr val="tx1"/>
                </a:solidFill>
              </a:rPr>
              <a:t> к</a:t>
            </a:r>
            <a:r>
              <a:rPr lang="ru-RU">
                <a:solidFill>
                  <a:schemeClr val="tx1"/>
                </a:solidFill>
              </a:rPr>
              <a:t>оличества регистраций</a:t>
            </a:r>
            <a:r>
              <a:rPr lang="ru-RU" baseline="0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по месяцам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4480253912681801E-2"/>
                  <c:y val="-4.2328943901435399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A2B-4278-973A-92979A0C6C2E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A2B-4278-973A-92979A0C6C2E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A2B-4278-973A-92979A0C6C2E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A2B-4278-973A-92979A0C6C2E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A2B-4278-973A-92979A0C6C2E}"/>
                </c:ext>
              </c:extLst>
            </c:dLbl>
            <c:dLbl>
              <c:idx val="5"/>
              <c:layout>
                <c:manualLayout>
                  <c:x val="-4.3418803418803602E-2"/>
                  <c:y val="-3.6984767025089599E-2"/>
                </c:manualLayout>
              </c:layout>
              <c:spPr>
                <a:solidFill>
                  <a:srgbClr val="92D05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A2B-4278-973A-92979A0C6C2E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A2B-4278-973A-92979A0C6C2E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A2B-4278-973A-92979A0C6C2E}"/>
                </c:ext>
              </c:extLst>
            </c:dLbl>
            <c:dLbl>
              <c:idx val="8"/>
              <c:layout>
                <c:manualLayout>
                  <c:x val="-2.9967727063162902E-2"/>
                  <c:y val="-4.2140750105351898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A2B-4278-973A-92979A0C6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A2B-4278-973A-92979A0C6C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9351888"/>
        <c:axId val="529336528"/>
      </c:lineChart>
      <c:dateAx>
        <c:axId val="5293518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9336528"/>
        <c:crosses val="autoZero"/>
        <c:auto val="1"/>
        <c:lblOffset val="100"/>
        <c:baseTimeUnit val="months"/>
      </c:dateAx>
      <c:valAx>
        <c:axId val="529336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>
                    <a:solidFill>
                      <a:schemeClr val="tx1"/>
                    </a:solidFill>
                  </a:rPr>
                  <a:t>Регистрации, кол-во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9351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aeefdba-b053-4267-9234-521f9d240fce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Динамика количества и качества игровых сессий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 всех игровых сессий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82-41B9-B1B6-AF85905D27C2}"/>
            </c:ext>
          </c:extLst>
        </c:ser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количество игровых сессий дольше 5 минут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  <c:pt idx="9">
                  <c:v>3243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82-41B9-B1B6-AF85905D27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4504880"/>
        <c:axId val="734511600"/>
      </c:lineChart>
      <c:lineChart>
        <c:grouping val="standard"/>
        <c:varyColors val="0"/>
        <c:ser>
          <c:idx val="2"/>
          <c:order val="2"/>
          <c:tx>
            <c:strRef>
              <c:f>'Результат запроса'!$D$1</c:f>
              <c:strCache>
                <c:ptCount val="1"/>
                <c:pt idx="0">
                  <c:v>доля игровых сессий дольше 5 минут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запроса'!$D$2:$D$11</c:f>
              <c:numCache>
                <c:formatCode>0%</c:formatCode>
                <c:ptCount val="10"/>
                <c:pt idx="0">
                  <c:v>0.76392352452202805</c:v>
                </c:pt>
                <c:pt idx="1">
                  <c:v>0.77274784970574895</c:v>
                </c:pt>
                <c:pt idx="2">
                  <c:v>0.76802507836990597</c:v>
                </c:pt>
                <c:pt idx="3">
                  <c:v>0.77572898799313905</c:v>
                </c:pt>
                <c:pt idx="4">
                  <c:v>0.74229857819905198</c:v>
                </c:pt>
                <c:pt idx="5">
                  <c:v>0.65454545454545499</c:v>
                </c:pt>
                <c:pt idx="6">
                  <c:v>0.73165704863973602</c:v>
                </c:pt>
                <c:pt idx="7">
                  <c:v>0.71800177357375095</c:v>
                </c:pt>
                <c:pt idx="8">
                  <c:v>0.67399204014535397</c:v>
                </c:pt>
                <c:pt idx="9">
                  <c:v>0.65212145586165304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782-41B9-B1B6-AF85905D27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5998640"/>
        <c:axId val="756018800"/>
      </c:lineChart>
      <c:dateAx>
        <c:axId val="73450488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34511600"/>
        <c:crosses val="autoZero"/>
        <c:auto val="1"/>
        <c:lblOffset val="100"/>
        <c:baseTimeUnit val="months"/>
      </c:dateAx>
      <c:valAx>
        <c:axId val="734511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Сессии, кол-во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34504880"/>
        <c:crosses val="autoZero"/>
        <c:crossBetween val="between"/>
      </c:valAx>
      <c:dateAx>
        <c:axId val="7559986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756018800"/>
        <c:crosses val="autoZero"/>
        <c:auto val="1"/>
        <c:lblOffset val="100"/>
        <c:baseTimeUnit val="months"/>
      </c:dateAx>
      <c:valAx>
        <c:axId val="75601880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Доля %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599864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b283333-8a07-4052-b7c5-ed2204e52539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Динамика доли </a:t>
            </a:r>
            <a:r>
              <a:rPr lang="en-US">
                <a:solidFill>
                  <a:schemeClr val="tx1"/>
                </a:solidFill>
              </a:rPr>
              <a:t>"</a:t>
            </a:r>
            <a:r>
              <a:rPr lang="ru-RU">
                <a:solidFill>
                  <a:schemeClr val="tx1"/>
                </a:solidFill>
              </a:rPr>
              <a:t>длинных</a:t>
            </a:r>
            <a:r>
              <a:rPr lang="en-US">
                <a:solidFill>
                  <a:schemeClr val="tx1"/>
                </a:solidFill>
              </a:rPr>
              <a:t>"</a:t>
            </a:r>
            <a:r>
              <a:rPr lang="ru-RU">
                <a:solidFill>
                  <a:schemeClr val="tx1"/>
                </a:solidFill>
              </a:rPr>
              <a:t> сессий по месяцам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share_long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3E-4789-8692-B9CB6532F87E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3E-4789-8692-B9CB6532F87E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13E-4789-8692-B9CB6532F87E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3E-4789-8692-B9CB6532F87E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13E-4789-8692-B9CB6532F87E}"/>
                </c:ext>
              </c:extLst>
            </c:dLbl>
            <c:dLbl>
              <c:idx val="5"/>
              <c:layout>
                <c:manualLayout>
                  <c:x val="-3.08119658119658E-2"/>
                  <c:y val="4.0618279569892501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13E-4789-8692-B9CB6532F87E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13E-4789-8692-B9CB6532F87E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13E-4789-8692-B9CB6532F87E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13E-4789-8692-B9CB6532F87E}"/>
                </c:ext>
              </c:extLst>
            </c:dLbl>
            <c:dLbl>
              <c:idx val="9"/>
              <c:layout>
                <c:manualLayout>
                  <c:x val="-3.2621082621082598E-2"/>
                  <c:y val="-3.49164426523298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13E-4789-8692-B9CB6532F87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0%</c:formatCode>
                <c:ptCount val="10"/>
                <c:pt idx="0">
                  <c:v>0.66811751904243699</c:v>
                </c:pt>
                <c:pt idx="1">
                  <c:v>0.69244288224956096</c:v>
                </c:pt>
                <c:pt idx="2">
                  <c:v>0.69154518950437305</c:v>
                </c:pt>
                <c:pt idx="3">
                  <c:v>0.68435599778883405</c:v>
                </c:pt>
                <c:pt idx="4">
                  <c:v>0.63607342378292098</c:v>
                </c:pt>
                <c:pt idx="5">
                  <c:v>0.56372549019607798</c:v>
                </c:pt>
                <c:pt idx="6">
                  <c:v>0.65014084507042302</c:v>
                </c:pt>
                <c:pt idx="7">
                  <c:v>0.66941128036228903</c:v>
                </c:pt>
                <c:pt idx="8">
                  <c:v>0.64261874197689395</c:v>
                </c:pt>
                <c:pt idx="9">
                  <c:v>0.70027752081406103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613E-4789-8692-B9CB6532F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5975600"/>
        <c:axId val="755984720"/>
      </c:lineChart>
      <c:dateAx>
        <c:axId val="7559756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5984720"/>
        <c:crosses val="autoZero"/>
        <c:auto val="1"/>
        <c:lblOffset val="100"/>
        <c:baseTimeUnit val="months"/>
      </c:dateAx>
      <c:valAx>
        <c:axId val="755984720"/>
        <c:scaling>
          <c:orientation val="minMax"/>
          <c:min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5975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ab44329-8a9c-4552-b92e-b55926eb248b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Динамика средней длительности игровых сессий по месяцам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avg_len_hour</c:v>
                </c:pt>
              </c:strCache>
            </c:strRef>
          </c:tx>
          <c:spPr>
            <a:ln w="28575" cap="rnd">
              <a:solidFill>
                <a:srgbClr val="5B9BD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196-40F9-A3C2-3047E7323D0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196-40F9-A3C2-3047E7323D0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196-40F9-A3C2-3047E7323D0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196-40F9-A3C2-3047E7323D0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196-40F9-A3C2-3047E7323D02}"/>
                </c:ext>
              </c:extLst>
            </c:dLbl>
            <c:dLbl>
              <c:idx val="5"/>
              <c:layout>
                <c:manualLayout>
                  <c:x val="-3.0754985754985701E-2"/>
                  <c:y val="-3.6984767025089599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196-40F9-A3C2-3047E7323D0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196-40F9-A3C2-3047E7323D0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96-40F9-A3C2-3047E7323D02}"/>
                </c:ext>
              </c:extLst>
            </c:dLbl>
            <c:dLbl>
              <c:idx val="8"/>
              <c:layout>
                <c:manualLayout>
                  <c:x val="-2.9038461538461499E-2"/>
                  <c:y val="-3.65575716845878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196-40F9-A3C2-3047E7323D0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196-40F9-A3C2-3047E7323D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0.00</c:formatCode>
                <c:ptCount val="10"/>
                <c:pt idx="0">
                  <c:v>2.2188248095756302</c:v>
                </c:pt>
                <c:pt idx="1">
                  <c:v>2.3230326108182</c:v>
                </c:pt>
                <c:pt idx="2">
                  <c:v>2.2760932944606398</c:v>
                </c:pt>
                <c:pt idx="3">
                  <c:v>2.3715035931453801</c:v>
                </c:pt>
                <c:pt idx="4">
                  <c:v>2.5163474328278799</c:v>
                </c:pt>
                <c:pt idx="5">
                  <c:v>2.7311819172113299</c:v>
                </c:pt>
                <c:pt idx="6">
                  <c:v>2.3998779342723</c:v>
                </c:pt>
                <c:pt idx="7">
                  <c:v>2.2895430218196799</c:v>
                </c:pt>
                <c:pt idx="8">
                  <c:v>5.5359777492511801</c:v>
                </c:pt>
                <c:pt idx="9">
                  <c:v>2.33437660602323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5196-40F9-A3C2-3047E7323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6029360"/>
        <c:axId val="756029840"/>
      </c:lineChart>
      <c:dateAx>
        <c:axId val="7560293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6029840"/>
        <c:crosses val="autoZero"/>
        <c:auto val="1"/>
        <c:lblOffset val="100"/>
        <c:baseTimeUnit val="months"/>
      </c:dateAx>
      <c:valAx>
        <c:axId val="756029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6029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d13605c-7277-4a7c-8c27-c86aea9977b8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Распределение битых строк по типу устройства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266-4BEE-82D9-29182BB6398B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266-4BEE-82D9-29182BB6398B}"/>
              </c:ext>
            </c:extLst>
          </c:dPt>
          <c:dLbls>
            <c:dLbl>
              <c:idx val="0"/>
              <c:layout>
                <c:manualLayout>
                  <c:x val="-1.3598290598291261E-3"/>
                  <c:y val="-6.0636200716845876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fld id="{37B58071-6566-4C23-A50F-6C636B1C2ACB}" type="CATEGORYNAME">
                      <a:rPr lang="en-US" sz="1050" b="1" smtClean="0"/>
                      <a:pPr/>
                      <a:t>[ИМЯ КАТЕГОРИИ]</a:t>
                    </a:fld>
                    <a:endParaRPr lang="en-US" sz="1050" b="1" dirty="0"/>
                  </a:p>
                  <a:p>
                    <a:r>
                      <a:rPr lang="en-US" sz="1050" b="1" dirty="0"/>
                      <a:t>3184</a:t>
                    </a:r>
                  </a:p>
                </c:rich>
              </c:tx>
              <c:numFmt formatCode="0.00%" sourceLinked="0"/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266-4BEE-82D9-29182BB6398B}"/>
                </c:ext>
              </c:extLst>
            </c:dLbl>
            <c:dLbl>
              <c:idx val="1"/>
              <c:layout>
                <c:manualLayout>
                  <c:x val="1.35501355013549E-2"/>
                  <c:y val="1.146908434563300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fld id="{75048BD3-7489-4053-BDF3-56122CBF0700}" type="CATEGORYNAME">
                      <a:rPr lang="en-US" sz="1050" b="1" smtClean="0"/>
                      <a:pPr/>
                      <a:t>[ИМЯ КАТЕГОРИИ]</a:t>
                    </a:fld>
                    <a:endParaRPr lang="en-US" sz="1050" b="1" dirty="0"/>
                  </a:p>
                  <a:p>
                    <a:r>
                      <a:rPr lang="en-US" sz="1050" b="1" i="0" u="none" strike="noStrike" baseline="0" dirty="0">
                        <a:latin typeface="Arial" panose="020B0604020202020204" pitchFamily="34" charset="0"/>
                        <a:ea typeface="Arial" panose="020B0604020202020204" pitchFamily="34" charset="0"/>
                        <a:cs typeface="+mn-ea"/>
                      </a:rPr>
                      <a:t>78</a:t>
                    </a:r>
                  </a:p>
                </c:rich>
              </c:tx>
              <c:numFmt formatCode="0.00%" sourceLinked="0"/>
              <c:spPr>
                <a:noFill/>
                <a:ln>
                  <a:noFill/>
                </a:ln>
                <a:effectLst/>
              </c:sp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266-4BEE-82D9-29182BB639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ios</c:v>
                </c:pt>
                <c:pt idx="1">
                  <c:v>android</c:v>
                </c:pt>
              </c:strCache>
            </c:strRef>
          </c:cat>
          <c:val>
            <c:numRef>
              <c:f>Sheet1!$B$2:$B$3</c:f>
              <c:numCache>
                <c:formatCode>0.00</c:formatCode>
                <c:ptCount val="2"/>
                <c:pt idx="0">
                  <c:v>3184</c:v>
                </c:pt>
                <c:pt idx="1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66-4BEE-82D9-29182BB6398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bcfe5fa-50ce-4627-b635-cb849ff22871}"/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ru-RU"/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chemeClr val="tx1"/>
                </a:solidFill>
              </a:rPr>
              <a:t>Динамика</a:t>
            </a:r>
            <a:r>
              <a:rPr lang="ru-RU" baseline="0" dirty="0">
                <a:solidFill>
                  <a:schemeClr val="tx1"/>
                </a:solidFill>
              </a:rPr>
              <a:t> к</a:t>
            </a:r>
            <a:r>
              <a:rPr lang="ru-RU" dirty="0">
                <a:solidFill>
                  <a:schemeClr val="tx1"/>
                </a:solidFill>
              </a:rPr>
              <a:t>оличества уникальных пользователей</a:t>
            </a:r>
          </a:p>
        </c:rich>
      </c:tx>
      <c:layout>
        <c:manualLayout>
          <c:xMode val="edge"/>
          <c:yMode val="edge"/>
          <c:x val="0.20493920982161901"/>
          <c:y val="2.25598673916275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'[ТЗ_1.xlsx]Результат запроса'!$B$1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'[ТЗ_1.xlsx]Результат запроса'!$A$2:$A$304</c:f>
              <c:numCache>
                <c:formatCode>dd\.mm\.yyyy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'[ТЗ_1.xlsx]Результат запроса'!$B$2:$B$304</c:f>
              <c:numCache>
                <c:formatCode>General</c:formatCode>
                <c:ptCount val="303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13</c:v>
                </c:pt>
                <c:pt idx="6">
                  <c:v>22</c:v>
                </c:pt>
                <c:pt idx="7">
                  <c:v>22</c:v>
                </c:pt>
                <c:pt idx="8">
                  <c:v>26</c:v>
                </c:pt>
                <c:pt idx="9">
                  <c:v>23</c:v>
                </c:pt>
                <c:pt idx="10">
                  <c:v>24</c:v>
                </c:pt>
                <c:pt idx="11">
                  <c:v>30</c:v>
                </c:pt>
                <c:pt idx="12">
                  <c:v>32</c:v>
                </c:pt>
                <c:pt idx="13">
                  <c:v>25</c:v>
                </c:pt>
                <c:pt idx="14">
                  <c:v>34</c:v>
                </c:pt>
                <c:pt idx="15">
                  <c:v>39</c:v>
                </c:pt>
                <c:pt idx="16">
                  <c:v>22</c:v>
                </c:pt>
                <c:pt idx="17">
                  <c:v>38</c:v>
                </c:pt>
                <c:pt idx="18">
                  <c:v>34</c:v>
                </c:pt>
                <c:pt idx="19">
                  <c:v>50</c:v>
                </c:pt>
                <c:pt idx="20">
                  <c:v>43</c:v>
                </c:pt>
                <c:pt idx="21">
                  <c:v>43</c:v>
                </c:pt>
                <c:pt idx="22">
                  <c:v>53</c:v>
                </c:pt>
                <c:pt idx="23">
                  <c:v>63</c:v>
                </c:pt>
                <c:pt idx="24">
                  <c:v>48</c:v>
                </c:pt>
                <c:pt idx="25">
                  <c:v>59</c:v>
                </c:pt>
                <c:pt idx="26">
                  <c:v>59</c:v>
                </c:pt>
                <c:pt idx="27">
                  <c:v>61</c:v>
                </c:pt>
                <c:pt idx="28">
                  <c:v>64</c:v>
                </c:pt>
                <c:pt idx="29">
                  <c:v>64</c:v>
                </c:pt>
                <c:pt idx="30">
                  <c:v>52</c:v>
                </c:pt>
                <c:pt idx="31">
                  <c:v>62</c:v>
                </c:pt>
                <c:pt idx="32">
                  <c:v>55</c:v>
                </c:pt>
                <c:pt idx="33">
                  <c:v>60</c:v>
                </c:pt>
                <c:pt idx="34">
                  <c:v>52</c:v>
                </c:pt>
                <c:pt idx="35">
                  <c:v>62</c:v>
                </c:pt>
                <c:pt idx="36">
                  <c:v>59</c:v>
                </c:pt>
                <c:pt idx="37">
                  <c:v>58</c:v>
                </c:pt>
                <c:pt idx="38">
                  <c:v>53</c:v>
                </c:pt>
                <c:pt idx="39">
                  <c:v>55</c:v>
                </c:pt>
                <c:pt idx="40">
                  <c:v>65</c:v>
                </c:pt>
                <c:pt idx="41">
                  <c:v>54</c:v>
                </c:pt>
                <c:pt idx="42">
                  <c:v>74</c:v>
                </c:pt>
                <c:pt idx="43">
                  <c:v>59</c:v>
                </c:pt>
                <c:pt idx="44">
                  <c:v>54</c:v>
                </c:pt>
                <c:pt idx="45">
                  <c:v>68</c:v>
                </c:pt>
                <c:pt idx="46">
                  <c:v>59</c:v>
                </c:pt>
                <c:pt idx="47">
                  <c:v>61</c:v>
                </c:pt>
                <c:pt idx="48">
                  <c:v>58</c:v>
                </c:pt>
                <c:pt idx="49">
                  <c:v>67</c:v>
                </c:pt>
                <c:pt idx="50">
                  <c:v>62</c:v>
                </c:pt>
                <c:pt idx="51">
                  <c:v>53</c:v>
                </c:pt>
                <c:pt idx="52">
                  <c:v>60</c:v>
                </c:pt>
                <c:pt idx="53">
                  <c:v>67</c:v>
                </c:pt>
                <c:pt idx="54">
                  <c:v>67</c:v>
                </c:pt>
                <c:pt idx="55">
                  <c:v>61</c:v>
                </c:pt>
                <c:pt idx="56">
                  <c:v>63</c:v>
                </c:pt>
                <c:pt idx="57">
                  <c:v>61</c:v>
                </c:pt>
                <c:pt idx="58">
                  <c:v>54</c:v>
                </c:pt>
                <c:pt idx="59">
                  <c:v>72</c:v>
                </c:pt>
                <c:pt idx="60">
                  <c:v>54</c:v>
                </c:pt>
                <c:pt idx="61">
                  <c:v>66</c:v>
                </c:pt>
                <c:pt idx="62">
                  <c:v>61</c:v>
                </c:pt>
                <c:pt idx="63">
                  <c:v>58</c:v>
                </c:pt>
                <c:pt idx="64">
                  <c:v>64</c:v>
                </c:pt>
                <c:pt idx="65">
                  <c:v>62</c:v>
                </c:pt>
                <c:pt idx="66">
                  <c:v>46</c:v>
                </c:pt>
                <c:pt idx="67">
                  <c:v>49</c:v>
                </c:pt>
                <c:pt idx="68">
                  <c:v>59</c:v>
                </c:pt>
                <c:pt idx="69">
                  <c:v>60</c:v>
                </c:pt>
                <c:pt idx="70">
                  <c:v>53</c:v>
                </c:pt>
                <c:pt idx="71">
                  <c:v>61</c:v>
                </c:pt>
                <c:pt idx="72">
                  <c:v>58</c:v>
                </c:pt>
                <c:pt idx="73">
                  <c:v>64</c:v>
                </c:pt>
                <c:pt idx="74">
                  <c:v>65</c:v>
                </c:pt>
                <c:pt idx="75">
                  <c:v>74</c:v>
                </c:pt>
                <c:pt idx="76">
                  <c:v>58</c:v>
                </c:pt>
                <c:pt idx="77">
                  <c:v>62</c:v>
                </c:pt>
                <c:pt idx="78">
                  <c:v>69</c:v>
                </c:pt>
                <c:pt idx="79">
                  <c:v>66</c:v>
                </c:pt>
                <c:pt idx="80">
                  <c:v>67</c:v>
                </c:pt>
                <c:pt idx="81">
                  <c:v>71</c:v>
                </c:pt>
                <c:pt idx="82">
                  <c:v>67</c:v>
                </c:pt>
                <c:pt idx="83">
                  <c:v>55</c:v>
                </c:pt>
                <c:pt idx="84">
                  <c:v>58</c:v>
                </c:pt>
                <c:pt idx="85">
                  <c:v>73</c:v>
                </c:pt>
                <c:pt idx="86">
                  <c:v>58</c:v>
                </c:pt>
                <c:pt idx="87">
                  <c:v>76</c:v>
                </c:pt>
                <c:pt idx="88">
                  <c:v>62</c:v>
                </c:pt>
                <c:pt idx="89">
                  <c:v>66</c:v>
                </c:pt>
                <c:pt idx="90">
                  <c:v>59</c:v>
                </c:pt>
                <c:pt idx="91">
                  <c:v>61</c:v>
                </c:pt>
                <c:pt idx="92">
                  <c:v>52</c:v>
                </c:pt>
                <c:pt idx="93">
                  <c:v>69</c:v>
                </c:pt>
                <c:pt idx="94">
                  <c:v>70</c:v>
                </c:pt>
                <c:pt idx="95">
                  <c:v>45</c:v>
                </c:pt>
                <c:pt idx="96">
                  <c:v>77</c:v>
                </c:pt>
                <c:pt idx="97">
                  <c:v>61</c:v>
                </c:pt>
                <c:pt idx="98">
                  <c:v>56</c:v>
                </c:pt>
                <c:pt idx="99">
                  <c:v>66</c:v>
                </c:pt>
                <c:pt idx="100">
                  <c:v>51</c:v>
                </c:pt>
                <c:pt idx="101">
                  <c:v>59</c:v>
                </c:pt>
                <c:pt idx="102">
                  <c:v>65</c:v>
                </c:pt>
                <c:pt idx="103">
                  <c:v>53</c:v>
                </c:pt>
                <c:pt idx="104">
                  <c:v>72</c:v>
                </c:pt>
                <c:pt idx="105">
                  <c:v>62</c:v>
                </c:pt>
                <c:pt idx="106">
                  <c:v>62</c:v>
                </c:pt>
                <c:pt idx="107">
                  <c:v>70</c:v>
                </c:pt>
                <c:pt idx="108">
                  <c:v>62</c:v>
                </c:pt>
                <c:pt idx="109">
                  <c:v>82</c:v>
                </c:pt>
                <c:pt idx="110">
                  <c:v>52</c:v>
                </c:pt>
                <c:pt idx="111">
                  <c:v>65</c:v>
                </c:pt>
                <c:pt idx="112">
                  <c:v>64</c:v>
                </c:pt>
                <c:pt idx="113">
                  <c:v>57</c:v>
                </c:pt>
                <c:pt idx="114">
                  <c:v>58</c:v>
                </c:pt>
                <c:pt idx="115">
                  <c:v>66</c:v>
                </c:pt>
                <c:pt idx="116">
                  <c:v>60</c:v>
                </c:pt>
                <c:pt idx="117">
                  <c:v>55</c:v>
                </c:pt>
                <c:pt idx="118">
                  <c:v>65</c:v>
                </c:pt>
                <c:pt idx="119">
                  <c:v>54</c:v>
                </c:pt>
                <c:pt idx="120">
                  <c:v>66</c:v>
                </c:pt>
                <c:pt idx="121">
                  <c:v>72</c:v>
                </c:pt>
                <c:pt idx="122">
                  <c:v>58</c:v>
                </c:pt>
                <c:pt idx="123">
                  <c:v>55</c:v>
                </c:pt>
                <c:pt idx="124">
                  <c:v>56</c:v>
                </c:pt>
                <c:pt idx="125">
                  <c:v>63</c:v>
                </c:pt>
                <c:pt idx="126">
                  <c:v>69</c:v>
                </c:pt>
                <c:pt idx="127">
                  <c:v>62</c:v>
                </c:pt>
                <c:pt idx="128">
                  <c:v>60</c:v>
                </c:pt>
                <c:pt idx="129">
                  <c:v>60</c:v>
                </c:pt>
                <c:pt idx="130">
                  <c:v>60</c:v>
                </c:pt>
                <c:pt idx="131">
                  <c:v>55</c:v>
                </c:pt>
                <c:pt idx="132">
                  <c:v>62</c:v>
                </c:pt>
                <c:pt idx="133">
                  <c:v>53</c:v>
                </c:pt>
                <c:pt idx="134">
                  <c:v>54</c:v>
                </c:pt>
                <c:pt idx="135">
                  <c:v>46</c:v>
                </c:pt>
                <c:pt idx="136">
                  <c:v>55</c:v>
                </c:pt>
                <c:pt idx="137">
                  <c:v>51</c:v>
                </c:pt>
                <c:pt idx="138">
                  <c:v>58</c:v>
                </c:pt>
                <c:pt idx="139">
                  <c:v>51</c:v>
                </c:pt>
                <c:pt idx="140">
                  <c:v>40</c:v>
                </c:pt>
                <c:pt idx="141">
                  <c:v>50</c:v>
                </c:pt>
                <c:pt idx="142">
                  <c:v>34</c:v>
                </c:pt>
                <c:pt idx="143">
                  <c:v>41</c:v>
                </c:pt>
                <c:pt idx="144">
                  <c:v>39</c:v>
                </c:pt>
                <c:pt idx="145">
                  <c:v>32</c:v>
                </c:pt>
                <c:pt idx="146">
                  <c:v>32</c:v>
                </c:pt>
                <c:pt idx="147">
                  <c:v>31</c:v>
                </c:pt>
                <c:pt idx="148">
                  <c:v>35</c:v>
                </c:pt>
                <c:pt idx="149">
                  <c:v>32</c:v>
                </c:pt>
                <c:pt idx="150">
                  <c:v>23</c:v>
                </c:pt>
                <c:pt idx="151">
                  <c:v>35</c:v>
                </c:pt>
                <c:pt idx="152">
                  <c:v>32</c:v>
                </c:pt>
                <c:pt idx="153">
                  <c:v>25</c:v>
                </c:pt>
                <c:pt idx="154">
                  <c:v>19</c:v>
                </c:pt>
                <c:pt idx="155">
                  <c:v>30</c:v>
                </c:pt>
                <c:pt idx="156">
                  <c:v>23</c:v>
                </c:pt>
                <c:pt idx="157">
                  <c:v>32</c:v>
                </c:pt>
                <c:pt idx="158">
                  <c:v>35</c:v>
                </c:pt>
                <c:pt idx="159">
                  <c:v>29</c:v>
                </c:pt>
                <c:pt idx="160">
                  <c:v>36</c:v>
                </c:pt>
                <c:pt idx="161">
                  <c:v>30</c:v>
                </c:pt>
                <c:pt idx="162">
                  <c:v>25</c:v>
                </c:pt>
                <c:pt idx="163">
                  <c:v>31</c:v>
                </c:pt>
                <c:pt idx="164">
                  <c:v>34</c:v>
                </c:pt>
                <c:pt idx="165">
                  <c:v>22</c:v>
                </c:pt>
                <c:pt idx="166">
                  <c:v>26</c:v>
                </c:pt>
                <c:pt idx="167">
                  <c:v>27</c:v>
                </c:pt>
                <c:pt idx="168">
                  <c:v>28</c:v>
                </c:pt>
                <c:pt idx="169">
                  <c:v>20</c:v>
                </c:pt>
                <c:pt idx="170">
                  <c:v>32</c:v>
                </c:pt>
                <c:pt idx="171">
                  <c:v>28</c:v>
                </c:pt>
                <c:pt idx="172">
                  <c:v>28</c:v>
                </c:pt>
                <c:pt idx="173">
                  <c:v>29</c:v>
                </c:pt>
                <c:pt idx="174">
                  <c:v>36</c:v>
                </c:pt>
                <c:pt idx="175">
                  <c:v>24</c:v>
                </c:pt>
                <c:pt idx="176">
                  <c:v>33</c:v>
                </c:pt>
                <c:pt idx="177">
                  <c:v>26</c:v>
                </c:pt>
                <c:pt idx="178">
                  <c:v>24</c:v>
                </c:pt>
                <c:pt idx="179">
                  <c:v>32</c:v>
                </c:pt>
                <c:pt idx="180">
                  <c:v>29</c:v>
                </c:pt>
                <c:pt idx="181">
                  <c:v>22</c:v>
                </c:pt>
                <c:pt idx="182">
                  <c:v>37</c:v>
                </c:pt>
                <c:pt idx="183">
                  <c:v>24</c:v>
                </c:pt>
                <c:pt idx="184">
                  <c:v>35</c:v>
                </c:pt>
                <c:pt idx="185">
                  <c:v>40</c:v>
                </c:pt>
                <c:pt idx="186">
                  <c:v>46</c:v>
                </c:pt>
                <c:pt idx="187">
                  <c:v>36</c:v>
                </c:pt>
                <c:pt idx="188">
                  <c:v>46</c:v>
                </c:pt>
                <c:pt idx="189">
                  <c:v>35</c:v>
                </c:pt>
                <c:pt idx="190">
                  <c:v>53</c:v>
                </c:pt>
                <c:pt idx="191">
                  <c:v>53</c:v>
                </c:pt>
                <c:pt idx="192">
                  <c:v>52</c:v>
                </c:pt>
                <c:pt idx="193">
                  <c:v>65</c:v>
                </c:pt>
                <c:pt idx="194">
                  <c:v>52</c:v>
                </c:pt>
                <c:pt idx="195">
                  <c:v>62</c:v>
                </c:pt>
                <c:pt idx="196">
                  <c:v>77</c:v>
                </c:pt>
                <c:pt idx="197">
                  <c:v>61</c:v>
                </c:pt>
                <c:pt idx="198">
                  <c:v>70</c:v>
                </c:pt>
                <c:pt idx="199">
                  <c:v>66</c:v>
                </c:pt>
                <c:pt idx="200">
                  <c:v>73</c:v>
                </c:pt>
                <c:pt idx="201">
                  <c:v>73</c:v>
                </c:pt>
                <c:pt idx="202">
                  <c:v>80</c:v>
                </c:pt>
                <c:pt idx="203">
                  <c:v>75</c:v>
                </c:pt>
                <c:pt idx="204">
                  <c:v>90</c:v>
                </c:pt>
                <c:pt idx="205">
                  <c:v>78</c:v>
                </c:pt>
                <c:pt idx="206">
                  <c:v>90</c:v>
                </c:pt>
                <c:pt idx="207">
                  <c:v>88</c:v>
                </c:pt>
                <c:pt idx="208">
                  <c:v>83</c:v>
                </c:pt>
                <c:pt idx="209">
                  <c:v>92</c:v>
                </c:pt>
                <c:pt idx="210">
                  <c:v>99</c:v>
                </c:pt>
                <c:pt idx="211">
                  <c:v>93</c:v>
                </c:pt>
                <c:pt idx="212">
                  <c:v>115</c:v>
                </c:pt>
                <c:pt idx="213">
                  <c:v>108</c:v>
                </c:pt>
                <c:pt idx="214">
                  <c:v>112</c:v>
                </c:pt>
                <c:pt idx="215">
                  <c:v>86</c:v>
                </c:pt>
                <c:pt idx="216">
                  <c:v>98</c:v>
                </c:pt>
                <c:pt idx="217">
                  <c:v>100</c:v>
                </c:pt>
                <c:pt idx="218">
                  <c:v>95</c:v>
                </c:pt>
                <c:pt idx="219">
                  <c:v>98</c:v>
                </c:pt>
                <c:pt idx="220">
                  <c:v>90</c:v>
                </c:pt>
                <c:pt idx="221">
                  <c:v>107</c:v>
                </c:pt>
                <c:pt idx="222">
                  <c:v>101</c:v>
                </c:pt>
                <c:pt idx="223">
                  <c:v>104</c:v>
                </c:pt>
                <c:pt idx="224">
                  <c:v>98</c:v>
                </c:pt>
                <c:pt idx="225">
                  <c:v>101</c:v>
                </c:pt>
                <c:pt idx="226">
                  <c:v>94</c:v>
                </c:pt>
                <c:pt idx="227">
                  <c:v>108</c:v>
                </c:pt>
                <c:pt idx="228">
                  <c:v>103</c:v>
                </c:pt>
                <c:pt idx="229">
                  <c:v>95</c:v>
                </c:pt>
                <c:pt idx="230">
                  <c:v>107</c:v>
                </c:pt>
                <c:pt idx="231">
                  <c:v>116</c:v>
                </c:pt>
                <c:pt idx="232">
                  <c:v>109</c:v>
                </c:pt>
                <c:pt idx="233">
                  <c:v>84</c:v>
                </c:pt>
                <c:pt idx="234">
                  <c:v>98</c:v>
                </c:pt>
                <c:pt idx="235">
                  <c:v>115</c:v>
                </c:pt>
                <c:pt idx="236">
                  <c:v>95</c:v>
                </c:pt>
                <c:pt idx="237">
                  <c:v>106</c:v>
                </c:pt>
                <c:pt idx="238">
                  <c:v>118</c:v>
                </c:pt>
                <c:pt idx="239">
                  <c:v>127</c:v>
                </c:pt>
                <c:pt idx="240">
                  <c:v>104</c:v>
                </c:pt>
                <c:pt idx="241">
                  <c:v>131</c:v>
                </c:pt>
                <c:pt idx="242">
                  <c:v>130</c:v>
                </c:pt>
                <c:pt idx="243">
                  <c:v>138</c:v>
                </c:pt>
                <c:pt idx="244">
                  <c:v>167</c:v>
                </c:pt>
                <c:pt idx="245">
                  <c:v>170</c:v>
                </c:pt>
                <c:pt idx="246">
                  <c:v>165</c:v>
                </c:pt>
                <c:pt idx="247">
                  <c:v>149</c:v>
                </c:pt>
                <c:pt idx="248">
                  <c:v>151</c:v>
                </c:pt>
                <c:pt idx="249">
                  <c:v>173</c:v>
                </c:pt>
                <c:pt idx="250">
                  <c:v>150</c:v>
                </c:pt>
                <c:pt idx="251">
                  <c:v>162</c:v>
                </c:pt>
                <c:pt idx="252">
                  <c:v>175</c:v>
                </c:pt>
                <c:pt idx="253">
                  <c:v>176</c:v>
                </c:pt>
                <c:pt idx="254">
                  <c:v>180</c:v>
                </c:pt>
                <c:pt idx="255">
                  <c:v>168</c:v>
                </c:pt>
                <c:pt idx="256">
                  <c:v>185</c:v>
                </c:pt>
                <c:pt idx="257">
                  <c:v>181</c:v>
                </c:pt>
                <c:pt idx="258">
                  <c:v>172</c:v>
                </c:pt>
                <c:pt idx="259">
                  <c:v>187</c:v>
                </c:pt>
                <c:pt idx="260">
                  <c:v>218</c:v>
                </c:pt>
                <c:pt idx="261">
                  <c:v>184</c:v>
                </c:pt>
                <c:pt idx="262">
                  <c:v>194</c:v>
                </c:pt>
                <c:pt idx="263">
                  <c:v>131</c:v>
                </c:pt>
                <c:pt idx="264">
                  <c:v>176</c:v>
                </c:pt>
                <c:pt idx="265">
                  <c:v>136</c:v>
                </c:pt>
                <c:pt idx="266">
                  <c:v>153</c:v>
                </c:pt>
                <c:pt idx="267">
                  <c:v>159</c:v>
                </c:pt>
                <c:pt idx="268">
                  <c:v>143</c:v>
                </c:pt>
                <c:pt idx="269">
                  <c:v>156</c:v>
                </c:pt>
                <c:pt idx="270">
                  <c:v>151</c:v>
                </c:pt>
                <c:pt idx="271">
                  <c:v>148</c:v>
                </c:pt>
                <c:pt idx="272">
                  <c:v>184</c:v>
                </c:pt>
                <c:pt idx="273">
                  <c:v>204</c:v>
                </c:pt>
                <c:pt idx="274">
                  <c:v>215</c:v>
                </c:pt>
                <c:pt idx="275">
                  <c:v>198</c:v>
                </c:pt>
                <c:pt idx="276">
                  <c:v>199</c:v>
                </c:pt>
                <c:pt idx="277">
                  <c:v>188</c:v>
                </c:pt>
                <c:pt idx="278">
                  <c:v>197</c:v>
                </c:pt>
                <c:pt idx="279">
                  <c:v>192</c:v>
                </c:pt>
                <c:pt idx="280">
                  <c:v>200</c:v>
                </c:pt>
                <c:pt idx="281">
                  <c:v>192</c:v>
                </c:pt>
                <c:pt idx="282">
                  <c:v>172</c:v>
                </c:pt>
                <c:pt idx="283">
                  <c:v>160</c:v>
                </c:pt>
                <c:pt idx="284">
                  <c:v>168</c:v>
                </c:pt>
                <c:pt idx="285">
                  <c:v>171</c:v>
                </c:pt>
                <c:pt idx="286">
                  <c:v>154</c:v>
                </c:pt>
                <c:pt idx="287">
                  <c:v>146</c:v>
                </c:pt>
                <c:pt idx="288">
                  <c:v>166</c:v>
                </c:pt>
                <c:pt idx="289">
                  <c:v>134</c:v>
                </c:pt>
                <c:pt idx="290">
                  <c:v>149</c:v>
                </c:pt>
                <c:pt idx="291">
                  <c:v>132</c:v>
                </c:pt>
                <c:pt idx="292">
                  <c:v>131</c:v>
                </c:pt>
                <c:pt idx="293">
                  <c:v>104</c:v>
                </c:pt>
                <c:pt idx="294">
                  <c:v>105</c:v>
                </c:pt>
                <c:pt idx="295">
                  <c:v>105</c:v>
                </c:pt>
                <c:pt idx="296">
                  <c:v>90</c:v>
                </c:pt>
                <c:pt idx="297">
                  <c:v>101</c:v>
                </c:pt>
                <c:pt idx="298">
                  <c:v>92</c:v>
                </c:pt>
                <c:pt idx="299">
                  <c:v>68</c:v>
                </c:pt>
                <c:pt idx="300">
                  <c:v>75</c:v>
                </c:pt>
                <c:pt idx="301">
                  <c:v>73</c:v>
                </c:pt>
                <c:pt idx="302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F9-40DC-ACA9-2A9B33250A42}"/>
            </c:ext>
          </c:extLst>
        </c:ser>
        <c:ser>
          <c:idx val="1"/>
          <c:order val="1"/>
          <c:tx>
            <c:strRef>
              <c:f>'[ТЗ_1.xlsx]Результат запроса'!$C$1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'[ТЗ_1.xlsx]Результат запроса'!$A$2:$A$304</c:f>
              <c:numCache>
                <c:formatCode>dd\.mm\.yyyy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'[ТЗ_1.xlsx]Результат запроса'!$C$2:$C$304</c:f>
              <c:numCache>
                <c:formatCode>General</c:formatCode>
                <c:ptCount val="303"/>
                <c:pt idx="0">
                  <c:v>6</c:v>
                </c:pt>
                <c:pt idx="1">
                  <c:v>6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59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92</c:v>
                </c:pt>
                <c:pt idx="15">
                  <c:v>92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133</c:v>
                </c:pt>
                <c:pt idx="22">
                  <c:v>133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183</c:v>
                </c:pt>
                <c:pt idx="29">
                  <c:v>183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202</c:v>
                </c:pt>
                <c:pt idx="36">
                  <c:v>202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193</c:v>
                </c:pt>
                <c:pt idx="43">
                  <c:v>193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201</c:v>
                </c:pt>
                <c:pt idx="50">
                  <c:v>201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206</c:v>
                </c:pt>
                <c:pt idx="57">
                  <c:v>206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192</c:v>
                </c:pt>
                <c:pt idx="64">
                  <c:v>192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196</c:v>
                </c:pt>
                <c:pt idx="71">
                  <c:v>196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205</c:v>
                </c:pt>
                <c:pt idx="78">
                  <c:v>205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213</c:v>
                </c:pt>
                <c:pt idx="85">
                  <c:v>213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208</c:v>
                </c:pt>
                <c:pt idx="92">
                  <c:v>208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207</c:v>
                </c:pt>
                <c:pt idx="99">
                  <c:v>207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204</c:v>
                </c:pt>
                <c:pt idx="106">
                  <c:v>204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201</c:v>
                </c:pt>
                <c:pt idx="113">
                  <c:v>201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213</c:v>
                </c:pt>
                <c:pt idx="120">
                  <c:v>213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214</c:v>
                </c:pt>
                <c:pt idx="127">
                  <c:v>214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203</c:v>
                </c:pt>
                <c:pt idx="134">
                  <c:v>203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202</c:v>
                </c:pt>
                <c:pt idx="141">
                  <c:v>202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167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156</c:v>
                </c:pt>
                <c:pt idx="162">
                  <c:v>156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153</c:v>
                </c:pt>
                <c:pt idx="169">
                  <c:v>153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141</c:v>
                </c:pt>
                <c:pt idx="183">
                  <c:v>141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190</c:v>
                </c:pt>
                <c:pt idx="190">
                  <c:v>190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233</c:v>
                </c:pt>
                <c:pt idx="197">
                  <c:v>233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272</c:v>
                </c:pt>
                <c:pt idx="204">
                  <c:v>272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295</c:v>
                </c:pt>
                <c:pt idx="211">
                  <c:v>295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346</c:v>
                </c:pt>
                <c:pt idx="218">
                  <c:v>346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340</c:v>
                </c:pt>
                <c:pt idx="225">
                  <c:v>340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347</c:v>
                </c:pt>
                <c:pt idx="232">
                  <c:v>347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384</c:v>
                </c:pt>
                <c:pt idx="239">
                  <c:v>384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611</c:v>
                </c:pt>
                <c:pt idx="246">
                  <c:v>611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712</c:v>
                </c:pt>
                <c:pt idx="253">
                  <c:v>712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772</c:v>
                </c:pt>
                <c:pt idx="260">
                  <c:v>772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656</c:v>
                </c:pt>
                <c:pt idx="267">
                  <c:v>656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661</c:v>
                </c:pt>
                <c:pt idx="274">
                  <c:v>661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699</c:v>
                </c:pt>
                <c:pt idx="281">
                  <c:v>699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614</c:v>
                </c:pt>
                <c:pt idx="288">
                  <c:v>614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545</c:v>
                </c:pt>
                <c:pt idx="295">
                  <c:v>545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  <c:pt idx="301">
                  <c:v>422</c:v>
                </c:pt>
                <c:pt idx="302">
                  <c:v>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F9-40DC-ACA9-2A9B33250A42}"/>
            </c:ext>
          </c:extLst>
        </c:ser>
        <c:ser>
          <c:idx val="2"/>
          <c:order val="2"/>
          <c:tx>
            <c:strRef>
              <c:f>'[ТЗ_1.xlsx]Результат запроса'!$D$1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'[ТЗ_1.xlsx]Результат запроса'!$A$2:$A$304</c:f>
              <c:numCache>
                <c:formatCode>dd\.mm\.yyyy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'[ТЗ_1.xlsx]Результат запроса'!$D$2:$D$304</c:f>
              <c:numCache>
                <c:formatCode>General</c:formatCode>
                <c:ptCount val="303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193</c:v>
                </c:pt>
                <c:pt idx="29">
                  <c:v>193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366</c:v>
                </c:pt>
                <c:pt idx="60">
                  <c:v>366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378</c:v>
                </c:pt>
                <c:pt idx="90">
                  <c:v>378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393</c:v>
                </c:pt>
                <c:pt idx="121">
                  <c:v>393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426</c:v>
                </c:pt>
                <c:pt idx="151">
                  <c:v>426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390</c:v>
                </c:pt>
                <c:pt idx="182">
                  <c:v>390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536</c:v>
                </c:pt>
                <c:pt idx="213">
                  <c:v>536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696</c:v>
                </c:pt>
                <c:pt idx="241">
                  <c:v>696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1544</c:v>
                </c:pt>
                <c:pt idx="272">
                  <c:v>1544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  <c:pt idx="301">
                  <c:v>1027</c:v>
                </c:pt>
                <c:pt idx="302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F9-40DC-ACA9-2A9B33250A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8629424"/>
        <c:axId val="1198634704"/>
      </c:lineChart>
      <c:dateAx>
        <c:axId val="1198629424"/>
        <c:scaling>
          <c:orientation val="minMax"/>
        </c:scaling>
        <c:delete val="0"/>
        <c:axPos val="b"/>
        <c:numFmt formatCode="dd\.mm\.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98634704"/>
        <c:crosses val="autoZero"/>
        <c:auto val="1"/>
        <c:lblOffset val="100"/>
        <c:baseTimeUnit val="days"/>
      </c:dateAx>
      <c:valAx>
        <c:axId val="1198634704"/>
        <c:scaling>
          <c:orientation val="minMax"/>
          <c:max val="16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WAU, MAU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98629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6818c16-2037-49cf-9f86-62a239d74c64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chemeClr val="tx1"/>
                </a:solidFill>
              </a:rPr>
              <a:t>Динамика </a:t>
            </a:r>
            <a:r>
              <a:rPr lang="en-US" dirty="0">
                <a:solidFill>
                  <a:schemeClr val="tx1"/>
                </a:solidFill>
              </a:rPr>
              <a:t>Sticky Factor</a:t>
            </a:r>
            <a:endParaRPr lang="ru-RU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'[ТЗ_1.xlsx]Результат запроса'!$E$1</c:f>
              <c:strCache>
                <c:ptCount val="1"/>
                <c:pt idx="0">
                  <c:v>SF Weekly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'[ТЗ_1.xlsx]Результат запроса'!$A$2:$A$304</c:f>
              <c:numCache>
                <c:formatCode>dd\.mm\.yyyy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'[ТЗ_1.xlsx]Результат запроса'!$E$2:$E$304</c:f>
              <c:numCache>
                <c:formatCode>0.0%</c:formatCode>
                <c:ptCount val="303"/>
                <c:pt idx="0">
                  <c:v>0.5</c:v>
                </c:pt>
                <c:pt idx="1">
                  <c:v>1</c:v>
                </c:pt>
                <c:pt idx="2">
                  <c:v>8.4745762711864403E-2</c:v>
                </c:pt>
                <c:pt idx="3">
                  <c:v>0.169491525423729</c:v>
                </c:pt>
                <c:pt idx="4">
                  <c:v>8.4745762711864403E-2</c:v>
                </c:pt>
                <c:pt idx="5">
                  <c:v>0.22033898305084701</c:v>
                </c:pt>
                <c:pt idx="6">
                  <c:v>0.37288135593220301</c:v>
                </c:pt>
                <c:pt idx="7">
                  <c:v>0.37288135593220301</c:v>
                </c:pt>
                <c:pt idx="8">
                  <c:v>0.44067796610169502</c:v>
                </c:pt>
                <c:pt idx="9">
                  <c:v>0.25</c:v>
                </c:pt>
                <c:pt idx="10">
                  <c:v>0.26086956521739102</c:v>
                </c:pt>
                <c:pt idx="11">
                  <c:v>0.32608695652173902</c:v>
                </c:pt>
                <c:pt idx="12">
                  <c:v>0.34782608695652201</c:v>
                </c:pt>
                <c:pt idx="13">
                  <c:v>0.27173913043478298</c:v>
                </c:pt>
                <c:pt idx="14">
                  <c:v>0.36956521739130399</c:v>
                </c:pt>
                <c:pt idx="15">
                  <c:v>0.42391304347826098</c:v>
                </c:pt>
                <c:pt idx="16">
                  <c:v>0.16541353383458601</c:v>
                </c:pt>
                <c:pt idx="17">
                  <c:v>0.28571428571428598</c:v>
                </c:pt>
                <c:pt idx="18">
                  <c:v>0.255639097744361</c:v>
                </c:pt>
                <c:pt idx="19">
                  <c:v>0.37593984962406002</c:v>
                </c:pt>
                <c:pt idx="20">
                  <c:v>0.32330827067669199</c:v>
                </c:pt>
                <c:pt idx="21">
                  <c:v>0.32330827067669199</c:v>
                </c:pt>
                <c:pt idx="22">
                  <c:v>0.39849624060150401</c:v>
                </c:pt>
                <c:pt idx="23">
                  <c:v>0.34426229508196698</c:v>
                </c:pt>
                <c:pt idx="24">
                  <c:v>0.26229508196721302</c:v>
                </c:pt>
                <c:pt idx="25">
                  <c:v>0.32240437158469898</c:v>
                </c:pt>
                <c:pt idx="26">
                  <c:v>0.32240437158469898</c:v>
                </c:pt>
                <c:pt idx="27">
                  <c:v>0.33333333333333298</c:v>
                </c:pt>
                <c:pt idx="28">
                  <c:v>0.34972677595628399</c:v>
                </c:pt>
                <c:pt idx="29">
                  <c:v>0.34972677595628399</c:v>
                </c:pt>
                <c:pt idx="30">
                  <c:v>0.25742574257425699</c:v>
                </c:pt>
                <c:pt idx="31">
                  <c:v>0.30693069306930698</c:v>
                </c:pt>
                <c:pt idx="32">
                  <c:v>0.27227722772277202</c:v>
                </c:pt>
                <c:pt idx="33">
                  <c:v>0.29702970297029702</c:v>
                </c:pt>
                <c:pt idx="34">
                  <c:v>0.25742574257425699</c:v>
                </c:pt>
                <c:pt idx="35">
                  <c:v>0.30693069306930698</c:v>
                </c:pt>
                <c:pt idx="36">
                  <c:v>0.29207920792079201</c:v>
                </c:pt>
                <c:pt idx="37">
                  <c:v>0.30051813471502598</c:v>
                </c:pt>
                <c:pt idx="38">
                  <c:v>0.27461139896373099</c:v>
                </c:pt>
                <c:pt idx="39">
                  <c:v>0.284974093264249</c:v>
                </c:pt>
                <c:pt idx="40">
                  <c:v>0.33678756476683902</c:v>
                </c:pt>
                <c:pt idx="41">
                  <c:v>0.27979274611399002</c:v>
                </c:pt>
                <c:pt idx="42">
                  <c:v>0.38341968911917101</c:v>
                </c:pt>
                <c:pt idx="43">
                  <c:v>0.30569948186528501</c:v>
                </c:pt>
                <c:pt idx="44">
                  <c:v>0.26865671641791</c:v>
                </c:pt>
                <c:pt idx="45">
                  <c:v>0.33830845771144302</c:v>
                </c:pt>
                <c:pt idx="46">
                  <c:v>0.29353233830845799</c:v>
                </c:pt>
                <c:pt idx="47">
                  <c:v>0.30348258706467701</c:v>
                </c:pt>
                <c:pt idx="48">
                  <c:v>0.288557213930348</c:v>
                </c:pt>
                <c:pt idx="49">
                  <c:v>0.33333333333333298</c:v>
                </c:pt>
                <c:pt idx="50">
                  <c:v>0.308457711442786</c:v>
                </c:pt>
                <c:pt idx="51">
                  <c:v>0.25728155339805803</c:v>
                </c:pt>
                <c:pt idx="52">
                  <c:v>0.29126213592233002</c:v>
                </c:pt>
                <c:pt idx="53">
                  <c:v>0.32524271844660202</c:v>
                </c:pt>
                <c:pt idx="54">
                  <c:v>0.32524271844660202</c:v>
                </c:pt>
                <c:pt idx="55">
                  <c:v>0.29611650485436902</c:v>
                </c:pt>
                <c:pt idx="56">
                  <c:v>0.30582524271844702</c:v>
                </c:pt>
                <c:pt idx="57">
                  <c:v>0.29611650485436902</c:v>
                </c:pt>
                <c:pt idx="58">
                  <c:v>0.28125</c:v>
                </c:pt>
                <c:pt idx="59">
                  <c:v>0.375</c:v>
                </c:pt>
                <c:pt idx="60">
                  <c:v>0.28125</c:v>
                </c:pt>
                <c:pt idx="61">
                  <c:v>0.34375</c:v>
                </c:pt>
                <c:pt idx="62">
                  <c:v>0.31770833333333298</c:v>
                </c:pt>
                <c:pt idx="63">
                  <c:v>0.30208333333333298</c:v>
                </c:pt>
                <c:pt idx="64">
                  <c:v>0.33333333333333298</c:v>
                </c:pt>
                <c:pt idx="65">
                  <c:v>0.31632653061224503</c:v>
                </c:pt>
                <c:pt idx="66">
                  <c:v>0.23469387755102</c:v>
                </c:pt>
                <c:pt idx="67">
                  <c:v>0.25</c:v>
                </c:pt>
                <c:pt idx="68">
                  <c:v>0.30102040816326497</c:v>
                </c:pt>
                <c:pt idx="69">
                  <c:v>0.30612244897959201</c:v>
                </c:pt>
                <c:pt idx="70">
                  <c:v>0.27040816326530598</c:v>
                </c:pt>
                <c:pt idx="71">
                  <c:v>0.31122448979591799</c:v>
                </c:pt>
                <c:pt idx="72">
                  <c:v>0.28292682926829299</c:v>
                </c:pt>
                <c:pt idx="73">
                  <c:v>0.31219512195122001</c:v>
                </c:pt>
                <c:pt idx="74">
                  <c:v>0.31707317073170699</c:v>
                </c:pt>
                <c:pt idx="75">
                  <c:v>0.36097560975609799</c:v>
                </c:pt>
                <c:pt idx="76">
                  <c:v>0.28292682926829299</c:v>
                </c:pt>
                <c:pt idx="77">
                  <c:v>0.302439024390244</c:v>
                </c:pt>
                <c:pt idx="78">
                  <c:v>0.336585365853659</c:v>
                </c:pt>
                <c:pt idx="79">
                  <c:v>0.309859154929577</c:v>
                </c:pt>
                <c:pt idx="80">
                  <c:v>0.31455399061032902</c:v>
                </c:pt>
                <c:pt idx="81">
                  <c:v>0.33333333333333298</c:v>
                </c:pt>
                <c:pt idx="82">
                  <c:v>0.31455399061032902</c:v>
                </c:pt>
                <c:pt idx="83">
                  <c:v>0.25821596244131501</c:v>
                </c:pt>
                <c:pt idx="84">
                  <c:v>0.27230046948356801</c:v>
                </c:pt>
                <c:pt idx="85">
                  <c:v>0.34272300469483602</c:v>
                </c:pt>
                <c:pt idx="86">
                  <c:v>0.27884615384615402</c:v>
                </c:pt>
                <c:pt idx="87">
                  <c:v>0.36538461538461497</c:v>
                </c:pt>
                <c:pt idx="88">
                  <c:v>0.29807692307692302</c:v>
                </c:pt>
                <c:pt idx="89">
                  <c:v>0.31730769230769201</c:v>
                </c:pt>
                <c:pt idx="90">
                  <c:v>0.28365384615384598</c:v>
                </c:pt>
                <c:pt idx="91">
                  <c:v>0.293269230769231</c:v>
                </c:pt>
                <c:pt idx="92">
                  <c:v>0.25</c:v>
                </c:pt>
                <c:pt idx="93">
                  <c:v>0.33333333333333298</c:v>
                </c:pt>
                <c:pt idx="94">
                  <c:v>0.33816425120772903</c:v>
                </c:pt>
                <c:pt idx="95">
                  <c:v>0.217391304347826</c:v>
                </c:pt>
                <c:pt idx="96">
                  <c:v>0.37198067632850201</c:v>
                </c:pt>
                <c:pt idx="97">
                  <c:v>0.29468599033816401</c:v>
                </c:pt>
                <c:pt idx="98">
                  <c:v>0.270531400966184</c:v>
                </c:pt>
                <c:pt idx="99">
                  <c:v>0.31884057971014501</c:v>
                </c:pt>
                <c:pt idx="100">
                  <c:v>0.25</c:v>
                </c:pt>
                <c:pt idx="101">
                  <c:v>0.28921568627451</c:v>
                </c:pt>
                <c:pt idx="102">
                  <c:v>0.31862745098039202</c:v>
                </c:pt>
                <c:pt idx="103">
                  <c:v>0.25980392156862703</c:v>
                </c:pt>
                <c:pt idx="104">
                  <c:v>0.35294117647058798</c:v>
                </c:pt>
                <c:pt idx="105">
                  <c:v>0.30392156862745101</c:v>
                </c:pt>
                <c:pt idx="106">
                  <c:v>0.30392156862745101</c:v>
                </c:pt>
                <c:pt idx="107">
                  <c:v>0.34825870646766199</c:v>
                </c:pt>
                <c:pt idx="108">
                  <c:v>0.308457711442786</c:v>
                </c:pt>
                <c:pt idx="109">
                  <c:v>0.40796019900497499</c:v>
                </c:pt>
                <c:pt idx="110">
                  <c:v>0.25870646766169197</c:v>
                </c:pt>
                <c:pt idx="111">
                  <c:v>0.32338308457711401</c:v>
                </c:pt>
                <c:pt idx="112">
                  <c:v>0.31840796019900502</c:v>
                </c:pt>
                <c:pt idx="113">
                  <c:v>0.28358208955223901</c:v>
                </c:pt>
                <c:pt idx="114">
                  <c:v>0.27230046948356801</c:v>
                </c:pt>
                <c:pt idx="115">
                  <c:v>0.309859154929577</c:v>
                </c:pt>
                <c:pt idx="116">
                  <c:v>0.28169014084506999</c:v>
                </c:pt>
                <c:pt idx="117">
                  <c:v>0.25821596244131501</c:v>
                </c:pt>
                <c:pt idx="118">
                  <c:v>0.30516431924882598</c:v>
                </c:pt>
                <c:pt idx="119">
                  <c:v>0.25352112676056299</c:v>
                </c:pt>
                <c:pt idx="120">
                  <c:v>0.309859154929577</c:v>
                </c:pt>
                <c:pt idx="121">
                  <c:v>0.33644859813084099</c:v>
                </c:pt>
                <c:pt idx="122">
                  <c:v>0.27102803738317799</c:v>
                </c:pt>
                <c:pt idx="123">
                  <c:v>0.257009345794392</c:v>
                </c:pt>
                <c:pt idx="124">
                  <c:v>0.26168224299065401</c:v>
                </c:pt>
                <c:pt idx="125">
                  <c:v>0.29439252336448601</c:v>
                </c:pt>
                <c:pt idx="126">
                  <c:v>0.322429906542056</c:v>
                </c:pt>
                <c:pt idx="127">
                  <c:v>0.289719626168224</c:v>
                </c:pt>
                <c:pt idx="128">
                  <c:v>0.29556650246305399</c:v>
                </c:pt>
                <c:pt idx="129">
                  <c:v>0.29556650246305399</c:v>
                </c:pt>
                <c:pt idx="130">
                  <c:v>0.29556650246305399</c:v>
                </c:pt>
                <c:pt idx="131">
                  <c:v>0.27093596059113301</c:v>
                </c:pt>
                <c:pt idx="132">
                  <c:v>0.30541871921182301</c:v>
                </c:pt>
                <c:pt idx="133">
                  <c:v>0.26108374384236499</c:v>
                </c:pt>
                <c:pt idx="134">
                  <c:v>0.266009852216749</c:v>
                </c:pt>
                <c:pt idx="135">
                  <c:v>0.22772277227722801</c:v>
                </c:pt>
                <c:pt idx="136">
                  <c:v>0.27227722772277202</c:v>
                </c:pt>
                <c:pt idx="137">
                  <c:v>0.25247524752475198</c:v>
                </c:pt>
                <c:pt idx="138">
                  <c:v>0.287128712871287</c:v>
                </c:pt>
                <c:pt idx="139">
                  <c:v>0.25247524752475198</c:v>
                </c:pt>
                <c:pt idx="140">
                  <c:v>0.198019801980198</c:v>
                </c:pt>
                <c:pt idx="141">
                  <c:v>0.24752475247524799</c:v>
                </c:pt>
                <c:pt idx="142">
                  <c:v>0.20359281437125701</c:v>
                </c:pt>
                <c:pt idx="143">
                  <c:v>0.245508982035928</c:v>
                </c:pt>
                <c:pt idx="144">
                  <c:v>0.23353293413173701</c:v>
                </c:pt>
                <c:pt idx="145">
                  <c:v>0.19161676646706599</c:v>
                </c:pt>
                <c:pt idx="146">
                  <c:v>0.19161676646706599</c:v>
                </c:pt>
                <c:pt idx="147">
                  <c:v>0.18562874251497</c:v>
                </c:pt>
                <c:pt idx="148">
                  <c:v>0.209580838323353</c:v>
                </c:pt>
                <c:pt idx="149">
                  <c:v>0.20382165605095501</c:v>
                </c:pt>
                <c:pt idx="150">
                  <c:v>0.146496815286624</c:v>
                </c:pt>
                <c:pt idx="151">
                  <c:v>0.22292993630573199</c:v>
                </c:pt>
                <c:pt idx="152">
                  <c:v>0.20382165605095501</c:v>
                </c:pt>
                <c:pt idx="153">
                  <c:v>0.15923566878980899</c:v>
                </c:pt>
                <c:pt idx="154">
                  <c:v>0.121019108280255</c:v>
                </c:pt>
                <c:pt idx="155">
                  <c:v>0.19108280254777099</c:v>
                </c:pt>
                <c:pt idx="156">
                  <c:v>0.147435897435897</c:v>
                </c:pt>
                <c:pt idx="157">
                  <c:v>0.20512820512820501</c:v>
                </c:pt>
                <c:pt idx="158">
                  <c:v>0.22435897435897401</c:v>
                </c:pt>
                <c:pt idx="159">
                  <c:v>0.18589743589743599</c:v>
                </c:pt>
                <c:pt idx="160">
                  <c:v>0.230769230769231</c:v>
                </c:pt>
                <c:pt idx="161">
                  <c:v>0.19230769230769201</c:v>
                </c:pt>
                <c:pt idx="162">
                  <c:v>0.16025641025640999</c:v>
                </c:pt>
                <c:pt idx="163">
                  <c:v>0.20261437908496699</c:v>
                </c:pt>
                <c:pt idx="164">
                  <c:v>0.22222222222222199</c:v>
                </c:pt>
                <c:pt idx="165">
                  <c:v>0.14379084967320299</c:v>
                </c:pt>
                <c:pt idx="166">
                  <c:v>0.16993464052287599</c:v>
                </c:pt>
                <c:pt idx="167">
                  <c:v>0.17647058823529399</c:v>
                </c:pt>
                <c:pt idx="168">
                  <c:v>0.18300653594771199</c:v>
                </c:pt>
                <c:pt idx="169">
                  <c:v>0.13071895424836599</c:v>
                </c:pt>
                <c:pt idx="170">
                  <c:v>0.22068965517241401</c:v>
                </c:pt>
                <c:pt idx="171">
                  <c:v>0.19310344827586201</c:v>
                </c:pt>
                <c:pt idx="172">
                  <c:v>0.19310344827586201</c:v>
                </c:pt>
                <c:pt idx="173">
                  <c:v>0.2</c:v>
                </c:pt>
                <c:pt idx="174">
                  <c:v>0.24827586206896601</c:v>
                </c:pt>
                <c:pt idx="175">
                  <c:v>0.16551724137931001</c:v>
                </c:pt>
                <c:pt idx="176">
                  <c:v>0.22758620689655201</c:v>
                </c:pt>
                <c:pt idx="177">
                  <c:v>0.184397163120567</c:v>
                </c:pt>
                <c:pt idx="178">
                  <c:v>0.170212765957447</c:v>
                </c:pt>
                <c:pt idx="179">
                  <c:v>0.22695035460992899</c:v>
                </c:pt>
                <c:pt idx="180">
                  <c:v>0.205673758865248</c:v>
                </c:pt>
                <c:pt idx="181">
                  <c:v>0.15602836879432599</c:v>
                </c:pt>
                <c:pt idx="182">
                  <c:v>0.26241134751772999</c:v>
                </c:pt>
                <c:pt idx="183">
                  <c:v>0.170212765957447</c:v>
                </c:pt>
                <c:pt idx="184">
                  <c:v>0.18421052631578899</c:v>
                </c:pt>
                <c:pt idx="185">
                  <c:v>0.21052631578947401</c:v>
                </c:pt>
                <c:pt idx="186">
                  <c:v>0.24210526315789499</c:v>
                </c:pt>
                <c:pt idx="187">
                  <c:v>0.18947368421052599</c:v>
                </c:pt>
                <c:pt idx="188">
                  <c:v>0.24210526315789499</c:v>
                </c:pt>
                <c:pt idx="189">
                  <c:v>0.18421052631578899</c:v>
                </c:pt>
                <c:pt idx="190">
                  <c:v>0.278947368421053</c:v>
                </c:pt>
                <c:pt idx="191">
                  <c:v>0.22746781115879799</c:v>
                </c:pt>
                <c:pt idx="192">
                  <c:v>0.22317596566523601</c:v>
                </c:pt>
                <c:pt idx="193">
                  <c:v>0.27896995708154498</c:v>
                </c:pt>
                <c:pt idx="194">
                  <c:v>0.22317596566523601</c:v>
                </c:pt>
                <c:pt idx="195">
                  <c:v>0.26609442060085797</c:v>
                </c:pt>
                <c:pt idx="196">
                  <c:v>0.33047210300429197</c:v>
                </c:pt>
                <c:pt idx="197">
                  <c:v>0.26180257510729599</c:v>
                </c:pt>
                <c:pt idx="198">
                  <c:v>0.25735294117647101</c:v>
                </c:pt>
                <c:pt idx="199">
                  <c:v>0.24264705882352899</c:v>
                </c:pt>
                <c:pt idx="200">
                  <c:v>0.26838235294117602</c:v>
                </c:pt>
                <c:pt idx="201">
                  <c:v>0.26838235294117602</c:v>
                </c:pt>
                <c:pt idx="202">
                  <c:v>0.29411764705882398</c:v>
                </c:pt>
                <c:pt idx="203">
                  <c:v>0.27573529411764702</c:v>
                </c:pt>
                <c:pt idx="204">
                  <c:v>0.33088235294117602</c:v>
                </c:pt>
                <c:pt idx="205">
                  <c:v>0.264406779661017</c:v>
                </c:pt>
                <c:pt idx="206">
                  <c:v>0.305084745762712</c:v>
                </c:pt>
                <c:pt idx="207">
                  <c:v>0.29830508474576301</c:v>
                </c:pt>
                <c:pt idx="208">
                  <c:v>0.28135593220339</c:v>
                </c:pt>
                <c:pt idx="209">
                  <c:v>0.31186440677966099</c:v>
                </c:pt>
                <c:pt idx="210">
                  <c:v>0.33559322033898298</c:v>
                </c:pt>
                <c:pt idx="211">
                  <c:v>0.31525423728813601</c:v>
                </c:pt>
                <c:pt idx="212">
                  <c:v>0.33236994219653199</c:v>
                </c:pt>
                <c:pt idx="213">
                  <c:v>0.31213872832369899</c:v>
                </c:pt>
                <c:pt idx="214">
                  <c:v>0.32369942196531798</c:v>
                </c:pt>
                <c:pt idx="215">
                  <c:v>0.24855491329479801</c:v>
                </c:pt>
                <c:pt idx="216">
                  <c:v>0.28323699421965298</c:v>
                </c:pt>
                <c:pt idx="217">
                  <c:v>0.28901734104046201</c:v>
                </c:pt>
                <c:pt idx="218">
                  <c:v>0.27456647398843897</c:v>
                </c:pt>
                <c:pt idx="219">
                  <c:v>0.28823529411764698</c:v>
                </c:pt>
                <c:pt idx="220">
                  <c:v>0.26470588235294101</c:v>
                </c:pt>
                <c:pt idx="221">
                  <c:v>0.314705882352941</c:v>
                </c:pt>
                <c:pt idx="222">
                  <c:v>0.29705882352941199</c:v>
                </c:pt>
                <c:pt idx="223">
                  <c:v>0.30588235294117599</c:v>
                </c:pt>
                <c:pt idx="224">
                  <c:v>0.28823529411764698</c:v>
                </c:pt>
                <c:pt idx="225">
                  <c:v>0.29705882352941199</c:v>
                </c:pt>
                <c:pt idx="226">
                  <c:v>0.27089337175792499</c:v>
                </c:pt>
                <c:pt idx="227">
                  <c:v>0.31123919308357401</c:v>
                </c:pt>
                <c:pt idx="228">
                  <c:v>0.29682997118155602</c:v>
                </c:pt>
                <c:pt idx="229">
                  <c:v>0.273775216138329</c:v>
                </c:pt>
                <c:pt idx="230">
                  <c:v>0.30835734870317</c:v>
                </c:pt>
                <c:pt idx="231">
                  <c:v>0.33429394812680102</c:v>
                </c:pt>
                <c:pt idx="232">
                  <c:v>0.31412103746397702</c:v>
                </c:pt>
                <c:pt idx="233">
                  <c:v>0.21875</c:v>
                </c:pt>
                <c:pt idx="234">
                  <c:v>0.25520833333333298</c:v>
                </c:pt>
                <c:pt idx="235">
                  <c:v>0.29947916666666702</c:v>
                </c:pt>
                <c:pt idx="236">
                  <c:v>0.24739583333333301</c:v>
                </c:pt>
                <c:pt idx="237">
                  <c:v>0.27604166666666702</c:v>
                </c:pt>
                <c:pt idx="238">
                  <c:v>0.30729166666666702</c:v>
                </c:pt>
                <c:pt idx="239">
                  <c:v>0.33072916666666702</c:v>
                </c:pt>
                <c:pt idx="240">
                  <c:v>0.170212765957447</c:v>
                </c:pt>
                <c:pt idx="241">
                  <c:v>0.214402618657938</c:v>
                </c:pt>
                <c:pt idx="242">
                  <c:v>0.21276595744680901</c:v>
                </c:pt>
                <c:pt idx="243">
                  <c:v>0.22585924713584299</c:v>
                </c:pt>
                <c:pt idx="244">
                  <c:v>0.27332242225859199</c:v>
                </c:pt>
                <c:pt idx="245">
                  <c:v>0.27823240589198001</c:v>
                </c:pt>
                <c:pt idx="246">
                  <c:v>0.27004909983633402</c:v>
                </c:pt>
                <c:pt idx="247">
                  <c:v>0.20926966292134799</c:v>
                </c:pt>
                <c:pt idx="248">
                  <c:v>0.212078651685393</c:v>
                </c:pt>
                <c:pt idx="249">
                  <c:v>0.24297752808988801</c:v>
                </c:pt>
                <c:pt idx="250">
                  <c:v>0.210674157303371</c:v>
                </c:pt>
                <c:pt idx="251">
                  <c:v>0.22752808988764001</c:v>
                </c:pt>
                <c:pt idx="252">
                  <c:v>0.24578651685393299</c:v>
                </c:pt>
                <c:pt idx="253">
                  <c:v>0.24719101123595499</c:v>
                </c:pt>
                <c:pt idx="254">
                  <c:v>0.233160621761658</c:v>
                </c:pt>
                <c:pt idx="255">
                  <c:v>0.21761658031088099</c:v>
                </c:pt>
                <c:pt idx="256">
                  <c:v>0.239637305699482</c:v>
                </c:pt>
                <c:pt idx="257">
                  <c:v>0.23445595854922299</c:v>
                </c:pt>
                <c:pt idx="258">
                  <c:v>0.22279792746113999</c:v>
                </c:pt>
                <c:pt idx="259">
                  <c:v>0.24222797927461101</c:v>
                </c:pt>
                <c:pt idx="260">
                  <c:v>0.28238341968911901</c:v>
                </c:pt>
                <c:pt idx="261">
                  <c:v>0.28048780487804897</c:v>
                </c:pt>
                <c:pt idx="262">
                  <c:v>0.29573170731707299</c:v>
                </c:pt>
                <c:pt idx="263">
                  <c:v>0.19969512195121999</c:v>
                </c:pt>
                <c:pt idx="264">
                  <c:v>0.26829268292682901</c:v>
                </c:pt>
                <c:pt idx="265">
                  <c:v>0.207317073170732</c:v>
                </c:pt>
                <c:pt idx="266">
                  <c:v>0.23323170731707299</c:v>
                </c:pt>
                <c:pt idx="267">
                  <c:v>0.24237804878048799</c:v>
                </c:pt>
                <c:pt idx="268">
                  <c:v>0.21633888048411501</c:v>
                </c:pt>
                <c:pt idx="269">
                  <c:v>0.23600605143721601</c:v>
                </c:pt>
                <c:pt idx="270">
                  <c:v>0.228441754916793</c:v>
                </c:pt>
                <c:pt idx="271">
                  <c:v>0.22390317700453899</c:v>
                </c:pt>
                <c:pt idx="272">
                  <c:v>0.278366111951589</c:v>
                </c:pt>
                <c:pt idx="273">
                  <c:v>0.30862329803328298</c:v>
                </c:pt>
                <c:pt idx="274">
                  <c:v>0.32526475037821501</c:v>
                </c:pt>
                <c:pt idx="275">
                  <c:v>0.28326180257510702</c:v>
                </c:pt>
                <c:pt idx="276">
                  <c:v>0.284692417739628</c:v>
                </c:pt>
                <c:pt idx="277">
                  <c:v>0.26895565092989998</c:v>
                </c:pt>
                <c:pt idx="278">
                  <c:v>0.28183118741058699</c:v>
                </c:pt>
                <c:pt idx="279">
                  <c:v>0.274678111587983</c:v>
                </c:pt>
                <c:pt idx="280">
                  <c:v>0.28612303290414898</c:v>
                </c:pt>
                <c:pt idx="281">
                  <c:v>0.274678111587983</c:v>
                </c:pt>
                <c:pt idx="282">
                  <c:v>0.28013029315960902</c:v>
                </c:pt>
                <c:pt idx="283">
                  <c:v>0.26058631921824099</c:v>
                </c:pt>
                <c:pt idx="284">
                  <c:v>0.27361563517915299</c:v>
                </c:pt>
                <c:pt idx="285">
                  <c:v>0.27850162866449502</c:v>
                </c:pt>
                <c:pt idx="286">
                  <c:v>0.250814332247557</c:v>
                </c:pt>
                <c:pt idx="287">
                  <c:v>0.237785016286645</c:v>
                </c:pt>
                <c:pt idx="288">
                  <c:v>0.27035830618892498</c:v>
                </c:pt>
                <c:pt idx="289">
                  <c:v>0.24587155963302801</c:v>
                </c:pt>
                <c:pt idx="290">
                  <c:v>0.273394495412844</c:v>
                </c:pt>
                <c:pt idx="291">
                  <c:v>0.242201834862385</c:v>
                </c:pt>
                <c:pt idx="292">
                  <c:v>0.24036697247706401</c:v>
                </c:pt>
                <c:pt idx="293">
                  <c:v>0.19082568807339501</c:v>
                </c:pt>
                <c:pt idx="294">
                  <c:v>0.192660550458716</c:v>
                </c:pt>
                <c:pt idx="295">
                  <c:v>0.192660550458716</c:v>
                </c:pt>
                <c:pt idx="296">
                  <c:v>0.21327014218009499</c:v>
                </c:pt>
                <c:pt idx="297">
                  <c:v>0.23933649289099501</c:v>
                </c:pt>
                <c:pt idx="298">
                  <c:v>0.21800947867298601</c:v>
                </c:pt>
                <c:pt idx="299">
                  <c:v>0.161137440758294</c:v>
                </c:pt>
                <c:pt idx="300">
                  <c:v>0.17772511848341199</c:v>
                </c:pt>
                <c:pt idx="301">
                  <c:v>0.172985781990521</c:v>
                </c:pt>
                <c:pt idx="302">
                  <c:v>0.16824644549762999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20-4721-A619-59D2275216C2}"/>
            </c:ext>
          </c:extLst>
        </c:ser>
        <c:ser>
          <c:idx val="1"/>
          <c:order val="1"/>
          <c:tx>
            <c:strRef>
              <c:f>'[ТЗ_1.xlsx]Результат запроса'!$F$1</c:f>
              <c:strCache>
                <c:ptCount val="1"/>
                <c:pt idx="0">
                  <c:v>SF Monthly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'[ТЗ_1.xlsx]Результат запроса'!$A$2:$A$304</c:f>
              <c:numCache>
                <c:formatCode>dd\.mm\.yyyy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'[ТЗ_1.xlsx]Результат запроса'!$F$2:$F$304</c:f>
              <c:numCache>
                <c:formatCode>0.0%</c:formatCode>
                <c:ptCount val="303"/>
                <c:pt idx="0">
                  <c:v>1.55440414507772E-2</c:v>
                </c:pt>
                <c:pt idx="1">
                  <c:v>3.10880829015544E-2</c:v>
                </c:pt>
                <c:pt idx="2">
                  <c:v>2.59067357512953E-2</c:v>
                </c:pt>
                <c:pt idx="3">
                  <c:v>5.1813471502590698E-2</c:v>
                </c:pt>
                <c:pt idx="4">
                  <c:v>2.59067357512953E-2</c:v>
                </c:pt>
                <c:pt idx="5">
                  <c:v>6.7357512953367907E-2</c:v>
                </c:pt>
                <c:pt idx="6">
                  <c:v>0.113989637305699</c:v>
                </c:pt>
                <c:pt idx="7">
                  <c:v>0.113989637305699</c:v>
                </c:pt>
                <c:pt idx="8">
                  <c:v>0.13471502590673601</c:v>
                </c:pt>
                <c:pt idx="9">
                  <c:v>0.119170984455959</c:v>
                </c:pt>
                <c:pt idx="10">
                  <c:v>0.124352331606218</c:v>
                </c:pt>
                <c:pt idx="11">
                  <c:v>0.15544041450777199</c:v>
                </c:pt>
                <c:pt idx="12">
                  <c:v>0.16580310880829</c:v>
                </c:pt>
                <c:pt idx="13">
                  <c:v>0.12953367875647701</c:v>
                </c:pt>
                <c:pt idx="14">
                  <c:v>0.176165803108808</c:v>
                </c:pt>
                <c:pt idx="15">
                  <c:v>0.20207253886010401</c:v>
                </c:pt>
                <c:pt idx="16">
                  <c:v>0.113989637305699</c:v>
                </c:pt>
                <c:pt idx="17">
                  <c:v>0.19689119170984501</c:v>
                </c:pt>
                <c:pt idx="18">
                  <c:v>0.176165803108808</c:v>
                </c:pt>
                <c:pt idx="19">
                  <c:v>0.25906735751295301</c:v>
                </c:pt>
                <c:pt idx="20">
                  <c:v>0.22279792746113999</c:v>
                </c:pt>
                <c:pt idx="21">
                  <c:v>0.22279792746113999</c:v>
                </c:pt>
                <c:pt idx="22">
                  <c:v>0.27461139896373099</c:v>
                </c:pt>
                <c:pt idx="23">
                  <c:v>0.32642487046632102</c:v>
                </c:pt>
                <c:pt idx="24">
                  <c:v>0.24870466321243501</c:v>
                </c:pt>
                <c:pt idx="25">
                  <c:v>0.30569948186528501</c:v>
                </c:pt>
                <c:pt idx="26">
                  <c:v>0.30569948186528501</c:v>
                </c:pt>
                <c:pt idx="27">
                  <c:v>0.31606217616580301</c:v>
                </c:pt>
                <c:pt idx="28">
                  <c:v>0.33160621761657999</c:v>
                </c:pt>
                <c:pt idx="29">
                  <c:v>0.33160621761657999</c:v>
                </c:pt>
                <c:pt idx="30">
                  <c:v>0.14207650273224001</c:v>
                </c:pt>
                <c:pt idx="31">
                  <c:v>0.16939890710382499</c:v>
                </c:pt>
                <c:pt idx="32">
                  <c:v>0.15027322404371601</c:v>
                </c:pt>
                <c:pt idx="33">
                  <c:v>0.16393442622950799</c:v>
                </c:pt>
                <c:pt idx="34">
                  <c:v>0.14207650273224001</c:v>
                </c:pt>
                <c:pt idx="35">
                  <c:v>0.16939890710382499</c:v>
                </c:pt>
                <c:pt idx="36">
                  <c:v>0.16120218579234999</c:v>
                </c:pt>
                <c:pt idx="37">
                  <c:v>0.15846994535519099</c:v>
                </c:pt>
                <c:pt idx="38">
                  <c:v>0.14480874316939901</c:v>
                </c:pt>
                <c:pt idx="39">
                  <c:v>0.15027322404371601</c:v>
                </c:pt>
                <c:pt idx="40">
                  <c:v>0.17759562841530099</c:v>
                </c:pt>
                <c:pt idx="41">
                  <c:v>0.14754098360655701</c:v>
                </c:pt>
                <c:pt idx="42">
                  <c:v>0.202185792349727</c:v>
                </c:pt>
                <c:pt idx="43">
                  <c:v>0.16120218579234999</c:v>
                </c:pt>
                <c:pt idx="44">
                  <c:v>0.14754098360655701</c:v>
                </c:pt>
                <c:pt idx="45">
                  <c:v>0.185792349726776</c:v>
                </c:pt>
                <c:pt idx="46">
                  <c:v>0.16120218579234999</c:v>
                </c:pt>
                <c:pt idx="47">
                  <c:v>0.16666666666666699</c:v>
                </c:pt>
                <c:pt idx="48">
                  <c:v>0.15846994535519099</c:v>
                </c:pt>
                <c:pt idx="49">
                  <c:v>0.183060109289617</c:v>
                </c:pt>
                <c:pt idx="50">
                  <c:v>0.16939890710382499</c:v>
                </c:pt>
                <c:pt idx="51">
                  <c:v>0.14480874316939901</c:v>
                </c:pt>
                <c:pt idx="52">
                  <c:v>0.16393442622950799</c:v>
                </c:pt>
                <c:pt idx="53">
                  <c:v>0.183060109289617</c:v>
                </c:pt>
                <c:pt idx="54">
                  <c:v>0.183060109289617</c:v>
                </c:pt>
                <c:pt idx="55">
                  <c:v>0.16666666666666699</c:v>
                </c:pt>
                <c:pt idx="56">
                  <c:v>0.17213114754098399</c:v>
                </c:pt>
                <c:pt idx="57">
                  <c:v>0.16666666666666699</c:v>
                </c:pt>
                <c:pt idx="58">
                  <c:v>0.14754098360655701</c:v>
                </c:pt>
                <c:pt idx="59">
                  <c:v>0.19672131147541</c:v>
                </c:pt>
                <c:pt idx="60">
                  <c:v>0.14754098360655701</c:v>
                </c:pt>
                <c:pt idx="61">
                  <c:v>0.17460317460317501</c:v>
                </c:pt>
                <c:pt idx="62">
                  <c:v>0.16137566137566101</c:v>
                </c:pt>
                <c:pt idx="63">
                  <c:v>0.15343915343915299</c:v>
                </c:pt>
                <c:pt idx="64">
                  <c:v>0.169312169312169</c:v>
                </c:pt>
                <c:pt idx="65">
                  <c:v>0.16402116402116401</c:v>
                </c:pt>
                <c:pt idx="66">
                  <c:v>0.12169312169312201</c:v>
                </c:pt>
                <c:pt idx="67">
                  <c:v>0.12962962962963001</c:v>
                </c:pt>
                <c:pt idx="68">
                  <c:v>0.15608465608465599</c:v>
                </c:pt>
                <c:pt idx="69">
                  <c:v>0.158730158730159</c:v>
                </c:pt>
                <c:pt idx="70">
                  <c:v>0.14021164021164001</c:v>
                </c:pt>
                <c:pt idx="71">
                  <c:v>0.16137566137566101</c:v>
                </c:pt>
                <c:pt idx="72">
                  <c:v>0.15343915343915299</c:v>
                </c:pt>
                <c:pt idx="73">
                  <c:v>0.169312169312169</c:v>
                </c:pt>
                <c:pt idx="74">
                  <c:v>0.171957671957672</c:v>
                </c:pt>
                <c:pt idx="75">
                  <c:v>0.19576719576719601</c:v>
                </c:pt>
                <c:pt idx="76">
                  <c:v>0.15343915343915299</c:v>
                </c:pt>
                <c:pt idx="77">
                  <c:v>0.16402116402116401</c:v>
                </c:pt>
                <c:pt idx="78">
                  <c:v>0.182539682539683</c:v>
                </c:pt>
                <c:pt idx="79">
                  <c:v>0.17460317460317501</c:v>
                </c:pt>
                <c:pt idx="80">
                  <c:v>0.17724867724867699</c:v>
                </c:pt>
                <c:pt idx="81">
                  <c:v>0.18783068783068799</c:v>
                </c:pt>
                <c:pt idx="82">
                  <c:v>0.17724867724867699</c:v>
                </c:pt>
                <c:pt idx="83">
                  <c:v>0.14550264550264499</c:v>
                </c:pt>
                <c:pt idx="84">
                  <c:v>0.15343915343915299</c:v>
                </c:pt>
                <c:pt idx="85">
                  <c:v>0.193121693121693</c:v>
                </c:pt>
                <c:pt idx="86">
                  <c:v>0.15343915343915299</c:v>
                </c:pt>
                <c:pt idx="87">
                  <c:v>0.20105820105820099</c:v>
                </c:pt>
                <c:pt idx="88">
                  <c:v>0.16402116402116401</c:v>
                </c:pt>
                <c:pt idx="89">
                  <c:v>0.17460317460317501</c:v>
                </c:pt>
                <c:pt idx="90">
                  <c:v>0.15608465608465599</c:v>
                </c:pt>
                <c:pt idx="91">
                  <c:v>0.15521628498727699</c:v>
                </c:pt>
                <c:pt idx="92">
                  <c:v>0.13231552162849899</c:v>
                </c:pt>
                <c:pt idx="93">
                  <c:v>0.17557251908396901</c:v>
                </c:pt>
                <c:pt idx="94">
                  <c:v>0.17811704834605599</c:v>
                </c:pt>
                <c:pt idx="95">
                  <c:v>0.114503816793893</c:v>
                </c:pt>
                <c:pt idx="96">
                  <c:v>0.195928753180662</c:v>
                </c:pt>
                <c:pt idx="97">
                  <c:v>0.15521628498727699</c:v>
                </c:pt>
                <c:pt idx="98">
                  <c:v>0.142493638676845</c:v>
                </c:pt>
                <c:pt idx="99">
                  <c:v>0.16793893129771001</c:v>
                </c:pt>
                <c:pt idx="100">
                  <c:v>0.12977099236641201</c:v>
                </c:pt>
                <c:pt idx="101">
                  <c:v>0.150127226463104</c:v>
                </c:pt>
                <c:pt idx="102">
                  <c:v>0.165394402035623</c:v>
                </c:pt>
                <c:pt idx="103">
                  <c:v>0.134860050890585</c:v>
                </c:pt>
                <c:pt idx="104">
                  <c:v>0.18320610687022901</c:v>
                </c:pt>
                <c:pt idx="105">
                  <c:v>0.157760814249364</c:v>
                </c:pt>
                <c:pt idx="106">
                  <c:v>0.157760814249364</c:v>
                </c:pt>
                <c:pt idx="107">
                  <c:v>0.17811704834605599</c:v>
                </c:pt>
                <c:pt idx="108">
                  <c:v>0.157760814249364</c:v>
                </c:pt>
                <c:pt idx="109">
                  <c:v>0.20865139949109399</c:v>
                </c:pt>
                <c:pt idx="110">
                  <c:v>0.13231552162849899</c:v>
                </c:pt>
                <c:pt idx="111">
                  <c:v>0.165394402035623</c:v>
                </c:pt>
                <c:pt idx="112">
                  <c:v>0.16284987277353699</c:v>
                </c:pt>
                <c:pt idx="113">
                  <c:v>0.14503816793893101</c:v>
                </c:pt>
                <c:pt idx="114">
                  <c:v>0.14758269720101799</c:v>
                </c:pt>
                <c:pt idx="115">
                  <c:v>0.16793893129771001</c:v>
                </c:pt>
                <c:pt idx="116">
                  <c:v>0.15267175572519101</c:v>
                </c:pt>
                <c:pt idx="117">
                  <c:v>0.13994910941475799</c:v>
                </c:pt>
                <c:pt idx="118">
                  <c:v>0.165394402035623</c:v>
                </c:pt>
                <c:pt idx="119">
                  <c:v>0.13740458015267201</c:v>
                </c:pt>
                <c:pt idx="120">
                  <c:v>0.16793893129771001</c:v>
                </c:pt>
                <c:pt idx="121">
                  <c:v>0.18320610687022901</c:v>
                </c:pt>
                <c:pt idx="122">
                  <c:v>0.136150234741784</c:v>
                </c:pt>
                <c:pt idx="123">
                  <c:v>0.129107981220657</c:v>
                </c:pt>
                <c:pt idx="124">
                  <c:v>0.13145539906103301</c:v>
                </c:pt>
                <c:pt idx="125">
                  <c:v>0.147887323943662</c:v>
                </c:pt>
                <c:pt idx="126">
                  <c:v>0.161971830985915</c:v>
                </c:pt>
                <c:pt idx="127">
                  <c:v>0.14553990610328599</c:v>
                </c:pt>
                <c:pt idx="128">
                  <c:v>0.140845070422535</c:v>
                </c:pt>
                <c:pt idx="129">
                  <c:v>0.140845070422535</c:v>
                </c:pt>
                <c:pt idx="130">
                  <c:v>0.140845070422535</c:v>
                </c:pt>
                <c:pt idx="131">
                  <c:v>0.129107981220657</c:v>
                </c:pt>
                <c:pt idx="132">
                  <c:v>0.14553990610328599</c:v>
                </c:pt>
                <c:pt idx="133">
                  <c:v>0.124413145539906</c:v>
                </c:pt>
                <c:pt idx="134">
                  <c:v>0.12676056338028199</c:v>
                </c:pt>
                <c:pt idx="135">
                  <c:v>0.107981220657277</c:v>
                </c:pt>
                <c:pt idx="136">
                  <c:v>0.129107981220657</c:v>
                </c:pt>
                <c:pt idx="137">
                  <c:v>0.11971830985915501</c:v>
                </c:pt>
                <c:pt idx="138">
                  <c:v>0.136150234741784</c:v>
                </c:pt>
                <c:pt idx="139">
                  <c:v>0.11971830985915501</c:v>
                </c:pt>
                <c:pt idx="140">
                  <c:v>9.3896713615023497E-2</c:v>
                </c:pt>
                <c:pt idx="141">
                  <c:v>0.117370892018779</c:v>
                </c:pt>
                <c:pt idx="142">
                  <c:v>7.9812206572769995E-2</c:v>
                </c:pt>
                <c:pt idx="143">
                  <c:v>9.6244131455399104E-2</c:v>
                </c:pt>
                <c:pt idx="144">
                  <c:v>9.1549295774647904E-2</c:v>
                </c:pt>
                <c:pt idx="145">
                  <c:v>7.5117370892018795E-2</c:v>
                </c:pt>
                <c:pt idx="146">
                  <c:v>7.5117370892018795E-2</c:v>
                </c:pt>
                <c:pt idx="147">
                  <c:v>7.2769953051643202E-2</c:v>
                </c:pt>
                <c:pt idx="148">
                  <c:v>8.2159624413145504E-2</c:v>
                </c:pt>
                <c:pt idx="149">
                  <c:v>7.5117370892018795E-2</c:v>
                </c:pt>
                <c:pt idx="150">
                  <c:v>5.39906103286385E-2</c:v>
                </c:pt>
                <c:pt idx="151">
                  <c:v>8.2159624413145504E-2</c:v>
                </c:pt>
                <c:pt idx="152">
                  <c:v>8.2051282051282107E-2</c:v>
                </c:pt>
                <c:pt idx="153">
                  <c:v>6.4102564102564097E-2</c:v>
                </c:pt>
                <c:pt idx="154">
                  <c:v>4.8717948717948698E-2</c:v>
                </c:pt>
                <c:pt idx="155">
                  <c:v>7.69230769230769E-2</c:v>
                </c:pt>
                <c:pt idx="156">
                  <c:v>5.8974358974359001E-2</c:v>
                </c:pt>
                <c:pt idx="157">
                  <c:v>8.2051282051282107E-2</c:v>
                </c:pt>
                <c:pt idx="158">
                  <c:v>8.9743589743589702E-2</c:v>
                </c:pt>
                <c:pt idx="159">
                  <c:v>7.43589743589744E-2</c:v>
                </c:pt>
                <c:pt idx="160">
                  <c:v>9.2307692307692299E-2</c:v>
                </c:pt>
                <c:pt idx="161">
                  <c:v>7.69230769230769E-2</c:v>
                </c:pt>
                <c:pt idx="162">
                  <c:v>6.4102564102564097E-2</c:v>
                </c:pt>
                <c:pt idx="163">
                  <c:v>7.9487179487179496E-2</c:v>
                </c:pt>
                <c:pt idx="164">
                  <c:v>8.7179487179487203E-2</c:v>
                </c:pt>
                <c:pt idx="165">
                  <c:v>5.6410256410256397E-2</c:v>
                </c:pt>
                <c:pt idx="166">
                  <c:v>6.6666666666666693E-2</c:v>
                </c:pt>
                <c:pt idx="167">
                  <c:v>6.9230769230769207E-2</c:v>
                </c:pt>
                <c:pt idx="168">
                  <c:v>7.1794871794871803E-2</c:v>
                </c:pt>
                <c:pt idx="169">
                  <c:v>5.1282051282051301E-2</c:v>
                </c:pt>
                <c:pt idx="170">
                  <c:v>8.2051282051282107E-2</c:v>
                </c:pt>
                <c:pt idx="171">
                  <c:v>7.1794871794871803E-2</c:v>
                </c:pt>
                <c:pt idx="172">
                  <c:v>7.1794871794871803E-2</c:v>
                </c:pt>
                <c:pt idx="173">
                  <c:v>7.43589743589744E-2</c:v>
                </c:pt>
                <c:pt idx="174">
                  <c:v>9.2307692307692299E-2</c:v>
                </c:pt>
                <c:pt idx="175">
                  <c:v>6.15384615384615E-2</c:v>
                </c:pt>
                <c:pt idx="176">
                  <c:v>8.4615384615384606E-2</c:v>
                </c:pt>
                <c:pt idx="177">
                  <c:v>6.6666666666666693E-2</c:v>
                </c:pt>
                <c:pt idx="178">
                  <c:v>6.15384615384615E-2</c:v>
                </c:pt>
                <c:pt idx="179">
                  <c:v>8.2051282051282107E-2</c:v>
                </c:pt>
                <c:pt idx="180">
                  <c:v>7.43589743589744E-2</c:v>
                </c:pt>
                <c:pt idx="181">
                  <c:v>5.6410256410256397E-2</c:v>
                </c:pt>
                <c:pt idx="182">
                  <c:v>9.4871794871794896E-2</c:v>
                </c:pt>
                <c:pt idx="183">
                  <c:v>4.47761194029851E-2</c:v>
                </c:pt>
                <c:pt idx="184">
                  <c:v>6.5298507462686603E-2</c:v>
                </c:pt>
                <c:pt idx="185">
                  <c:v>7.4626865671641798E-2</c:v>
                </c:pt>
                <c:pt idx="186">
                  <c:v>8.5820895522388099E-2</c:v>
                </c:pt>
                <c:pt idx="187">
                  <c:v>6.7164179104477598E-2</c:v>
                </c:pt>
                <c:pt idx="188">
                  <c:v>8.5820895522388099E-2</c:v>
                </c:pt>
                <c:pt idx="189">
                  <c:v>6.5298507462686603E-2</c:v>
                </c:pt>
                <c:pt idx="190">
                  <c:v>9.8880597014925395E-2</c:v>
                </c:pt>
                <c:pt idx="191">
                  <c:v>9.8880597014925395E-2</c:v>
                </c:pt>
                <c:pt idx="192">
                  <c:v>9.7014925373134303E-2</c:v>
                </c:pt>
                <c:pt idx="193">
                  <c:v>0.121268656716418</c:v>
                </c:pt>
                <c:pt idx="194">
                  <c:v>9.7014925373134303E-2</c:v>
                </c:pt>
                <c:pt idx="195">
                  <c:v>0.115671641791045</c:v>
                </c:pt>
                <c:pt idx="196">
                  <c:v>0.14365671641791</c:v>
                </c:pt>
                <c:pt idx="197">
                  <c:v>0.113805970149254</c:v>
                </c:pt>
                <c:pt idx="198">
                  <c:v>0.13059701492537301</c:v>
                </c:pt>
                <c:pt idx="199">
                  <c:v>0.12313432835820901</c:v>
                </c:pt>
                <c:pt idx="200">
                  <c:v>0.136194029850746</c:v>
                </c:pt>
                <c:pt idx="201">
                  <c:v>0.136194029850746</c:v>
                </c:pt>
                <c:pt idx="202">
                  <c:v>0.14925373134328401</c:v>
                </c:pt>
                <c:pt idx="203">
                  <c:v>0.13992537313432801</c:v>
                </c:pt>
                <c:pt idx="204">
                  <c:v>0.16791044776119399</c:v>
                </c:pt>
                <c:pt idx="205">
                  <c:v>0.145522388059701</c:v>
                </c:pt>
                <c:pt idx="206">
                  <c:v>0.16791044776119399</c:v>
                </c:pt>
                <c:pt idx="207">
                  <c:v>0.164179104477612</c:v>
                </c:pt>
                <c:pt idx="208">
                  <c:v>0.154850746268657</c:v>
                </c:pt>
                <c:pt idx="209">
                  <c:v>0.171641791044776</c:v>
                </c:pt>
                <c:pt idx="210">
                  <c:v>0.18470149253731299</c:v>
                </c:pt>
                <c:pt idx="211">
                  <c:v>0.173507462686567</c:v>
                </c:pt>
                <c:pt idx="212">
                  <c:v>0.21455223880596999</c:v>
                </c:pt>
                <c:pt idx="213">
                  <c:v>0.201492537313433</c:v>
                </c:pt>
                <c:pt idx="214">
                  <c:v>0.160919540229885</c:v>
                </c:pt>
                <c:pt idx="215">
                  <c:v>0.123563218390805</c:v>
                </c:pt>
                <c:pt idx="216">
                  <c:v>0.140804597701149</c:v>
                </c:pt>
                <c:pt idx="217">
                  <c:v>0.14367816091954</c:v>
                </c:pt>
                <c:pt idx="218">
                  <c:v>0.13649425287356301</c:v>
                </c:pt>
                <c:pt idx="219">
                  <c:v>0.140804597701149</c:v>
                </c:pt>
                <c:pt idx="220">
                  <c:v>0.12931034482758599</c:v>
                </c:pt>
                <c:pt idx="221">
                  <c:v>0.15373563218390801</c:v>
                </c:pt>
                <c:pt idx="222">
                  <c:v>0.145114942528736</c:v>
                </c:pt>
                <c:pt idx="223">
                  <c:v>0.14942528735632199</c:v>
                </c:pt>
                <c:pt idx="224">
                  <c:v>0.140804597701149</c:v>
                </c:pt>
                <c:pt idx="225">
                  <c:v>0.145114942528736</c:v>
                </c:pt>
                <c:pt idx="226">
                  <c:v>0.13505747126436801</c:v>
                </c:pt>
                <c:pt idx="227">
                  <c:v>0.15517241379310301</c:v>
                </c:pt>
                <c:pt idx="228">
                  <c:v>0.14798850574712599</c:v>
                </c:pt>
                <c:pt idx="229">
                  <c:v>0.13649425287356301</c:v>
                </c:pt>
                <c:pt idx="230">
                  <c:v>0.15373563218390801</c:v>
                </c:pt>
                <c:pt idx="231">
                  <c:v>0.16666666666666699</c:v>
                </c:pt>
                <c:pt idx="232">
                  <c:v>0.15660919540229901</c:v>
                </c:pt>
                <c:pt idx="233">
                  <c:v>0.12068965517241401</c:v>
                </c:pt>
                <c:pt idx="234">
                  <c:v>0.140804597701149</c:v>
                </c:pt>
                <c:pt idx="235">
                  <c:v>0.16522988505747099</c:v>
                </c:pt>
                <c:pt idx="236">
                  <c:v>0.13649425287356301</c:v>
                </c:pt>
                <c:pt idx="237">
                  <c:v>0.15229885057471301</c:v>
                </c:pt>
                <c:pt idx="238">
                  <c:v>0.16954022988505699</c:v>
                </c:pt>
                <c:pt idx="239">
                  <c:v>0.18247126436781599</c:v>
                </c:pt>
                <c:pt idx="240">
                  <c:v>0.14942528735632199</c:v>
                </c:pt>
                <c:pt idx="241">
                  <c:v>0.18821839080459801</c:v>
                </c:pt>
                <c:pt idx="242">
                  <c:v>8.4196891191709797E-2</c:v>
                </c:pt>
                <c:pt idx="243">
                  <c:v>8.9378238341968896E-2</c:v>
                </c:pt>
                <c:pt idx="244">
                  <c:v>0.108160621761658</c:v>
                </c:pt>
                <c:pt idx="245">
                  <c:v>0.110103626943005</c:v>
                </c:pt>
                <c:pt idx="246">
                  <c:v>0.10686528497409301</c:v>
                </c:pt>
                <c:pt idx="247">
                  <c:v>9.6502590673575098E-2</c:v>
                </c:pt>
                <c:pt idx="248">
                  <c:v>9.7797927461139897E-2</c:v>
                </c:pt>
                <c:pt idx="249">
                  <c:v>0.11204663212435199</c:v>
                </c:pt>
                <c:pt idx="250">
                  <c:v>9.7150259067357497E-2</c:v>
                </c:pt>
                <c:pt idx="251">
                  <c:v>0.104922279792746</c:v>
                </c:pt>
                <c:pt idx="252">
                  <c:v>0.113341968911917</c:v>
                </c:pt>
                <c:pt idx="253">
                  <c:v>0.113989637305699</c:v>
                </c:pt>
                <c:pt idx="254">
                  <c:v>0.116580310880829</c:v>
                </c:pt>
                <c:pt idx="255">
                  <c:v>0.10880829015544</c:v>
                </c:pt>
                <c:pt idx="256">
                  <c:v>0.119818652849741</c:v>
                </c:pt>
                <c:pt idx="257">
                  <c:v>0.117227979274611</c:v>
                </c:pt>
                <c:pt idx="258">
                  <c:v>0.11139896373057</c:v>
                </c:pt>
                <c:pt idx="259">
                  <c:v>0.121113989637306</c:v>
                </c:pt>
                <c:pt idx="260">
                  <c:v>0.14119170984456</c:v>
                </c:pt>
                <c:pt idx="261">
                  <c:v>0.119170984455959</c:v>
                </c:pt>
                <c:pt idx="262">
                  <c:v>0.125647668393782</c:v>
                </c:pt>
                <c:pt idx="263">
                  <c:v>8.4844559585492196E-2</c:v>
                </c:pt>
                <c:pt idx="264">
                  <c:v>0.113989637305699</c:v>
                </c:pt>
                <c:pt idx="265">
                  <c:v>8.8082901554404097E-2</c:v>
                </c:pt>
                <c:pt idx="266">
                  <c:v>9.9093264248704696E-2</c:v>
                </c:pt>
                <c:pt idx="267">
                  <c:v>0.102979274611399</c:v>
                </c:pt>
                <c:pt idx="268">
                  <c:v>9.2616580310880797E-2</c:v>
                </c:pt>
                <c:pt idx="269">
                  <c:v>0.10103626943005201</c:v>
                </c:pt>
                <c:pt idx="270">
                  <c:v>9.7797927461139897E-2</c:v>
                </c:pt>
                <c:pt idx="271">
                  <c:v>9.5854922279792698E-2</c:v>
                </c:pt>
                <c:pt idx="272">
                  <c:v>0.119170984455959</c:v>
                </c:pt>
                <c:pt idx="273">
                  <c:v>0.19863680623174301</c:v>
                </c:pt>
                <c:pt idx="274">
                  <c:v>0.20934761441090599</c:v>
                </c:pt>
                <c:pt idx="275">
                  <c:v>0.192794547224927</c:v>
                </c:pt>
                <c:pt idx="276">
                  <c:v>0.19376825705939599</c:v>
                </c:pt>
                <c:pt idx="277">
                  <c:v>0.18305744888023401</c:v>
                </c:pt>
                <c:pt idx="278">
                  <c:v>0.19182083739045799</c:v>
                </c:pt>
                <c:pt idx="279">
                  <c:v>0.186952288218111</c:v>
                </c:pt>
                <c:pt idx="280">
                  <c:v>0.194741966893866</c:v>
                </c:pt>
                <c:pt idx="281">
                  <c:v>0.186952288218111</c:v>
                </c:pt>
                <c:pt idx="282">
                  <c:v>0.167478091528724</c:v>
                </c:pt>
                <c:pt idx="283">
                  <c:v>0.15579357351509299</c:v>
                </c:pt>
                <c:pt idx="284">
                  <c:v>0.16358325219084699</c:v>
                </c:pt>
                <c:pt idx="285">
                  <c:v>0.16650438169425499</c:v>
                </c:pt>
                <c:pt idx="286">
                  <c:v>0.14995131450827701</c:v>
                </c:pt>
                <c:pt idx="287">
                  <c:v>0.142161635832522</c:v>
                </c:pt>
                <c:pt idx="288">
                  <c:v>0.161635832521908</c:v>
                </c:pt>
                <c:pt idx="289">
                  <c:v>0.13047711781888999</c:v>
                </c:pt>
                <c:pt idx="290">
                  <c:v>0.14508276533593001</c:v>
                </c:pt>
                <c:pt idx="291">
                  <c:v>0.12852969814995099</c:v>
                </c:pt>
                <c:pt idx="292">
                  <c:v>0.12755598831548201</c:v>
                </c:pt>
                <c:pt idx="293">
                  <c:v>0.10126582278481</c:v>
                </c:pt>
                <c:pt idx="294">
                  <c:v>0.102239532619279</c:v>
                </c:pt>
                <c:pt idx="295">
                  <c:v>0.102239532619279</c:v>
                </c:pt>
                <c:pt idx="296">
                  <c:v>8.7633885102239503E-2</c:v>
                </c:pt>
                <c:pt idx="297">
                  <c:v>9.8344693281402107E-2</c:v>
                </c:pt>
                <c:pt idx="298">
                  <c:v>8.9581304771178205E-2</c:v>
                </c:pt>
                <c:pt idx="299">
                  <c:v>6.6212268743914296E-2</c:v>
                </c:pt>
                <c:pt idx="300">
                  <c:v>7.3028237585199607E-2</c:v>
                </c:pt>
                <c:pt idx="301">
                  <c:v>7.1080817916261002E-2</c:v>
                </c:pt>
                <c:pt idx="302">
                  <c:v>6.91333982473223E-2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20-4721-A619-59D2275216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6178128"/>
        <c:axId val="1206180048"/>
      </c:lineChart>
      <c:dateAx>
        <c:axId val="1206178128"/>
        <c:scaling>
          <c:orientation val="minMax"/>
        </c:scaling>
        <c:delete val="0"/>
        <c:axPos val="b"/>
        <c:numFmt formatCode="dd\.mm\.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06180048"/>
        <c:crosses val="autoZero"/>
        <c:auto val="1"/>
        <c:lblOffset val="100"/>
        <c:baseTimeUnit val="days"/>
      </c:dateAx>
      <c:valAx>
        <c:axId val="120618004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06178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07f509c-bd3d-4c5f-9a91-0b97e5042904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 суммарные клиентские выплаты.xlsx]Результат запроса!Сводная таблица1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 Динамика суммарных клиентских выплат по месяцам в разрезе по типам продукта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запроса'!$F$2:$F$3</c:f>
              <c:strCache>
                <c:ptCount val="1"/>
                <c:pt idx="0">
                  <c:v>Ammo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запроса'!$E$4:$E$16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запроса'!$F$4:$F$16</c:f>
              <c:numCache>
                <c:formatCode>General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94-4C0C-963C-95CD9A94D941}"/>
            </c:ext>
          </c:extLst>
        </c:ser>
        <c:ser>
          <c:idx val="1"/>
          <c:order val="1"/>
          <c:tx>
            <c:strRef>
              <c:f>'Результат запроса'!$G$2:$G$3</c:f>
              <c:strCache>
                <c:ptCount val="1"/>
                <c:pt idx="0">
                  <c:v>Currency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4-4C0C-963C-95CD9A94D94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094-4C0C-963C-95CD9A94D94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4-4C0C-963C-95CD9A94D94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094-4C0C-963C-95CD9A94D94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4-4C0C-963C-95CD9A94D94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094-4C0C-963C-95CD9A94D94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4-4C0C-963C-95CD9A94D94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094-4C0C-963C-95CD9A94D941}"/>
                </c:ext>
              </c:extLst>
            </c:dLbl>
            <c:dLbl>
              <c:idx val="8"/>
              <c:layout>
                <c:manualLayout>
                  <c:x val="-4.16096866096866E-2"/>
                  <c:y val="-2.5604838709677401E-2"/>
                </c:manualLayout>
              </c:layout>
              <c:spPr>
                <a:solidFill>
                  <a:srgbClr val="FFC00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4-4C0C-963C-95CD9A94D94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094-4C0C-963C-95CD9A94D9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'Результат запроса'!$E$4:$E$16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запроса'!$G$4:$G$16</c:f>
              <c:numCache>
                <c:formatCode>General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B094-4C0C-963C-95CD9A94D941}"/>
            </c:ext>
          </c:extLst>
        </c:ser>
        <c:ser>
          <c:idx val="2"/>
          <c:order val="2"/>
          <c:tx>
            <c:strRef>
              <c:f>'Результат запроса'!$H$2:$H$3</c:f>
              <c:strCache>
                <c:ptCount val="1"/>
                <c:pt idx="0">
                  <c:v>Materials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запроса'!$E$4:$E$16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запроса'!$H$4:$H$16</c:f>
              <c:numCache>
                <c:formatCode>General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B094-4C0C-963C-95CD9A94D941}"/>
            </c:ext>
          </c:extLst>
        </c:ser>
        <c:ser>
          <c:idx val="3"/>
          <c:order val="3"/>
          <c:tx>
            <c:strRef>
              <c:f>'Результат запроса'!$I$2:$I$3</c:f>
              <c:strCache>
                <c:ptCount val="1"/>
                <c:pt idx="0">
                  <c:v>Transport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запроса'!$E$4:$E$16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запроса'!$I$4:$I$16</c:f>
              <c:numCache>
                <c:formatCode>General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B094-4C0C-963C-95CD9A94D941}"/>
            </c:ext>
          </c:extLst>
        </c:ser>
        <c:ser>
          <c:idx val="4"/>
          <c:order val="4"/>
          <c:tx>
            <c:strRef>
              <c:f>'Результат запроса'!$J$2:$J$3</c:f>
              <c:strCache>
                <c:ptCount val="1"/>
                <c:pt idx="0">
                  <c:v>Weapon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'Результат запроса'!$E$4:$E$16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'Результат запроса'!$J$4:$J$16</c:f>
              <c:numCache>
                <c:formatCode>General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B094-4C0C-963C-95CD9A94D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76792288"/>
        <c:axId val="876771648"/>
      </c:lineChart>
      <c:catAx>
        <c:axId val="876792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771648"/>
        <c:crosses val="autoZero"/>
        <c:auto val="1"/>
        <c:lblAlgn val="ctr"/>
        <c:lblOffset val="100"/>
        <c:noMultiLvlLbl val="0"/>
      </c:catAx>
      <c:valAx>
        <c:axId val="876771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Размер выручки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792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bf61f80-90e7-45e3-9612-537582fe1ecb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>
                <a:solidFill>
                  <a:schemeClr val="tx1"/>
                </a:solidFill>
                <a:effectLst/>
              </a:rPr>
              <a:t>Динамика среднего количества и выручки от приобретаемых кристаллов на одну покупку по месяцам</a:t>
            </a:r>
            <a:endParaRPr lang="ru-RU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 купленных кристаллов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29</c:v>
                </c:pt>
                <c:pt idx="1">
                  <c:v>31.5625</c:v>
                </c:pt>
                <c:pt idx="2">
                  <c:v>32.173913043478301</c:v>
                </c:pt>
                <c:pt idx="3">
                  <c:v>28</c:v>
                </c:pt>
                <c:pt idx="4">
                  <c:v>29.6</c:v>
                </c:pt>
                <c:pt idx="5">
                  <c:v>30</c:v>
                </c:pt>
                <c:pt idx="6">
                  <c:v>19.117647058823501</c:v>
                </c:pt>
                <c:pt idx="7">
                  <c:v>17.352941176470601</c:v>
                </c:pt>
                <c:pt idx="8">
                  <c:v>22.051282051282101</c:v>
                </c:pt>
                <c:pt idx="9">
                  <c:v>23.076923076923102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B3-41EF-9656-895A09C1A6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6746208"/>
        <c:axId val="876755328"/>
      </c:lineChart>
      <c:lineChart>
        <c:grouping val="standard"/>
        <c:varyColors val="0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B3-41EF-9656-895A09C1A63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CB3-41EF-9656-895A09C1A63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CB3-41EF-9656-895A09C1A635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CB3-41EF-9656-895A09C1A63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CB3-41EF-9656-895A09C1A63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CB3-41EF-9656-895A09C1A63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CB3-41EF-9656-895A09C1A63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CB3-41EF-9656-895A09C1A635}"/>
                </c:ext>
              </c:extLst>
            </c:dLbl>
            <c:dLbl>
              <c:idx val="8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CB3-41EF-9656-895A09C1A635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CB3-41EF-9656-895A09C1A635}"/>
                </c:ext>
              </c:extLst>
            </c:dLbl>
            <c:spPr>
              <a:solidFill>
                <a:srgbClr val="FFC000">
                  <a:alpha val="34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4CB3-41EF-9656-895A09C1A6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621024"/>
        <c:axId val="157612384"/>
      </c:lineChart>
      <c:dateAx>
        <c:axId val="8767462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755328"/>
        <c:crosses val="autoZero"/>
        <c:auto val="1"/>
        <c:lblOffset val="100"/>
        <c:baseTimeUnit val="months"/>
      </c:dateAx>
      <c:valAx>
        <c:axId val="876755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>
                    <a:solidFill>
                      <a:schemeClr val="tx1"/>
                    </a:solidFill>
                  </a:rPr>
                  <a:t>Кристаллы</a:t>
                </a:r>
                <a:r>
                  <a:rPr lang="en-US" sz="1100">
                    <a:solidFill>
                      <a:schemeClr val="tx1"/>
                    </a:solidFill>
                  </a:rPr>
                  <a:t>,</a:t>
                </a:r>
                <a:r>
                  <a:rPr lang="en-US" sz="1100" baseline="0">
                    <a:solidFill>
                      <a:schemeClr val="tx1"/>
                    </a:solidFill>
                  </a:rPr>
                  <a:t> </a:t>
                </a:r>
                <a:r>
                  <a:rPr lang="ru-RU" sz="1100" baseline="0">
                    <a:solidFill>
                      <a:schemeClr val="tx1"/>
                    </a:solidFill>
                  </a:rPr>
                  <a:t>кол-во</a:t>
                </a:r>
                <a:endParaRPr lang="ru-RU" sz="110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746208"/>
        <c:crosses val="autoZero"/>
        <c:crossBetween val="between"/>
      </c:valAx>
      <c:dateAx>
        <c:axId val="15762102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7612384"/>
        <c:crosses val="autoZero"/>
        <c:auto val="1"/>
        <c:lblOffset val="100"/>
        <c:baseTimeUnit val="months"/>
      </c:dateAx>
      <c:valAx>
        <c:axId val="15761238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>
                    <a:solidFill>
                      <a:schemeClr val="tx1"/>
                    </a:solidFill>
                  </a:rPr>
                  <a:t>Размер выручки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762102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0c0c260-f37e-41ae-b6e9-5b0824bad8a5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Динамика средней выручки на одного человека на один месяц по</a:t>
            </a:r>
            <a:r>
              <a:rPr lang="ru-RU" baseline="0">
                <a:solidFill>
                  <a:schemeClr val="tx1"/>
                </a:solidFill>
              </a:rPr>
              <a:t> когортам</a:t>
            </a:r>
            <a:endParaRPr lang="ru-RU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запроса'!$F$1</c:f>
              <c:strCache>
                <c:ptCount val="1"/>
                <c:pt idx="0">
                  <c:v>avg_rev_per_month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619-476B-977B-6B17A5C05A7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19-476B-977B-6B17A5C05A7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619-476B-977B-6B17A5C05A79}"/>
                </c:ext>
              </c:extLst>
            </c:dLbl>
            <c:dLbl>
              <c:idx val="3"/>
              <c:layout>
                <c:manualLayout>
                  <c:x val="-3.0754985754985802E-2"/>
                  <c:y val="-3.1294802867383502E-2"/>
                </c:manualLayout>
              </c:layout>
              <c:numFmt formatCode="#,##0" sourceLinked="0"/>
              <c:spPr>
                <a:solidFill>
                  <a:srgbClr val="92D05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19-476B-977B-6B17A5C05A7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619-476B-977B-6B17A5C05A7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19-476B-977B-6B17A5C05A7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619-476B-977B-6B17A5C05A7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619-476B-977B-6B17A5C05A79}"/>
                </c:ext>
              </c:extLst>
            </c:dLbl>
            <c:dLbl>
              <c:idx val="8"/>
              <c:layout>
                <c:manualLayout>
                  <c:x val="-3.2564102564102602E-2"/>
                  <c:y val="-2.56048387096774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619-476B-977B-6B17A5C05A79}"/>
                </c:ext>
              </c:extLst>
            </c:dLbl>
            <c:numFmt formatCode="#,##0" sourceLinked="0"/>
            <c:spPr>
              <a:solidFill>
                <a:srgbClr val="00B0F0">
                  <a:alpha val="34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'Результат запроса'!$A$2:$A$10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запроса'!$F$2:$F$10</c:f>
              <c:numCache>
                <c:formatCode>General</c:formatCode>
                <c:ptCount val="9"/>
                <c:pt idx="0">
                  <c:v>118.546478873239</c:v>
                </c:pt>
                <c:pt idx="1">
                  <c:v>95.038011695906405</c:v>
                </c:pt>
                <c:pt idx="2">
                  <c:v>150.36933797909401</c:v>
                </c:pt>
                <c:pt idx="3">
                  <c:v>154.87356321839101</c:v>
                </c:pt>
                <c:pt idx="4">
                  <c:v>209.65974025974</c:v>
                </c:pt>
                <c:pt idx="5">
                  <c:v>248.06325301204799</c:v>
                </c:pt>
                <c:pt idx="6">
                  <c:v>340.41994750656198</c:v>
                </c:pt>
                <c:pt idx="7">
                  <c:v>577.60887096774195</c:v>
                </c:pt>
                <c:pt idx="8">
                  <c:v>1087.4320388349499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A619-476B-977B-6B17A5C05A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76756768"/>
        <c:axId val="876766848"/>
      </c:lineChart>
      <c:dateAx>
        <c:axId val="876756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766848"/>
        <c:crosses val="autoZero"/>
        <c:auto val="1"/>
        <c:lblOffset val="100"/>
        <c:baseTimeUnit val="months"/>
      </c:dateAx>
      <c:valAx>
        <c:axId val="876766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50">
                    <a:solidFill>
                      <a:schemeClr val="tx1"/>
                    </a:solidFill>
                  </a:rPr>
                  <a:t>Размер выручки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5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756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5d80111-38a1-453c-afdc-786309d977bf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 dirty="0">
                <a:solidFill>
                  <a:schemeClr val="tx1"/>
                </a:solidFill>
                <a:effectLst/>
              </a:rPr>
              <a:t>Динамика </a:t>
            </a:r>
            <a:r>
              <a:rPr lang="en-US" sz="1400" b="0" i="0" u="none" strike="noStrike" baseline="0" dirty="0">
                <a:solidFill>
                  <a:schemeClr val="tx1"/>
                </a:solidFill>
                <a:effectLst/>
              </a:rPr>
              <a:t>LMAU </a:t>
            </a:r>
            <a:r>
              <a:rPr lang="ru-RU" sz="1400" b="0" i="0" u="none" strike="noStrike" baseline="0" dirty="0">
                <a:solidFill>
                  <a:schemeClr val="tx1"/>
                </a:solidFill>
                <a:effectLst/>
              </a:rPr>
              <a:t>для критерия лояльности </a:t>
            </a:r>
            <a:r>
              <a:rPr lang="en-US" sz="1400" b="1" i="0" u="none" strike="noStrike" baseline="0" dirty="0" err="1">
                <a:solidFill>
                  <a:schemeClr val="tx1"/>
                </a:solidFill>
                <a:effectLst/>
              </a:rPr>
              <a:t>crit_invite</a:t>
            </a:r>
            <a:r>
              <a:rPr lang="ru-RU" sz="1400" b="1" i="0" u="none" strike="noStrike" baseline="0" dirty="0">
                <a:solidFill>
                  <a:schemeClr val="tx1"/>
                </a:solidFill>
                <a:effectLst/>
              </a:rPr>
              <a:t> </a:t>
            </a:r>
            <a:r>
              <a:rPr lang="ru-RU" sz="1400" b="0" i="0" u="none" strike="noStrike" baseline="0" dirty="0">
                <a:solidFill>
                  <a:schemeClr val="tx1"/>
                </a:solidFill>
                <a:effectLst/>
              </a:rPr>
              <a:t>по месяцам</a:t>
            </a:r>
            <a:endParaRPr lang="ru-RU" b="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 пользователей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C4C-4352-AEA2-E7C1F4426F0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4C-4352-AEA2-E7C1F4426F0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C4C-4352-AEA2-E7C1F4426F0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4C-4352-AEA2-E7C1F4426F0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C4C-4352-AEA2-E7C1F4426F0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C4C-4352-AEA2-E7C1F4426F0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C4C-4352-AEA2-E7C1F4426F0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C4C-4352-AEA2-E7C1F4426F01}"/>
                </c:ext>
              </c:extLst>
            </c:dLbl>
            <c:dLbl>
              <c:idx val="8"/>
              <c:layout>
                <c:manualLayout>
                  <c:x val="-3.08198005698006E-2"/>
                  <c:y val="-3.0160394265232999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C4C-4352-AEA2-E7C1F4426F0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C4C-4352-AEA2-E7C1F4426F0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77</c:v>
                </c:pt>
                <c:pt idx="1">
                  <c:v>148</c:v>
                </c:pt>
                <c:pt idx="2">
                  <c:v>142</c:v>
                </c:pt>
                <c:pt idx="3">
                  <c:v>133</c:v>
                </c:pt>
                <c:pt idx="4">
                  <c:v>158</c:v>
                </c:pt>
                <c:pt idx="5">
                  <c:v>154</c:v>
                </c:pt>
                <c:pt idx="6">
                  <c:v>213</c:v>
                </c:pt>
                <c:pt idx="7">
                  <c:v>250</c:v>
                </c:pt>
                <c:pt idx="8">
                  <c:v>532</c:v>
                </c:pt>
                <c:pt idx="9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0C4C-4352-AEA2-E7C1F4426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6016400"/>
        <c:axId val="756031280"/>
      </c:lineChart>
      <c:dateAx>
        <c:axId val="7560164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6031280"/>
        <c:crosses val="autoZero"/>
        <c:auto val="1"/>
        <c:lblOffset val="100"/>
        <c:baseTimeUnit val="months"/>
      </c:dateAx>
      <c:valAx>
        <c:axId val="756031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LMAU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56016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dc42237-f7f3-43c3-9e2b-a0fa175c4ee9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>
                <a:solidFill>
                  <a:schemeClr val="tx1"/>
                </a:solidFill>
                <a:effectLst/>
              </a:rPr>
              <a:t>Динамика </a:t>
            </a:r>
            <a:r>
              <a:rPr lang="en-US" sz="1400" b="0" i="0" u="none" strike="noStrike" kern="1200" spc="0" baseline="0">
                <a:solidFill>
                  <a:schemeClr val="tx1"/>
                </a:solidFill>
                <a:effectLst/>
              </a:rPr>
              <a:t>LMAU </a:t>
            </a:r>
            <a:r>
              <a:rPr lang="ru-RU" sz="1400" b="0" i="0" u="none" strike="noStrike" kern="1200" spc="0" baseline="0">
                <a:solidFill>
                  <a:schemeClr val="tx1"/>
                </a:solidFill>
                <a:effectLst/>
              </a:rPr>
              <a:t>для критерия лояльности </a:t>
            </a:r>
            <a:r>
              <a:rPr lang="en-US" sz="1400" b="1" i="0" u="none" strike="noStrike" kern="1200" spc="0" baseline="0">
                <a:solidFill>
                  <a:schemeClr val="tx1"/>
                </a:solidFill>
                <a:effectLst/>
              </a:rPr>
              <a:t>crit_1000</a:t>
            </a:r>
            <a:r>
              <a:rPr lang="ru-RU" sz="1400" b="1" i="0" u="none" strike="noStrike" kern="1200" spc="0" baseline="0">
                <a:solidFill>
                  <a:schemeClr val="tx1"/>
                </a:solidFill>
                <a:effectLst/>
              </a:rPr>
              <a:t> </a:t>
            </a:r>
            <a:r>
              <a:rPr lang="ru-RU" sz="1400" b="0" i="0" u="none" strike="noStrike" kern="1200" spc="0" baseline="0">
                <a:solidFill>
                  <a:schemeClr val="tx1"/>
                </a:solidFill>
                <a:effectLst/>
              </a:rPr>
              <a:t>по месяцам</a:t>
            </a:r>
            <a:endParaRPr lang="ru-RU" sz="1400" b="0" i="0" u="none" strike="noStrike" kern="1200" spc="0" baseline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LMAU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EAC-4116-BF30-109E0DACE02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AC-4116-BF30-109E0DACE02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EAC-4116-BF30-109E0DACE02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AC-4116-BF30-109E0DACE02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EAC-4116-BF30-109E0DACE02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EAC-4116-BF30-109E0DACE02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EAC-4116-BF30-109E0DACE02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EAC-4116-BF30-109E0DACE020}"/>
                </c:ext>
              </c:extLst>
            </c:dLbl>
            <c:dLbl>
              <c:idx val="8"/>
              <c:layout>
                <c:manualLayout>
                  <c:x val="-3.2621082621082598E-2"/>
                  <c:y val="-3.0286738351254502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EAC-4116-BF30-109E0DACE02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EAC-4116-BF30-109E0DACE0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30</c:v>
                </c:pt>
                <c:pt idx="1">
                  <c:v>52</c:v>
                </c:pt>
                <c:pt idx="2">
                  <c:v>49</c:v>
                </c:pt>
                <c:pt idx="3">
                  <c:v>61</c:v>
                </c:pt>
                <c:pt idx="4">
                  <c:v>67</c:v>
                </c:pt>
                <c:pt idx="5">
                  <c:v>57</c:v>
                </c:pt>
                <c:pt idx="6">
                  <c:v>78</c:v>
                </c:pt>
                <c:pt idx="7">
                  <c:v>111</c:v>
                </c:pt>
                <c:pt idx="8">
                  <c:v>230</c:v>
                </c:pt>
                <c:pt idx="9">
                  <c:v>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9EAC-4116-BF30-109E0DACE0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76750048"/>
        <c:axId val="876797568"/>
      </c:lineChart>
      <c:dateAx>
        <c:axId val="8767500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797568"/>
        <c:crosses val="autoZero"/>
        <c:auto val="1"/>
        <c:lblOffset val="100"/>
        <c:baseTimeUnit val="months"/>
      </c:dateAx>
      <c:valAx>
        <c:axId val="87679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LMAU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750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74fbcc7-fa81-4654-bcb2-e86215d5473a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0">
                <a:solidFill>
                  <a:schemeClr val="tx1"/>
                </a:solidFill>
                <a:effectLst/>
              </a:rPr>
              <a:t>Динамика </a:t>
            </a:r>
            <a:r>
              <a:rPr lang="en-US" b="0">
                <a:solidFill>
                  <a:schemeClr val="tx1"/>
                </a:solidFill>
                <a:effectLst/>
              </a:rPr>
              <a:t>LMAU </a:t>
            </a:r>
            <a:r>
              <a:rPr lang="ru-RU" b="0">
                <a:solidFill>
                  <a:schemeClr val="tx1"/>
                </a:solidFill>
                <a:effectLst/>
              </a:rPr>
              <a:t>для критерия лояльности </a:t>
            </a:r>
            <a:r>
              <a:rPr lang="en-US" sz="1400" b="1" i="0" u="none" strike="noStrike" baseline="0">
                <a:solidFill>
                  <a:schemeClr val="tx1"/>
                </a:solidFill>
                <a:effectLst/>
              </a:rPr>
              <a:t>crit_invite</a:t>
            </a:r>
            <a:r>
              <a:rPr lang="en-US" sz="1400" b="0" i="0" u="none" strike="noStrike" baseline="0">
                <a:solidFill>
                  <a:schemeClr val="tx1"/>
                </a:solidFill>
                <a:effectLst/>
              </a:rPr>
              <a:t> </a:t>
            </a:r>
            <a:r>
              <a:rPr lang="en-US" sz="1400" b="1" i="0" u="none" strike="noStrike" baseline="0">
                <a:solidFill>
                  <a:schemeClr val="tx1"/>
                </a:solidFill>
                <a:effectLst/>
              </a:rPr>
              <a:t>AND</a:t>
            </a:r>
            <a:r>
              <a:rPr lang="en-US" sz="1400" b="0" i="0" u="none" strike="noStrike" baseline="0">
                <a:solidFill>
                  <a:schemeClr val="tx1"/>
                </a:solidFill>
                <a:effectLst/>
              </a:rPr>
              <a:t> </a:t>
            </a:r>
            <a:r>
              <a:rPr lang="en-US" sz="1400" b="1" i="0" u="none" strike="noStrike" baseline="0">
                <a:solidFill>
                  <a:schemeClr val="tx1"/>
                </a:solidFill>
                <a:effectLst/>
              </a:rPr>
              <a:t>crit_1000 </a:t>
            </a:r>
            <a:r>
              <a:rPr lang="ru-RU" sz="1400" b="0" i="0" u="none" strike="noStrike" baseline="0">
                <a:solidFill>
                  <a:schemeClr val="tx1"/>
                </a:solidFill>
                <a:effectLst/>
              </a:rPr>
              <a:t>по месяцам</a:t>
            </a:r>
            <a:endParaRPr lang="en-US" b="0">
              <a:solidFill>
                <a:schemeClr val="tx1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cnt_user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B17-42DE-9F4F-7B4057E3E75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B17-42DE-9F4F-7B4057E3E75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B17-42DE-9F4F-7B4057E3E75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B17-42DE-9F4F-7B4057E3E75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B17-42DE-9F4F-7B4057E3E7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B17-42DE-9F4F-7B4057E3E75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B17-42DE-9F4F-7B4057E3E75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B17-42DE-9F4F-7B4057E3E750}"/>
                </c:ext>
              </c:extLst>
            </c:dLbl>
            <c:dLbl>
              <c:idx val="8"/>
              <c:layout>
                <c:manualLayout>
                  <c:x val="-2.24786324786325E-2"/>
                  <c:y val="-2.92264784946237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B17-42DE-9F4F-7B4057E3E75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B17-42DE-9F4F-7B4057E3E7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11</c:v>
                </c:pt>
                <c:pt idx="1">
                  <c:v>18</c:v>
                </c:pt>
                <c:pt idx="2">
                  <c:v>17</c:v>
                </c:pt>
                <c:pt idx="3">
                  <c:v>18</c:v>
                </c:pt>
                <c:pt idx="4">
                  <c:v>25</c:v>
                </c:pt>
                <c:pt idx="5">
                  <c:v>26</c:v>
                </c:pt>
                <c:pt idx="6">
                  <c:v>27</c:v>
                </c:pt>
                <c:pt idx="7">
                  <c:v>35</c:v>
                </c:pt>
                <c:pt idx="8">
                  <c:v>76</c:v>
                </c:pt>
                <c:pt idx="9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B17-42DE-9F4F-7B4057E3E7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4490000"/>
        <c:axId val="157625344"/>
      </c:lineChart>
      <c:dateAx>
        <c:axId val="7344900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7625344"/>
        <c:crosses val="autoZero"/>
        <c:auto val="1"/>
        <c:lblOffset val="100"/>
        <c:baseTimeUnit val="months"/>
      </c:dateAx>
      <c:valAx>
        <c:axId val="157625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LMAU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34490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8346230-cc53-43b6-92cd-3e5980f894da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>
                <a:solidFill>
                  <a:schemeClr val="tx1"/>
                </a:solidFill>
                <a:effectLst/>
              </a:rPr>
              <a:t>Динамика </a:t>
            </a:r>
            <a:r>
              <a:rPr lang="en-US" sz="1400" b="0" i="0" u="none" strike="noStrike" kern="1200" spc="0" baseline="0">
                <a:solidFill>
                  <a:schemeClr val="tx1"/>
                </a:solidFill>
                <a:effectLst/>
              </a:rPr>
              <a:t>LMAU </a:t>
            </a:r>
            <a:r>
              <a:rPr lang="ru-RU" sz="1400" b="0" i="0" u="none" strike="noStrike" kern="1200" spc="0" baseline="0">
                <a:solidFill>
                  <a:schemeClr val="tx1"/>
                </a:solidFill>
                <a:effectLst/>
              </a:rPr>
              <a:t>для критерия лояльности </a:t>
            </a:r>
            <a:r>
              <a:rPr lang="en-US" sz="1400" b="1" i="0" u="none" strike="noStrike" kern="1200" spc="0" baseline="0">
                <a:solidFill>
                  <a:schemeClr val="tx1"/>
                </a:solidFill>
                <a:effectLst/>
              </a:rPr>
              <a:t>crit_invite</a:t>
            </a:r>
            <a:r>
              <a:rPr lang="en-US" sz="1400" b="0" i="0" u="none" strike="noStrike" kern="1200" spc="0" baseline="0">
                <a:solidFill>
                  <a:schemeClr val="tx1"/>
                </a:solidFill>
                <a:effectLst/>
              </a:rPr>
              <a:t> </a:t>
            </a:r>
            <a:r>
              <a:rPr lang="en-US" sz="1400" b="1" i="0" u="none" strike="noStrike" kern="1200" spc="0" baseline="0">
                <a:solidFill>
                  <a:schemeClr val="tx1"/>
                </a:solidFill>
                <a:effectLst/>
              </a:rPr>
              <a:t>OR</a:t>
            </a:r>
            <a:r>
              <a:rPr lang="en-US" sz="1400" b="0" i="0" u="none" strike="noStrike" kern="1200" spc="0" baseline="0">
                <a:solidFill>
                  <a:schemeClr val="tx1"/>
                </a:solidFill>
                <a:effectLst/>
              </a:rPr>
              <a:t> </a:t>
            </a:r>
            <a:r>
              <a:rPr lang="en-US" sz="1400" b="1" i="0" u="none" strike="noStrike" kern="1200" spc="0" baseline="0">
                <a:solidFill>
                  <a:schemeClr val="tx1"/>
                </a:solidFill>
                <a:effectLst/>
              </a:rPr>
              <a:t>crit_1000 </a:t>
            </a:r>
            <a:r>
              <a:rPr lang="ru-RU" sz="1400" b="0" i="0" u="none" strike="noStrike" kern="1200" spc="0" baseline="0">
                <a:solidFill>
                  <a:schemeClr val="tx1"/>
                </a:solidFill>
                <a:effectLst/>
              </a:rPr>
              <a:t>по месяцам</a:t>
            </a:r>
            <a:endParaRPr lang="en-US" sz="1400" b="0" i="0" u="none" strike="noStrike" kern="1200" spc="0" baseline="0">
              <a:solidFill>
                <a:schemeClr val="tx1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cnt_user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32C-4966-B0D9-0DC9464A6AC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2C-4966-B0D9-0DC9464A6AC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32C-4966-B0D9-0DC9464A6AC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2C-4966-B0D9-0DC9464A6AC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32C-4966-B0D9-0DC9464A6AC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32C-4966-B0D9-0DC9464A6AC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32C-4966-B0D9-0DC9464A6AC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32C-4966-B0D9-0DC9464A6ACA}"/>
                </c:ext>
              </c:extLst>
            </c:dLbl>
            <c:dLbl>
              <c:idx val="8"/>
              <c:layout>
                <c:manualLayout>
                  <c:x val="-2.8034188034188001E-2"/>
                  <c:y val="-3.3131720430107502E-2"/>
                </c:manualLayout>
              </c:layout>
              <c:spPr>
                <a:solidFill>
                  <a:srgbClr val="00B0F0">
                    <a:alpha val="34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32C-4966-B0D9-0DC9464A6AC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32C-4966-B0D9-0DC9464A6A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96</c:v>
                </c:pt>
                <c:pt idx="1">
                  <c:v>182</c:v>
                </c:pt>
                <c:pt idx="2">
                  <c:v>174</c:v>
                </c:pt>
                <c:pt idx="3">
                  <c:v>176</c:v>
                </c:pt>
                <c:pt idx="4">
                  <c:v>200</c:v>
                </c:pt>
                <c:pt idx="5">
                  <c:v>185</c:v>
                </c:pt>
                <c:pt idx="6">
                  <c:v>264</c:v>
                </c:pt>
                <c:pt idx="7">
                  <c:v>326</c:v>
                </c:pt>
                <c:pt idx="8">
                  <c:v>686</c:v>
                </c:pt>
                <c:pt idx="9">
                  <c:v>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32C-4966-B0D9-0DC9464A6A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1017216"/>
        <c:axId val="1021034016"/>
      </c:lineChart>
      <c:dateAx>
        <c:axId val="10210172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21034016"/>
        <c:crosses val="autoZero"/>
        <c:auto val="1"/>
        <c:lblOffset val="100"/>
        <c:baseTimeUnit val="months"/>
      </c:dateAx>
      <c:valAx>
        <c:axId val="102103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LMAU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21017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820caa0-7ec1-4db2-98e8-152a52a10c66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0.79203</cdr:x>
      <cdr:y>0.10384</cdr:y>
    </cdr:from>
    <cdr:to>
      <cdr:x>0.85021</cdr:x>
      <cdr:y>0.78834</cdr:y>
    </cdr:to>
    <cdr:sp macro="" textlink="">
      <cdr:nvSpPr>
        <cdr:cNvPr id="2" name="Прямоугольник 1"/>
        <cdr:cNvSpPr/>
      </cdr:nvSpPr>
      <cdr:spPr>
        <a:xfrm xmlns:a="http://schemas.openxmlformats.org/drawingml/2006/main">
          <a:off x="5560060" y="463550"/>
          <a:ext cx="408431" cy="3055620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1">
            <a:alpha val="23000"/>
          </a:schemeClr>
        </a:solidFill>
        <a:ln xmlns:a="http://schemas.openxmlformats.org/drawingml/2006/main" w="6350">
          <a:solidFill>
            <a:srgbClr val="FF0000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 kern="12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0.4343</cdr:x>
      <cdr:y>0.82661</cdr:y>
    </cdr:from>
    <cdr:to>
      <cdr:x>0.4476</cdr:x>
      <cdr:y>0.84624</cdr:y>
    </cdr:to>
    <cdr:sp macro="" textlink="">
      <cdr:nvSpPr>
        <cdr:cNvPr id="2" name="Овал 1"/>
        <cdr:cNvSpPr/>
      </cdr:nvSpPr>
      <cdr:spPr>
        <a:xfrm xmlns:a="http://schemas.openxmlformats.org/drawingml/2006/main">
          <a:off x="3048789" y="3689984"/>
          <a:ext cx="93366" cy="87628"/>
        </a:xfrm>
        <a:prstGeom xmlns:a="http://schemas.openxmlformats.org/drawingml/2006/main" prst="ellipse">
          <a:avLst/>
        </a:prstGeom>
        <a:solidFill xmlns:a="http://schemas.openxmlformats.org/drawingml/2006/main">
          <a:srgbClr val="92D050"/>
        </a:solidFill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2">
            <a:shade val="15000"/>
          </a:schemeClr>
        </a:lnRef>
        <a:fillRef xmlns:a="http://schemas.openxmlformats.org/drawingml/2006/main" idx="1">
          <a:schemeClr val="accent2"/>
        </a:fillRef>
        <a:effectRef xmlns:a="http://schemas.openxmlformats.org/drawingml/2006/main" idx="0">
          <a:schemeClr val="accent2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zh-CN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ru-RU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856271" y="1381956"/>
            <a:ext cx="6479458" cy="2187001"/>
          </a:xfrm>
        </p:spPr>
        <p:txBody>
          <a:bodyPr>
            <a:normAutofit fontScale="90000"/>
          </a:bodyPr>
          <a:lstStyle/>
          <a:p>
            <a:r>
              <a:rPr lang="ru-RU" altLang="ru-RU" dirty="0">
                <a:latin typeface="Palatino Linotype" panose="02040502050505030304" charset="0"/>
                <a:cs typeface="Palatino Linotype" panose="02040502050505030304" charset="0"/>
              </a:rPr>
              <a:t>Анализ</a:t>
            </a:r>
            <a:r>
              <a:rPr lang="en-US" altLang="ru-RU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ru-RU" altLang="ru-RU" dirty="0">
                <a:latin typeface="Palatino Linotype" panose="02040502050505030304" charset="0"/>
                <a:cs typeface="Palatino Linotype" panose="02040502050505030304" charset="0"/>
              </a:rPr>
              <a:t>игры </a:t>
            </a:r>
            <a:r>
              <a:rPr lang="en-US" altLang="ru-RU" dirty="0">
                <a:latin typeface="Palatino Linotype" panose="02040502050505030304" charset="0"/>
                <a:cs typeface="Palatino Linotype" panose="02040502050505030304" charset="0"/>
              </a:rPr>
              <a:t>Zombie Revolution</a:t>
            </a:r>
            <a:endParaRPr lang="ru-RU" altLang="ru-RU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62405" y="3705543"/>
            <a:ext cx="9144000" cy="1655762"/>
          </a:xfrm>
        </p:spPr>
        <p:txBody>
          <a:bodyPr/>
          <a:lstStyle/>
          <a:p>
            <a:r>
              <a:rPr lang="ru-RU" altLang="en-US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</a:rPr>
              <a:t>Подготовил Чумакин Д.Е.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Содержание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Общие показатели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Технические проблемы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Маркетинговая акция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Финансовые метрики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Показатель вирусности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Новый канал привлечения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Лояльность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Регистрация пользователей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291" y="1825625"/>
            <a:ext cx="3953164" cy="4351338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3078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уникальных пользователей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Июль 2022 - Март 2023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С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декабря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2022 резкий рост регистраций с пиком в марте.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Овал 5"/>
          <p:cNvSpPr/>
          <p:nvPr/>
        </p:nvSpPr>
        <p:spPr>
          <a:xfrm>
            <a:off x="5039868" y="4537329"/>
            <a:ext cx="93345" cy="87629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304155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Palatino Linotype" panose="02040502050505030304" charset="0"/>
              </a:rPr>
              <a:t>Количество и качество игровых сессий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291" y="1825625"/>
            <a:ext cx="3953164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Всего сессий: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27161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Из них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&gt;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5 минут: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19357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Декабрь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2022: резкое падение доли «качественных» сессий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Март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2023: пик количества сессий (совпадает с ростом регистраций)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Прямая соединительная линия 7"/>
          <p:cNvCxnSpPr/>
          <p:nvPr/>
        </p:nvCxnSpPr>
        <p:spPr>
          <a:xfrm flipV="1">
            <a:off x="4458462" y="2050542"/>
            <a:ext cx="0" cy="28285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Динамика «длинных» сессий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290" y="1825625"/>
            <a:ext cx="4091709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“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Длинная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”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сессия – более 1 часа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Декабрь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2022: падение до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56%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(минимальное значение)</a:t>
            </a:r>
            <a:endParaRPr lang="en-US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Апрель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2023: подъём до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70%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(максимум)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6" name="Диаграмма 5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257973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Palatino Linotype" panose="02040502050505030304" charset="0"/>
              </a:rPr>
              <a:t>Средняя длительность игровых сессий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291" y="1825625"/>
            <a:ext cx="3953164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Декабрь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2022: небольшой подъём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Аномалия в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марте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2023: средняя длительность - 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5,5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мин</a:t>
            </a:r>
            <a:b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</a:b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(в остальные месяцы - около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2,3–2,7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мин)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Апрель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2023: возврат к норме</a:t>
            </a:r>
            <a:endParaRPr lang="ru-RU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0095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Реферальная программа:     вовлечение и конверсия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97092" y="1825625"/>
            <a:ext cx="4294908" cy="4351338"/>
          </a:xfrm>
        </p:spPr>
        <p:txBody>
          <a:bodyPr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Всего приглашений: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7933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Приглашали: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2992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игрока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Конверсия в установку: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36%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27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самых эффективных игроков (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&gt;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5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приглашений,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            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конверсия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≥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50%)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1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аномалия (</a:t>
            </a:r>
            <a:r>
              <a:rPr lang="ru-RU" sz="2400" dirty="0" err="1">
                <a:solidFill>
                  <a:schemeClr val="tx1"/>
                </a:solidFill>
                <a:latin typeface="Palatino Linotype" panose="02040502050505030304" charset="0"/>
              </a:rPr>
              <a:t>id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2901910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): 6+ приглашений, 0 установок (потенциальный спам)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pic>
        <p:nvPicPr>
          <p:cNvPr id="4" name="Диаграмма 3"/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584008"/>
            <a:ext cx="7020000" cy="446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9489358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Проблемы с данными сессий (битые строки)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83795" y="1825625"/>
            <a:ext cx="4208204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Всего битых сессий: 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3262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Доля от всех сессий: 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12%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98%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всех битых строк приходится на </a:t>
            </a:r>
            <a:r>
              <a:rPr lang="ru-RU" sz="2400" dirty="0" err="1">
                <a:solidFill>
                  <a:schemeClr val="tx1"/>
                </a:solidFill>
                <a:latin typeface="Palatino Linotype" panose="02040502050505030304" charset="0"/>
              </a:rPr>
              <a:t>iOS</a:t>
            </a: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FF0000"/>
              </a:solidFill>
              <a:latin typeface="Palatino Linotype" panose="0204050205050503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b="1" dirty="0" err="1">
                <a:solidFill>
                  <a:schemeClr val="tx1"/>
                </a:solidFill>
                <a:latin typeface="Palatino Linotype" panose="02040502050505030304" charset="0"/>
              </a:rPr>
              <a:t>iOS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—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19%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сессий битые (каждая пятая)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b="1" dirty="0" err="1">
                <a:solidFill>
                  <a:schemeClr val="tx1"/>
                </a:solidFill>
                <a:latin typeface="Palatino Linotype" panose="02040502050505030304" charset="0"/>
              </a:rPr>
              <a:t>Android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—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0,75%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сессий битые</a:t>
            </a:r>
          </a:p>
          <a:p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5" name="Диаграмма 4"/>
          <p:cNvGraphicFramePr/>
          <p:nvPr>
            <p:extLst>
              <p:ext uri="{D42A27DB-BD31-4B8C-83A1-F6EECF244321}">
                <p14:modId xmlns:p14="http://schemas.microsoft.com/office/powerpoint/2010/main" val="141943270"/>
              </p:ext>
            </p:extLst>
          </p:nvPr>
        </p:nvGraphicFramePr>
        <p:xfrm>
          <a:off x="647700" y="1825625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Palatino Linotype" panose="02040502050505030304" charset="0"/>
              </a:rPr>
              <a:t>Результаты акции: DAU, WAU, MAU</a:t>
            </a:r>
            <a:endParaRPr lang="ru-RU" sz="3900" dirty="0">
              <a:latin typeface="Palatino Linotype" panose="020405020505050303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291" y="1825625"/>
            <a:ext cx="3993386" cy="4351338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Период акции: 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1</a:t>
            </a:r>
            <a:r>
              <a:rPr lang="en-US" sz="2400" b="1" dirty="0">
                <a:solidFill>
                  <a:schemeClr val="tx1"/>
                </a:solidFill>
                <a:latin typeface="Palatino Linotype" panose="02040502050505030304" charset="0"/>
              </a:rPr>
              <a:t>-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21 марта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2023</a:t>
            </a:r>
            <a:endParaRPr lang="en-US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Рекордное количество уникальных пользователей</a:t>
            </a:r>
          </a:p>
          <a:p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Пиковые значения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</a:t>
            </a: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DAU: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218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WAU: 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charset="0"/>
              </a:rPr>
              <a:t>772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MAU: 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charset="0"/>
              </a:rPr>
              <a:t>1544</a:t>
            </a:r>
            <a:endParaRPr lang="ru-RU" sz="2400" dirty="0">
              <a:solidFill>
                <a:srgbClr val="FF0000"/>
              </a:solidFill>
              <a:latin typeface="Palatino Linotype" panose="02040502050505030304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Максимум — на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последней неделе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акции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>
                <a:latin typeface="Palatino Linotype" panose="02040502050505030304" charset="0"/>
              </a:rPr>
              <a:t>Sticky</a:t>
            </a:r>
            <a:r>
              <a:rPr lang="ru-RU" dirty="0">
                <a:latin typeface="Palatino Linotype" panose="02040502050505030304" charset="0"/>
              </a:rPr>
              <a:t> </a:t>
            </a:r>
            <a:r>
              <a:rPr lang="ru-RU" dirty="0" err="1">
                <a:latin typeface="Palatino Linotype" panose="02040502050505030304" charset="0"/>
              </a:rPr>
              <a:t>Factor</a:t>
            </a:r>
            <a:r>
              <a:rPr lang="ru-RU" dirty="0">
                <a:latin typeface="Palatino Linotype" panose="02040502050505030304" charset="0"/>
              </a:rPr>
              <a:t> во время акции</a:t>
            </a:r>
            <a:endParaRPr lang="ru-RU" sz="3900" dirty="0">
              <a:latin typeface="Palatino Linotype" panose="020405020505050303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291" y="1825625"/>
            <a:ext cx="3953164" cy="4351338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FF0000"/>
              </a:buClr>
              <a:buFont typeface="Calibri Light" panose="020F0302020204030204" pitchFamily="34" charset="0"/>
              <a:buChar char="×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Понижение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sticky factor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во время акции</a:t>
            </a:r>
          </a:p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Рост в последние дни акции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Рекомендация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: в следующих акциях добавить «бустер» в середине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0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6261100" y="4072128"/>
            <a:ext cx="411480" cy="1354582"/>
          </a:xfrm>
          <a:prstGeom prst="rect">
            <a:avLst/>
          </a:prstGeom>
          <a:solidFill>
            <a:schemeClr val="accent1">
              <a:alpha val="23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kern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Palatino Linotype" panose="02040502050505030304" charset="0"/>
              </a:rPr>
              <a:t>Выручка по типам продуктов</a:t>
            </a:r>
            <a:endParaRPr lang="ru-RU" sz="3900" dirty="0">
              <a:latin typeface="Palatino Linotype" panose="020405020505050303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291" y="1825625"/>
            <a:ext cx="3953164" cy="4351338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  <a:latin typeface="Palatino Linotype" panose="02040502050505030304" charset="0"/>
              </a:rPr>
              <a:t>Transport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и </a:t>
            </a:r>
            <a:r>
              <a:rPr lang="en-US" sz="2400" dirty="0">
                <a:solidFill>
                  <a:srgbClr val="4472C4"/>
                </a:solidFill>
                <a:latin typeface="Palatino Linotype" panose="02040502050505030304" charset="0"/>
              </a:rPr>
              <a:t>weapon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 — стабильно низкие выплаты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Март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2023: резкий рост по </a:t>
            </a:r>
            <a:r>
              <a:rPr lang="ru-RU" sz="2400" dirty="0" err="1">
                <a:solidFill>
                  <a:schemeClr val="tx1"/>
                </a:solidFill>
                <a:latin typeface="Palatino Linotype" panose="02040502050505030304" charset="0"/>
              </a:rPr>
              <a:t>Ammo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, </a:t>
            </a:r>
            <a:r>
              <a:rPr lang="ru-RU" sz="2400" dirty="0" err="1">
                <a:solidFill>
                  <a:schemeClr val="tx1"/>
                </a:solidFill>
                <a:latin typeface="Palatino Linotype" panose="02040502050505030304" charset="0"/>
              </a:rPr>
              <a:t>Materials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и особенно </a:t>
            </a:r>
            <a:r>
              <a:rPr lang="ru-RU" sz="2400" dirty="0" err="1">
                <a:solidFill>
                  <a:srgbClr val="F09253"/>
                </a:solidFill>
                <a:latin typeface="Palatino Linotype" panose="02040502050505030304" charset="0"/>
              </a:rPr>
              <a:t>Currency</a:t>
            </a:r>
            <a:endParaRPr lang="ru-RU" sz="2400" dirty="0">
              <a:solidFill>
                <a:srgbClr val="F09253"/>
              </a:solidFill>
              <a:latin typeface="Palatino Linotype" panose="0204050205050503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chemeClr val="tx1"/>
                </a:solidFill>
                <a:latin typeface="Palatino Linotype" panose="02040502050505030304" charset="0"/>
              </a:rPr>
              <a:t>Currency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: 45k →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106k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 (+135%)</a:t>
            </a: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Palatino Linotype" panose="02040502050505030304" charset="0"/>
              </a:rPr>
              <a:t>Изменение цены кристалла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291" y="1825625"/>
            <a:ext cx="3953164" cy="4351338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До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января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: ~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30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кристаллов за покупку</a:t>
            </a:r>
            <a:endParaRPr lang="en-US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Clr>
                <a:srgbClr val="FF0000"/>
              </a:buClr>
              <a:buFont typeface="Palatino Linotype" panose="02040502050505030304" charset="0"/>
              <a:buChar char="×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После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января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: 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17–23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кристалла (спрос снизился)</a:t>
            </a:r>
            <a:endParaRPr lang="en-US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Выручка выросла — пик в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марте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(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37,8 тыс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.)</a:t>
            </a: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Прямая соединительная линия 5"/>
          <p:cNvCxnSpPr/>
          <p:nvPr/>
        </p:nvCxnSpPr>
        <p:spPr>
          <a:xfrm flipV="1">
            <a:off x="4919472" y="2267712"/>
            <a:ext cx="0" cy="28285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9862984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Palatino Linotype" panose="02040502050505030304" charset="0"/>
              </a:rPr>
              <a:t>Когортный анализ</a:t>
            </a:r>
            <a:r>
              <a:rPr lang="en-US" dirty="0">
                <a:latin typeface="Palatino Linotype" panose="02040502050505030304" charset="0"/>
              </a:rPr>
              <a:t>: </a:t>
            </a:r>
            <a:r>
              <a:rPr lang="ru-RU" dirty="0">
                <a:latin typeface="Palatino Linotype" panose="02040502050505030304" charset="0"/>
              </a:rPr>
              <a:t>выручка на пользователя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291" y="1825625"/>
            <a:ext cx="3953164" cy="4351338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Заметный рост выручки с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октября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2022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Мартовская когорта — максимум (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1087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)</a:t>
            </a: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900" dirty="0">
                <a:latin typeface="Palatino Linotype" panose="02040502050505030304" charset="0"/>
              </a:rPr>
              <a:t>Вирусность игры</a:t>
            </a:r>
            <a:r>
              <a:rPr lang="en-US" sz="3900" dirty="0">
                <a:latin typeface="Palatino Linotype" panose="02040502050505030304" charset="0"/>
              </a:rPr>
              <a:t>, k-factor</a:t>
            </a:r>
            <a:endParaRPr lang="ru-RU" sz="3900" dirty="0">
              <a:latin typeface="Palatino Linotype" panose="0204050205050503030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70" y="2652833"/>
            <a:ext cx="6744641" cy="1267002"/>
          </a:xfrm>
          <a:prstGeom prst="rect">
            <a:avLst/>
          </a:prstGeom>
        </p:spPr>
      </p:pic>
      <p:sp>
        <p:nvSpPr>
          <p:cNvPr id="6" name="Объект 2"/>
          <p:cNvSpPr txBox="1"/>
          <p:nvPr/>
        </p:nvSpPr>
        <p:spPr>
          <a:xfrm>
            <a:off x="8091949" y="1825857"/>
            <a:ext cx="3634868" cy="20939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K-factor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charset="0"/>
              </a:rPr>
              <a:t> &lt; 1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–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эффект вирусности не сработал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B050"/>
                </a:solidFill>
                <a:latin typeface="Palatino Linotype" panose="02040502050505030304" charset="0"/>
              </a:rPr>
              <a:t>≈315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новых пользователей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805117" y="1664756"/>
            <a:ext cx="2910348" cy="970936"/>
          </a:xfrm>
          <a:prstGeom prst="rect">
            <a:avLst/>
          </a:prstGeom>
          <a:solidFill>
            <a:srgbClr val="FFE73B">
              <a:alpha val="11000"/>
            </a:srgb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rgbClr val="92D050"/>
              </a:buClr>
            </a:pPr>
            <a:r>
              <a:rPr lang="en-US" sz="3200" b="1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K = 0</a:t>
            </a:r>
            <a:r>
              <a:rPr lang="ru-RU" sz="3200" b="1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,92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958416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Palatino Linotype" panose="02040502050505030304" charset="0"/>
              </a:rPr>
              <a:t>Таргетированная реклама: качество аудитории</a:t>
            </a:r>
            <a:endParaRPr lang="ru-RU" sz="3900" dirty="0">
              <a:latin typeface="Palatino Linotype" panose="020405020505050303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2056" y="4460127"/>
            <a:ext cx="10747887" cy="775734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Рекламная стратегия привлекла более лояльных игроков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888111" y="2017004"/>
            <a:ext cx="4581832" cy="1868129"/>
          </a:xfrm>
          <a:prstGeom prst="rect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Ноябрь–Декабрь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 2022 </a:t>
            </a:r>
          </a:p>
          <a:p>
            <a:pPr algn="ctr"/>
            <a:br>
              <a:rPr lang="ru-RU" sz="2400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</a:b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Средняя продолжительность сессии: </a:t>
            </a:r>
            <a:r>
              <a:rPr lang="ru-RU" sz="2400" dirty="0">
                <a:solidFill>
                  <a:srgbClr val="00B050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3 ч 37 мин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22056" y="2017005"/>
            <a:ext cx="4581832" cy="1868129"/>
          </a:xfrm>
          <a:prstGeom prst="rect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Остальные месяцы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 </a:t>
            </a:r>
          </a:p>
          <a:p>
            <a:pPr algn="ctr"/>
            <a:br>
              <a:rPr lang="ru-RU" sz="2400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</a:b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Средняя продолжительность сессии: </a:t>
            </a:r>
            <a:r>
              <a:rPr lang="ru-RU" sz="2400" dirty="0">
                <a:solidFill>
                  <a:srgbClr val="0070C0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2 ч 57 мин</a:t>
            </a:r>
          </a:p>
        </p:txBody>
      </p:sp>
      <p:sp>
        <p:nvSpPr>
          <p:cNvPr id="6" name="Стрелка: вправо 5"/>
          <p:cNvSpPr/>
          <p:nvPr/>
        </p:nvSpPr>
        <p:spPr>
          <a:xfrm>
            <a:off x="5456903" y="2562884"/>
            <a:ext cx="1278193" cy="776367"/>
          </a:xfrm>
          <a:prstGeom prst="rightArrow">
            <a:avLst/>
          </a:prstGeom>
          <a:solidFill>
            <a:schemeClr val="bg1"/>
          </a:solidFill>
          <a:ln w="25400">
            <a:solidFill>
              <a:srgbClr val="202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rgbClr val="FF0000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+22,6</a:t>
            </a:r>
            <a:r>
              <a:rPr lang="en-US" sz="2000" dirty="0">
                <a:solidFill>
                  <a:srgbClr val="FF0000"/>
                </a:solidFill>
                <a:latin typeface="Palatino Linotype" panose="02040502050505030304" charset="0"/>
                <a:cs typeface="Calibri Light" panose="020F0302020204030204" pitchFamily="34" charset="0"/>
              </a:rPr>
              <a:t>%</a:t>
            </a:r>
            <a:endParaRPr lang="ru-RU" sz="2000" dirty="0">
              <a:solidFill>
                <a:srgbClr val="FF0000"/>
              </a:solidFill>
              <a:latin typeface="Palatino Linotype" panose="0204050205050503030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900" dirty="0">
                <a:latin typeface="Palatino Linotype" panose="02040502050505030304" charset="0"/>
              </a:rPr>
              <a:t>Лояльность</a:t>
            </a:r>
            <a:r>
              <a:rPr lang="en-US" sz="3900" dirty="0">
                <a:latin typeface="Palatino Linotype" panose="02040502050505030304" charset="0"/>
              </a:rPr>
              <a:t>: </a:t>
            </a:r>
            <a:r>
              <a:rPr lang="en-US" sz="3900" dirty="0" err="1">
                <a:latin typeface="Palatino Linotype" panose="02040502050505030304" charset="0"/>
              </a:rPr>
              <a:t>crit_invite</a:t>
            </a:r>
            <a:endParaRPr lang="ru-RU" sz="3900" dirty="0">
              <a:latin typeface="Palatino Linotype" panose="020405020505050303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33146" y="1825625"/>
            <a:ext cx="4170367" cy="4351338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Пользователь    пригласил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≥ 3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друзей,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 ≥1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зарегистрировался</a:t>
            </a:r>
            <a:endParaRPr lang="en-US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Пик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LMAU –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март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 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charset="0"/>
              </a:rPr>
              <a:t>532</a:t>
            </a:r>
            <a:endParaRPr lang="ru-RU" sz="2400" dirty="0">
              <a:solidFill>
                <a:srgbClr val="FF0000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647700" y="1584007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900" dirty="0">
                <a:latin typeface="Palatino Linotype" panose="02040502050505030304" charset="0"/>
              </a:rPr>
              <a:t>Лояльность</a:t>
            </a:r>
            <a:r>
              <a:rPr lang="en-US" sz="3900" dirty="0">
                <a:latin typeface="Palatino Linotype" panose="02040502050505030304" charset="0"/>
              </a:rPr>
              <a:t>: crit_1000</a:t>
            </a:r>
            <a:endParaRPr lang="ru-RU" sz="3900" dirty="0">
              <a:latin typeface="Palatino Linotype" panose="020405020505050303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33146" y="1825625"/>
            <a:ext cx="4170367" cy="4351338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Пользователь оплатил   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≥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1000 рублей за всё время</a:t>
            </a:r>
            <a:endParaRPr lang="en-US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Пик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LMAU –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март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 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charset="0"/>
              </a:rPr>
              <a:t>2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30</a:t>
            </a: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900" dirty="0">
                <a:latin typeface="Palatino Linotype" panose="02040502050505030304" charset="0"/>
              </a:rPr>
              <a:t>Лояльность</a:t>
            </a:r>
            <a:r>
              <a:rPr lang="en-US" sz="3900" dirty="0">
                <a:latin typeface="Palatino Linotype" panose="02040502050505030304" charset="0"/>
              </a:rPr>
              <a:t>: </a:t>
            </a:r>
            <a:r>
              <a:rPr lang="en-US" sz="3900" dirty="0" err="1">
                <a:latin typeface="Palatino Linotype" panose="02040502050505030304" charset="0"/>
              </a:rPr>
              <a:t>crit_invite</a:t>
            </a:r>
            <a:r>
              <a:rPr lang="en-US" sz="3900" dirty="0">
                <a:latin typeface="Palatino Linotype" panose="02040502050505030304" charset="0"/>
              </a:rPr>
              <a:t> AND crit_1000 </a:t>
            </a:r>
            <a:endParaRPr lang="ru-RU" sz="3900" dirty="0">
              <a:latin typeface="Palatino Linotype" panose="020405020505050303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33146" y="1825625"/>
            <a:ext cx="4170367" cy="4351338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Одновременно выполняются </a:t>
            </a:r>
            <a:r>
              <a:rPr lang="en-US" sz="2400" b="1" dirty="0" err="1">
                <a:solidFill>
                  <a:schemeClr val="tx1"/>
                </a:solidFill>
                <a:latin typeface="Palatino Linotype" panose="02040502050505030304" charset="0"/>
              </a:rPr>
              <a:t>crit_invite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и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Palatino Linotype" panose="02040502050505030304" charset="0"/>
              </a:rPr>
              <a:t>crit_1000</a:t>
            </a:r>
            <a:endParaRPr lang="en-US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Пик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LMAU –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март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76</a:t>
            </a: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Palatino Linotype" panose="02040502050505030304" charset="0"/>
              </a:rPr>
              <a:t>Лояльность</a:t>
            </a:r>
            <a:r>
              <a:rPr lang="en-US" dirty="0">
                <a:latin typeface="Palatino Linotype" panose="02040502050505030304" charset="0"/>
              </a:rPr>
              <a:t>: </a:t>
            </a:r>
            <a:r>
              <a:rPr lang="en-US" dirty="0" err="1">
                <a:latin typeface="Palatino Linotype" panose="02040502050505030304" charset="0"/>
              </a:rPr>
              <a:t>crit_invite</a:t>
            </a:r>
            <a:r>
              <a:rPr lang="en-US" dirty="0">
                <a:latin typeface="Palatino Linotype" panose="02040502050505030304" charset="0"/>
              </a:rPr>
              <a:t> OR crit_1000 </a:t>
            </a:r>
            <a:endParaRPr lang="ru-RU" dirty="0">
              <a:latin typeface="Palatino Linotype" panose="020405020505050303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33146" y="1825625"/>
            <a:ext cx="4170367" cy="4351338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Выполняется </a:t>
            </a:r>
            <a:r>
              <a:rPr lang="en-US" sz="2400" b="1" dirty="0" err="1">
                <a:solidFill>
                  <a:schemeClr val="tx1"/>
                </a:solidFill>
                <a:latin typeface="Palatino Linotype" panose="02040502050505030304" charset="0"/>
              </a:rPr>
              <a:t>crit_invite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или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Palatino Linotype" panose="02040502050505030304" charset="0"/>
              </a:rPr>
              <a:t>crit_1000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.</a:t>
            </a:r>
            <a:endParaRPr lang="en-US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Пик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LMAU –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март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686</a:t>
            </a:r>
          </a:p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0B050"/>
              </a:solidFill>
              <a:latin typeface="Palatino Linotype" panose="02040502050505030304" charset="0"/>
            </a:endParaRPr>
          </a:p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При любом критерии лояльности, пик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LMAU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достигается в </a:t>
            </a:r>
            <a:r>
              <a:rPr lang="ru-RU" sz="2400" b="1" dirty="0">
                <a:solidFill>
                  <a:schemeClr val="tx1"/>
                </a:solidFill>
                <a:latin typeface="Palatino Linotype" panose="02040502050505030304" charset="0"/>
              </a:rPr>
              <a:t>марте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2023</a:t>
            </a:r>
          </a:p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0B050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700" y="1584008"/>
          <a:ext cx="7020000" cy="44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900" dirty="0">
                <a:latin typeface="Palatino Linotype" panose="02040502050505030304" charset="0"/>
              </a:rPr>
              <a:t>Лояльность</a:t>
            </a:r>
            <a:r>
              <a:rPr lang="en-US" sz="3900" dirty="0">
                <a:latin typeface="Palatino Linotype" panose="02040502050505030304" charset="0"/>
              </a:rPr>
              <a:t>:</a:t>
            </a:r>
            <a:r>
              <a:rPr lang="ru-RU" sz="3900" dirty="0">
                <a:latin typeface="Palatino Linotype" panose="02040502050505030304" charset="0"/>
              </a:rPr>
              <a:t> средние выплаты</a:t>
            </a:r>
            <a:r>
              <a:rPr lang="en-US" sz="3900" dirty="0">
                <a:latin typeface="Palatino Linotype" panose="02040502050505030304" charset="0"/>
              </a:rPr>
              <a:t> </a:t>
            </a:r>
            <a:r>
              <a:rPr lang="ru-RU" sz="3900" dirty="0">
                <a:latin typeface="Palatino Linotype" panose="02040502050505030304" charset="0"/>
              </a:rPr>
              <a:t>за месяц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33146" y="1825625"/>
            <a:ext cx="4170367" cy="4351338"/>
          </a:xfrm>
        </p:spPr>
        <p:txBody>
          <a:bodyPr>
            <a:noAutofit/>
          </a:bodyPr>
          <a:lstStyle/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Пользователь входит в топ-100 пользователей по средним выплатам за один месяц своей жизни</a:t>
            </a:r>
          </a:p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65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пользователей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платят от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1400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до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2100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рублей в месяц</a:t>
            </a:r>
          </a:p>
          <a:p>
            <a:pPr marL="342900" indent="-342900">
              <a:buClr>
                <a:srgbClr val="202020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Максимум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5600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рублей в месяц</a:t>
            </a:r>
          </a:p>
        </p:txBody>
      </p:sp>
      <p:pic>
        <p:nvPicPr>
          <p:cNvPr id="4" name="Диаграмма 3"/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584008"/>
            <a:ext cx="7020000" cy="446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Спасибо за внимание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7699" y="1584008"/>
            <a:ext cx="7216141" cy="1768792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>
              <a:buClr>
                <a:srgbClr val="92D050"/>
              </a:buClr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753</Words>
  <Application>Microsoft Office PowerPoint</Application>
  <PresentationFormat>Широкоэкранный</PresentationFormat>
  <Paragraphs>138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Анализ игры Zombie Revolution</vt:lpstr>
      <vt:lpstr>Содержание</vt:lpstr>
      <vt:lpstr>Регистрация пользователей</vt:lpstr>
      <vt:lpstr>Количество и качество игровых сессий</vt:lpstr>
      <vt:lpstr>Динамика «длинных» сессий</vt:lpstr>
      <vt:lpstr>Средняя длительность игровых сессий</vt:lpstr>
      <vt:lpstr>Реферальная программа:     вовлечение и конверсия</vt:lpstr>
      <vt:lpstr>Проблемы с данными сессий (битые строки)</vt:lpstr>
      <vt:lpstr>Результаты акции: DAU, WAU, MAU</vt:lpstr>
      <vt:lpstr>Sticky Factor во время акции</vt:lpstr>
      <vt:lpstr>Выручка по типам продуктов</vt:lpstr>
      <vt:lpstr>Изменение цены кристалла</vt:lpstr>
      <vt:lpstr>Когортный анализ: выручка на пользователя</vt:lpstr>
      <vt:lpstr>Вирусность игры, k-factor</vt:lpstr>
      <vt:lpstr>Таргетированная реклама: качество аудитории</vt:lpstr>
      <vt:lpstr>Лояльность: crit_invite</vt:lpstr>
      <vt:lpstr>Лояльность: crit_1000</vt:lpstr>
      <vt:lpstr>Лояльность: crit_invite AND crit_1000 </vt:lpstr>
      <vt:lpstr>Лояльность: crit_invite OR crit_1000 </vt:lpstr>
      <vt:lpstr>Лояльность: средние выплаты за месяц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Даниил Чумакин</cp:lastModifiedBy>
  <cp:revision>44</cp:revision>
  <dcterms:created xsi:type="dcterms:W3CDTF">2025-07-23T00:59:00Z</dcterms:created>
  <dcterms:modified xsi:type="dcterms:W3CDTF">2026-03-16T16:50:26Z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E9570D2E314C4FE9B5D2497FAA2293AB_13</vt:lpwstr>
  </property>
</Properties>
</file>
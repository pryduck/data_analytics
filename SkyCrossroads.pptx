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drawings/drawing1.xml" ContentType="application/vnd.openxmlformats-officedocument.drawingml.chartshapes+xml"/>
  <Override PartName="/ppt/charts/chart5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charts/chart6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charts/chart7.xml" ContentType="application/vnd.openxmlformats-officedocument.drawingml.chart+xml"/>
  <Override PartName="/ppt/charts/style6.xml" ContentType="application/vnd.ms-office.chartstyle+xml"/>
  <Override PartName="/ppt/charts/colors6.xml" ContentType="application/vnd.ms-office.chartcolorstyle+xml"/>
  <Override PartName="/ppt/charts/chart8.xml" ContentType="application/vnd.openxmlformats-officedocument.drawingml.chart+xml"/>
  <Override PartName="/ppt/charts/style7.xml" ContentType="application/vnd.ms-office.chartstyle+xml"/>
  <Override PartName="/ppt/charts/colors7.xml" ContentType="application/vnd.ms-office.chartcolorstyle+xml"/>
  <Override PartName="/ppt/charts/chart9.xml" ContentType="application/vnd.openxmlformats-officedocument.drawingml.chart+xml"/>
  <Override PartName="/ppt/charts/style8.xml" ContentType="application/vnd.ms-office.chartstyle+xml"/>
  <Override PartName="/ppt/charts/colors8.xml" ContentType="application/vnd.ms-office.chartcolorstyle+xml"/>
  <Override PartName="/ppt/charts/chart10.xml" ContentType="application/vnd.openxmlformats-officedocument.drawingml.chart+xml"/>
  <Override PartName="/ppt/charts/style9.xml" ContentType="application/vnd.ms-office.chartstyle+xml"/>
  <Override PartName="/ppt/charts/colors9.xml" ContentType="application/vnd.ms-office.chartcolorstyle+xml"/>
  <Override PartName="/ppt/charts/chart11.xml" ContentType="application/vnd.openxmlformats-officedocument.drawingml.chart+xml"/>
  <Override PartName="/ppt/charts/style10.xml" ContentType="application/vnd.ms-office.chartstyle+xml"/>
  <Override PartName="/ppt/charts/colors10.xml" ContentType="application/vnd.ms-office.chartcolorstyle+xml"/>
  <Override PartName="/ppt/charts/chart12.xml" ContentType="application/vnd.openxmlformats-officedocument.drawingml.chart+xml"/>
  <Override PartName="/ppt/charts/style11.xml" ContentType="application/vnd.ms-office.chartstyle+xml"/>
  <Override PartName="/ppt/charts/colors11.xml" ContentType="application/vnd.ms-office.chartcolorstyle+xml"/>
  <Override PartName="/ppt/charts/chart13.xml" ContentType="application/vnd.openxmlformats-officedocument.drawingml.chart+xml"/>
  <Override PartName="/ppt/charts/style12.xml" ContentType="application/vnd.ms-office.chartstyle+xml"/>
  <Override PartName="/ppt/charts/colors12.xml" ContentType="application/vnd.ms-office.chartcolorstyle+xml"/>
  <Override PartName="/ppt/charts/chart14.xml" ContentType="application/vnd.openxmlformats-officedocument.drawingml.chart+xml"/>
  <Override PartName="/ppt/charts/style13.xml" ContentType="application/vnd.ms-office.chartstyle+xml"/>
  <Override PartName="/ppt/charts/colors13.xml" ContentType="application/vnd.ms-office.chartcolorstyle+xml"/>
  <Override PartName="/ppt/charts/chart15.xml" ContentType="application/vnd.openxmlformats-officedocument.drawingml.chart+xml"/>
  <Override PartName="/ppt/charts/style14.xml" ContentType="application/vnd.ms-office.chartstyle+xml"/>
  <Override PartName="/ppt/charts/colors14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3"/>
  </p:notesMasterIdLst>
  <p:handoutMasterIdLst>
    <p:handoutMasterId r:id="rId24"/>
  </p:handoutMasterIdLst>
  <p:sldIdLst>
    <p:sldId id="256" r:id="rId2"/>
    <p:sldId id="257" r:id="rId3"/>
    <p:sldId id="258" r:id="rId4"/>
    <p:sldId id="261" r:id="rId5"/>
    <p:sldId id="259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1" r:id="rId15"/>
    <p:sldId id="270" r:id="rId16"/>
    <p:sldId id="272" r:id="rId17"/>
    <p:sldId id="273" r:id="rId18"/>
    <p:sldId id="274" r:id="rId19"/>
    <p:sldId id="275" r:id="rId20"/>
    <p:sldId id="276" r:id="rId21"/>
    <p:sldId id="277" r:id="rId22"/>
  </p:sldIdLst>
  <p:sldSz cx="12192000" cy="6858000"/>
  <p:notesSz cx="7104063" cy="10234613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59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7030A0"/>
    <a:srgbClr val="4472C4"/>
    <a:srgbClr val="5B9BD5"/>
    <a:srgbClr val="202020"/>
    <a:srgbClr val="ED7D31"/>
    <a:srgbClr val="F09253"/>
    <a:srgbClr val="00B050"/>
    <a:srgbClr val="FFC000"/>
    <a:srgbClr val="B2B2B2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1651" autoAdjust="0"/>
    <p:restoredTop sz="94660"/>
  </p:normalViewPr>
  <p:slideViewPr>
    <p:cSldViewPr snapToGrid="0" showGuides="1">
      <p:cViewPr varScale="1">
        <p:scale>
          <a:sx n="83" d="100"/>
          <a:sy n="83" d="100"/>
        </p:scale>
        <p:origin x="840" y="77"/>
      </p:cViewPr>
      <p:guideLst>
        <p:guide orient="horz" pos="2159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0" cy="720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user\Downloads\Transaction_list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user\Downloads\Transaction_list.xlsx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oleObject" Target="file:///C:\Users\user\Downloads\Transaction_list.xlsx" TargetMode="Externa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user\Downloads\Transaction_list.xlsx" TargetMode="External"/><Relationship Id="rId2" Type="http://schemas.microsoft.com/office/2011/relationships/chartColorStyle" Target="colors3.xml"/><Relationship Id="rId1" Type="http://schemas.microsoft.com/office/2011/relationships/chartStyle" Target="style3.xml"/><Relationship Id="rId4" Type="http://schemas.openxmlformats.org/officeDocument/2006/relationships/chartUserShapes" Target="../drawings/drawing1.xml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user\Downloads\Transaction_list.xlsx" TargetMode="External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6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user\Downloads\Transaction_list.xlsx" TargetMode="External"/><Relationship Id="rId2" Type="http://schemas.microsoft.com/office/2011/relationships/chartColorStyle" Target="colors5.xml"/><Relationship Id="rId1" Type="http://schemas.microsoft.com/office/2011/relationships/chartStyle" Target="style5.xml"/></Relationships>
</file>

<file path=ppt/charts/_rels/chart7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user\Downloads\Transaction_list.xlsx" TargetMode="External"/><Relationship Id="rId2" Type="http://schemas.microsoft.com/office/2011/relationships/chartColorStyle" Target="colors6.xml"/><Relationship Id="rId1" Type="http://schemas.microsoft.com/office/2011/relationships/chartStyle" Target="style6.xml"/></Relationships>
</file>

<file path=ppt/charts/_rels/chart8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user\Downloads\Transaction_list.xlsx" TargetMode="External"/><Relationship Id="rId2" Type="http://schemas.microsoft.com/office/2011/relationships/chartColorStyle" Target="colors7.xml"/><Relationship Id="rId1" Type="http://schemas.microsoft.com/office/2011/relationships/chartStyle" Target="style7.xml"/></Relationships>
</file>

<file path=ppt/charts/_rels/chart9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user\Downloads\Transaction_list.xlsx" TargetMode="External"/><Relationship Id="rId2" Type="http://schemas.microsoft.com/office/2011/relationships/chartColorStyle" Target="colors8.xml"/><Relationship Id="rId1" Type="http://schemas.microsoft.com/office/2011/relationships/chartStyle" Target="style8.xml"/></Relationships>
</file>

<file path=ppt/charts/_rels/chart10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user\Downloads\Transaction_list.xlsx" TargetMode="External"/><Relationship Id="rId2" Type="http://schemas.microsoft.com/office/2011/relationships/chartColorStyle" Target="colors9.xml"/><Relationship Id="rId1" Type="http://schemas.microsoft.com/office/2011/relationships/chartStyle" Target="style9.xml"/></Relationships>
</file>

<file path=ppt/charts/_rels/chart11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user\Downloads\Transaction_list2.xlsx" TargetMode="External"/><Relationship Id="rId2" Type="http://schemas.microsoft.com/office/2011/relationships/chartColorStyle" Target="colors10.xml"/><Relationship Id="rId1" Type="http://schemas.microsoft.com/office/2011/relationships/chartStyle" Target="style10.xml"/></Relationships>
</file>

<file path=ppt/charts/_rels/chart12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user\Downloads\Transaction_list2.xlsx" TargetMode="External"/><Relationship Id="rId2" Type="http://schemas.microsoft.com/office/2011/relationships/chartColorStyle" Target="colors11.xml"/><Relationship Id="rId1" Type="http://schemas.microsoft.com/office/2011/relationships/chartStyle" Target="style11.xml"/></Relationships>
</file>

<file path=ppt/charts/_rels/chart13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user\Downloads\Transaction_list2.xlsx" TargetMode="External"/><Relationship Id="rId2" Type="http://schemas.microsoft.com/office/2011/relationships/chartColorStyle" Target="colors12.xml"/><Relationship Id="rId1" Type="http://schemas.microsoft.com/office/2011/relationships/chartStyle" Target="style12.xml"/></Relationships>
</file>

<file path=ppt/charts/_rels/chart14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user\Downloads\Transaction_list2.xlsx" TargetMode="External"/><Relationship Id="rId2" Type="http://schemas.microsoft.com/office/2011/relationships/chartColorStyle" Target="colors13.xml"/><Relationship Id="rId1" Type="http://schemas.microsoft.com/office/2011/relationships/chartStyle" Target="style13.xml"/></Relationships>
</file>

<file path=ppt/charts/_rels/chart15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user\Downloads\Transaction_list2.xlsx" TargetMode="External"/><Relationship Id="rId2" Type="http://schemas.microsoft.com/office/2011/relationships/chartColorStyle" Target="colors14.xml"/><Relationship Id="rId1" Type="http://schemas.microsoft.com/office/2011/relationships/chartStyle" Target="style14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[Transaction_list.xlsx]Задача1!Сводная таблица1</c:name>
    <c:fmtId val="-1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lang="ru-RU" sz="1400" b="0" i="0" u="none" strike="noStrike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r>
              <a:rPr lang="ru-RU" sz="1600" b="0" dirty="0">
                <a:solidFill>
                  <a:schemeClr val="tx1"/>
                </a:solidFill>
              </a:rPr>
              <a:t>Общее</a:t>
            </a:r>
            <a:r>
              <a:rPr lang="ru-RU" sz="1600" b="0" baseline="0" dirty="0">
                <a:solidFill>
                  <a:schemeClr val="tx1"/>
                </a:solidFill>
              </a:rPr>
              <a:t> к</a:t>
            </a:r>
            <a:r>
              <a:rPr lang="ru-RU" sz="1600" b="0" dirty="0">
                <a:solidFill>
                  <a:schemeClr val="tx1"/>
                </a:solidFill>
              </a:rPr>
              <a:t>оличество</a:t>
            </a:r>
            <a:r>
              <a:rPr lang="ru-RU" sz="1600" b="0" baseline="0" dirty="0">
                <a:solidFill>
                  <a:schemeClr val="tx1"/>
                </a:solidFill>
              </a:rPr>
              <a:t> транзакций с разбивкой в динамике по Т.Т.</a:t>
            </a:r>
            <a:endParaRPr lang="ru-RU" sz="1600" b="0" dirty="0">
              <a:solidFill>
                <a:schemeClr val="tx1"/>
              </a:solidFill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lang="ru-RU" sz="1400" b="0" i="0" u="none" strike="noStrike" kern="1200" spc="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ru-RU"/>
        </a:p>
      </c:txPr>
    </c:title>
    <c:autoTitleDeleted val="0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Задача1!$B$3:$B$4</c:f>
              <c:strCache>
                <c:ptCount val="1"/>
                <c:pt idx="0">
                  <c:v>Ленинский пр-т, 162/1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Задача1!$A$5:$A$9</c:f>
              <c:strCache>
                <c:ptCount val="4"/>
                <c:pt idx="0">
                  <c:v>01.сен</c:v>
                </c:pt>
                <c:pt idx="1">
                  <c:v>02.сен</c:v>
                </c:pt>
                <c:pt idx="2">
                  <c:v>03.сен</c:v>
                </c:pt>
                <c:pt idx="3">
                  <c:v>04.сен</c:v>
                </c:pt>
              </c:strCache>
            </c:strRef>
          </c:cat>
          <c:val>
            <c:numRef>
              <c:f>Задача1!$B$5:$B$9</c:f>
              <c:numCache>
                <c:formatCode>General</c:formatCode>
                <c:ptCount val="4"/>
                <c:pt idx="0">
                  <c:v>2775</c:v>
                </c:pt>
                <c:pt idx="1">
                  <c:v>2798</c:v>
                </c:pt>
                <c:pt idx="2">
                  <c:v>2615</c:v>
                </c:pt>
                <c:pt idx="3">
                  <c:v>2655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7562-4B31-AA23-1E536E75A31C}"/>
            </c:ext>
          </c:extLst>
        </c:ser>
        <c:ser>
          <c:idx val="1"/>
          <c:order val="1"/>
          <c:tx>
            <c:strRef>
              <c:f>Задача1!$C$3:$C$4</c:f>
              <c:strCache>
                <c:ptCount val="1"/>
                <c:pt idx="0">
                  <c:v>пр-т Вернадского, 88к3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Задача1!$A$5:$A$9</c:f>
              <c:strCache>
                <c:ptCount val="4"/>
                <c:pt idx="0">
                  <c:v>01.сен</c:v>
                </c:pt>
                <c:pt idx="1">
                  <c:v>02.сен</c:v>
                </c:pt>
                <c:pt idx="2">
                  <c:v>03.сен</c:v>
                </c:pt>
                <c:pt idx="3">
                  <c:v>04.сен</c:v>
                </c:pt>
              </c:strCache>
            </c:strRef>
          </c:cat>
          <c:val>
            <c:numRef>
              <c:f>Задача1!$C$5:$C$9</c:f>
              <c:numCache>
                <c:formatCode>General</c:formatCode>
                <c:ptCount val="4"/>
                <c:pt idx="0">
                  <c:v>1692</c:v>
                </c:pt>
                <c:pt idx="1">
                  <c:v>1687</c:v>
                </c:pt>
                <c:pt idx="2">
                  <c:v>1657</c:v>
                </c:pt>
                <c:pt idx="3">
                  <c:v>1593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7562-4B31-AA23-1E536E75A31C}"/>
            </c:ext>
          </c:extLst>
        </c:ser>
        <c:ser>
          <c:idx val="2"/>
          <c:order val="2"/>
          <c:tx>
            <c:strRef>
              <c:f>Задача1!$D$3:$D$4</c:f>
              <c:strCache>
                <c:ptCount val="1"/>
                <c:pt idx="0">
                  <c:v>Ракетный б-р, 14к1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cat>
            <c:strRef>
              <c:f>Задача1!$A$5:$A$9</c:f>
              <c:strCache>
                <c:ptCount val="4"/>
                <c:pt idx="0">
                  <c:v>01.сен</c:v>
                </c:pt>
                <c:pt idx="1">
                  <c:v>02.сен</c:v>
                </c:pt>
                <c:pt idx="2">
                  <c:v>03.сен</c:v>
                </c:pt>
                <c:pt idx="3">
                  <c:v>04.сен</c:v>
                </c:pt>
              </c:strCache>
            </c:strRef>
          </c:cat>
          <c:val>
            <c:numRef>
              <c:f>Задача1!$D$5:$D$9</c:f>
              <c:numCache>
                <c:formatCode>General</c:formatCode>
                <c:ptCount val="4"/>
                <c:pt idx="0">
                  <c:v>1408</c:v>
                </c:pt>
                <c:pt idx="1">
                  <c:v>1482</c:v>
                </c:pt>
                <c:pt idx="2">
                  <c:v>1388</c:v>
                </c:pt>
                <c:pt idx="3">
                  <c:v>1326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7562-4B31-AA23-1E536E75A31C}"/>
            </c:ext>
          </c:extLst>
        </c:ser>
        <c:ser>
          <c:idx val="3"/>
          <c:order val="3"/>
          <c:tx>
            <c:strRef>
              <c:f>Задача1!$E$3:$E$4</c:f>
              <c:strCache>
                <c:ptCount val="1"/>
                <c:pt idx="0">
                  <c:v>Симферопольский б-р, 22</c:v>
                </c:pt>
              </c:strCache>
            </c:strRef>
          </c:tx>
          <c:spPr>
            <a:solidFill>
              <a:schemeClr val="accent4"/>
            </a:solidFill>
            <a:ln>
              <a:noFill/>
            </a:ln>
            <a:effectLst/>
          </c:spPr>
          <c:invertIfNegative val="0"/>
          <c:cat>
            <c:strRef>
              <c:f>Задача1!$A$5:$A$9</c:f>
              <c:strCache>
                <c:ptCount val="4"/>
                <c:pt idx="0">
                  <c:v>01.сен</c:v>
                </c:pt>
                <c:pt idx="1">
                  <c:v>02.сен</c:v>
                </c:pt>
                <c:pt idx="2">
                  <c:v>03.сен</c:v>
                </c:pt>
                <c:pt idx="3">
                  <c:v>04.сен</c:v>
                </c:pt>
              </c:strCache>
            </c:strRef>
          </c:cat>
          <c:val>
            <c:numRef>
              <c:f>Задача1!$E$5:$E$9</c:f>
              <c:numCache>
                <c:formatCode>General</c:formatCode>
                <c:ptCount val="4"/>
                <c:pt idx="0">
                  <c:v>855</c:v>
                </c:pt>
                <c:pt idx="1">
                  <c:v>910</c:v>
                </c:pt>
                <c:pt idx="2">
                  <c:v>227</c:v>
                </c:pt>
                <c:pt idx="3">
                  <c:v>293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7562-4B31-AA23-1E536E75A31C}"/>
            </c:ext>
          </c:extLst>
        </c:ser>
        <c:ser>
          <c:idx val="4"/>
          <c:order val="4"/>
          <c:tx>
            <c:strRef>
              <c:f>Задача1!$F$3:$F$4</c:f>
              <c:strCache>
                <c:ptCount val="1"/>
                <c:pt idx="0">
                  <c:v>ул. Чертановская,  20к2</c:v>
                </c:pt>
              </c:strCache>
            </c:strRef>
          </c:tx>
          <c:spPr>
            <a:solidFill>
              <a:schemeClr val="accent5"/>
            </a:solidFill>
            <a:ln>
              <a:noFill/>
            </a:ln>
            <a:effectLst/>
          </c:spPr>
          <c:invertIfNegative val="0"/>
          <c:cat>
            <c:strRef>
              <c:f>Задача1!$A$5:$A$9</c:f>
              <c:strCache>
                <c:ptCount val="4"/>
                <c:pt idx="0">
                  <c:v>01.сен</c:v>
                </c:pt>
                <c:pt idx="1">
                  <c:v>02.сен</c:v>
                </c:pt>
                <c:pt idx="2">
                  <c:v>03.сен</c:v>
                </c:pt>
                <c:pt idx="3">
                  <c:v>04.сен</c:v>
                </c:pt>
              </c:strCache>
            </c:strRef>
          </c:cat>
          <c:val>
            <c:numRef>
              <c:f>Задача1!$F$5:$F$9</c:f>
              <c:numCache>
                <c:formatCode>General</c:formatCode>
                <c:ptCount val="4"/>
                <c:pt idx="2">
                  <c:v>1823</c:v>
                </c:pt>
                <c:pt idx="3">
                  <c:v>3172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7562-4B31-AA23-1E536E75A31C}"/>
            </c:ext>
          </c:extLst>
        </c:ser>
        <c:ser>
          <c:idx val="5"/>
          <c:order val="5"/>
          <c:tx>
            <c:strRef>
              <c:f>Задача1!$G$3:$G$4</c:f>
              <c:strCache>
                <c:ptCount val="1"/>
                <c:pt idx="0">
                  <c:v>ул. Щорса, 26/3</c:v>
                </c:pt>
              </c:strCache>
            </c:strRef>
          </c:tx>
          <c:spPr>
            <a:solidFill>
              <a:schemeClr val="accent6"/>
            </a:solidFill>
            <a:ln>
              <a:noFill/>
            </a:ln>
            <a:effectLst/>
          </c:spPr>
          <c:invertIfNegative val="0"/>
          <c:cat>
            <c:strRef>
              <c:f>Задача1!$A$5:$A$9</c:f>
              <c:strCache>
                <c:ptCount val="4"/>
                <c:pt idx="0">
                  <c:v>01.сен</c:v>
                </c:pt>
                <c:pt idx="1">
                  <c:v>02.сен</c:v>
                </c:pt>
                <c:pt idx="2">
                  <c:v>03.сен</c:v>
                </c:pt>
                <c:pt idx="3">
                  <c:v>04.сен</c:v>
                </c:pt>
              </c:strCache>
            </c:strRef>
          </c:cat>
          <c:val>
            <c:numRef>
              <c:f>Задача1!$G$5:$G$9</c:f>
              <c:numCache>
                <c:formatCode>General</c:formatCode>
                <c:ptCount val="4"/>
                <c:pt idx="0">
                  <c:v>1119</c:v>
                </c:pt>
                <c:pt idx="1">
                  <c:v>1070</c:v>
                </c:pt>
                <c:pt idx="2">
                  <c:v>1079</c:v>
                </c:pt>
                <c:pt idx="3">
                  <c:v>1036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7562-4B31-AA23-1E536E75A31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520463103"/>
        <c:axId val="520472223"/>
      </c:barChart>
      <c:catAx>
        <c:axId val="520463103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lang="ru-RU"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ru-RU" b="0"/>
                  <a:t>Дата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lang="ru-RU"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ru-RU" sz="1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520472223"/>
        <c:crosses val="autoZero"/>
        <c:auto val="1"/>
        <c:lblAlgn val="ctr"/>
        <c:lblOffset val="100"/>
        <c:noMultiLvlLbl val="0"/>
      </c:catAx>
      <c:valAx>
        <c:axId val="520472223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lang="ru-RU" sz="1000" b="0" i="0" u="none" strike="noStrike" kern="1200" baseline="0">
                    <a:solidFill>
                      <a:srgbClr val="000000">
                        <a:lumMod val="65000"/>
                        <a:lumOff val="35000"/>
                      </a:srgb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ru-RU" sz="1000" b="0" i="0" u="none" strike="noStrike" kern="1200" baseline="0">
                    <a:solidFill>
                      <a:srgbClr val="000000">
                        <a:lumMod val="65000"/>
                        <a:lumOff val="35000"/>
                      </a:srgbClr>
                    </a:solidFill>
                  </a:rPr>
                  <a:t>Количество транзакций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 lang="ru-RU" sz="1000" b="0" i="0" u="none" strike="noStrike" kern="1200" baseline="0">
                  <a:solidFill>
                    <a:srgbClr val="000000">
                      <a:lumMod val="65000"/>
                      <a:lumOff val="35000"/>
                    </a:srgb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ru-RU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520463103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lang="ru-RU" sz="1000" b="0" i="0" u="none" strike="noStrike" kern="120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ru-RU"/>
        </a:p>
      </c:txPr>
    </c:legend>
    <c:plotVisOnly val="1"/>
    <c:dispBlanksAs val="gap"/>
    <c:showDLblsOverMax val="0"/>
    <c:extLst>
      <c:ext uri="{0b15fc19-7d7d-44ad-8c2d-2c3a37ce22c3}">
        <chartProps xmlns="https://web.wps.cn/et/2018/main" chartId="{f88db803-91f0-4328-b74a-5f1444408b7c}"/>
      </c:ext>
    </c:extLst>
  </c:chart>
  <c:spPr>
    <a:noFill/>
    <a:ln>
      <a:noFill/>
    </a:ln>
    <a:effectLst/>
  </c:spPr>
  <c:txPr>
    <a:bodyPr/>
    <a:lstStyle/>
    <a:p>
      <a:pPr>
        <a:defRPr lang="ru-RU"/>
      </a:pPr>
      <a:endParaRPr lang="ru-RU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  <c14:dropZonesVisible val="1"/>
      </c14:pivotOptions>
    </c:ext>
  </c:extLst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[Transaction_list.xlsx]Задача2!Сводная таблица2</c:name>
    <c:fmtId val="-1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lang="ru-RU" sz="1600" b="0" i="0" u="none" strike="noStrike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r>
              <a:rPr lang="ru-RU" sz="1600" b="0" dirty="0">
                <a:solidFill>
                  <a:schemeClr val="tx1"/>
                </a:solidFill>
              </a:rPr>
              <a:t>Количество транзакций в динамике по серверам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lang="ru-RU" sz="1600" b="0" i="0" u="none" strike="noStrike" kern="1200" spc="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ru-RU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Задача2!$B$3:$B$4</c:f>
              <c:strCache>
                <c:ptCount val="1"/>
                <c:pt idx="0">
                  <c:v>1</c:v>
                </c:pt>
              </c:strCache>
            </c:strRef>
          </c:tx>
          <c:spPr>
            <a:ln w="28575" cap="rnd">
              <a:solidFill>
                <a:srgbClr val="7030A0"/>
              </a:solidFill>
              <a:round/>
            </a:ln>
            <a:effectLst/>
          </c:spPr>
          <c:marker>
            <c:symbol val="none"/>
          </c:marker>
          <c:cat>
            <c:strRef>
              <c:f>Задача2!$A$5:$A$9</c:f>
              <c:strCache>
                <c:ptCount val="4"/>
                <c:pt idx="0">
                  <c:v>01.сен</c:v>
                </c:pt>
                <c:pt idx="1">
                  <c:v>02.сен</c:v>
                </c:pt>
                <c:pt idx="2">
                  <c:v>03.сен</c:v>
                </c:pt>
                <c:pt idx="3">
                  <c:v>04.сен</c:v>
                </c:pt>
              </c:strCache>
            </c:strRef>
          </c:cat>
          <c:val>
            <c:numRef>
              <c:f>Задача2!$B$5:$B$9</c:f>
              <c:numCache>
                <c:formatCode>General</c:formatCode>
                <c:ptCount val="4"/>
                <c:pt idx="0">
                  <c:v>1974</c:v>
                </c:pt>
                <c:pt idx="1">
                  <c:v>1980</c:v>
                </c:pt>
                <c:pt idx="2">
                  <c:v>1306</c:v>
                </c:pt>
                <c:pt idx="3">
                  <c:v>1329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B968-488B-8C5A-6889CC2150C4}"/>
            </c:ext>
          </c:extLst>
        </c:ser>
        <c:ser>
          <c:idx val="1"/>
          <c:order val="1"/>
          <c:tx>
            <c:strRef>
              <c:f>Задача2!$C$3:$C$4</c:f>
              <c:strCache>
                <c:ptCount val="1"/>
                <c:pt idx="0">
                  <c:v>2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cat>
            <c:strRef>
              <c:f>Задача2!$A$5:$A$9</c:f>
              <c:strCache>
                <c:ptCount val="4"/>
                <c:pt idx="0">
                  <c:v>01.сен</c:v>
                </c:pt>
                <c:pt idx="1">
                  <c:v>02.сен</c:v>
                </c:pt>
                <c:pt idx="2">
                  <c:v>03.сен</c:v>
                </c:pt>
                <c:pt idx="3">
                  <c:v>04.сен</c:v>
                </c:pt>
              </c:strCache>
            </c:strRef>
          </c:cat>
          <c:val>
            <c:numRef>
              <c:f>Задача2!$C$5:$C$9</c:f>
              <c:numCache>
                <c:formatCode>General</c:formatCode>
                <c:ptCount val="4"/>
                <c:pt idx="0">
                  <c:v>4467</c:v>
                </c:pt>
                <c:pt idx="1">
                  <c:v>4485</c:v>
                </c:pt>
                <c:pt idx="2">
                  <c:v>4272</c:v>
                </c:pt>
                <c:pt idx="3">
                  <c:v>4248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B968-488B-8C5A-6889CC2150C4}"/>
            </c:ext>
          </c:extLst>
        </c:ser>
        <c:ser>
          <c:idx val="2"/>
          <c:order val="2"/>
          <c:tx>
            <c:strRef>
              <c:f>Задача2!$D$3:$D$4</c:f>
              <c:strCache>
                <c:ptCount val="1"/>
                <c:pt idx="0">
                  <c:v>3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strRef>
              <c:f>Задача2!$A$5:$A$9</c:f>
              <c:strCache>
                <c:ptCount val="4"/>
                <c:pt idx="0">
                  <c:v>01.сен</c:v>
                </c:pt>
                <c:pt idx="1">
                  <c:v>02.сен</c:v>
                </c:pt>
                <c:pt idx="2">
                  <c:v>03.сен</c:v>
                </c:pt>
                <c:pt idx="3">
                  <c:v>04.сен</c:v>
                </c:pt>
              </c:strCache>
            </c:strRef>
          </c:cat>
          <c:val>
            <c:numRef>
              <c:f>Задача2!$D$5:$D$9</c:f>
              <c:numCache>
                <c:formatCode>General</c:formatCode>
                <c:ptCount val="4"/>
                <c:pt idx="0">
                  <c:v>1408</c:v>
                </c:pt>
                <c:pt idx="1">
                  <c:v>1482</c:v>
                </c:pt>
                <c:pt idx="2">
                  <c:v>3211</c:v>
                </c:pt>
                <c:pt idx="3">
                  <c:v>4498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B968-488B-8C5A-6889CC2150C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579145663"/>
        <c:axId val="579130783"/>
      </c:lineChart>
      <c:catAx>
        <c:axId val="579145663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lang="ru-RU"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ru-RU" b="0"/>
                  <a:t>Дата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lang="ru-RU"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ru-RU" sz="1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579130783"/>
        <c:crosses val="autoZero"/>
        <c:auto val="1"/>
        <c:lblAlgn val="ctr"/>
        <c:lblOffset val="100"/>
        <c:noMultiLvlLbl val="0"/>
      </c:catAx>
      <c:valAx>
        <c:axId val="579130783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lang="ru-RU" sz="1000" b="1" i="0" u="none" strike="noStrike" kern="1200" baseline="0">
                    <a:solidFill>
                      <a:srgbClr val="000000">
                        <a:lumMod val="65000"/>
                        <a:lumOff val="35000"/>
                      </a:srgb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ru-RU" sz="1000" b="0" i="0" u="none" strike="noStrike" kern="1200" baseline="0" dirty="0">
                    <a:solidFill>
                      <a:srgbClr val="000000">
                        <a:lumMod val="65000"/>
                        <a:lumOff val="35000"/>
                      </a:srgbClr>
                    </a:solidFill>
                  </a:rPr>
                  <a:t>Количество</a:t>
                </a:r>
                <a:r>
                  <a:rPr lang="ru-RU" sz="1000" b="1" i="0" u="none" strike="noStrike" kern="1200" baseline="0" dirty="0">
                    <a:solidFill>
                      <a:srgbClr val="000000">
                        <a:lumMod val="65000"/>
                        <a:lumOff val="35000"/>
                      </a:srgbClr>
                    </a:solidFill>
                  </a:rPr>
                  <a:t> </a:t>
                </a:r>
                <a:r>
                  <a:rPr lang="ru-RU" sz="1000" b="0" i="0" u="none" strike="noStrike" kern="1200" baseline="0" dirty="0">
                    <a:solidFill>
                      <a:srgbClr val="000000">
                        <a:lumMod val="65000"/>
                        <a:lumOff val="35000"/>
                      </a:srgbClr>
                    </a:solidFill>
                  </a:rPr>
                  <a:t>транзакций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 lang="ru-RU" sz="1000" b="1" i="0" u="none" strike="noStrike" kern="1200" baseline="0">
                  <a:solidFill>
                    <a:srgbClr val="000000">
                      <a:lumMod val="65000"/>
                      <a:lumOff val="35000"/>
                    </a:srgb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ru-RU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579145663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lang="ru-RU" sz="1000" b="0" i="0" u="none" strike="noStrike" kern="120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ru-RU"/>
        </a:p>
      </c:txPr>
    </c:legend>
    <c:plotVisOnly val="1"/>
    <c:dispBlanksAs val="gap"/>
    <c:showDLblsOverMax val="0"/>
    <c:extLst>
      <c:ext uri="{0b15fc19-7d7d-44ad-8c2d-2c3a37ce22c3}">
        <chartProps xmlns="https://web.wps.cn/et/2018/main" chartId="{d9390797-2222-4126-8dd8-4a7d36f8691f}"/>
      </c:ext>
    </c:extLst>
  </c:chart>
  <c:spPr>
    <a:noFill/>
    <a:ln>
      <a:noFill/>
    </a:ln>
    <a:effectLst/>
  </c:spPr>
  <c:txPr>
    <a:bodyPr/>
    <a:lstStyle/>
    <a:p>
      <a:pPr>
        <a:defRPr lang="ru-RU"/>
      </a:pPr>
      <a:endParaRPr lang="ru-RU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  <c14:dropZonesVisible val="1"/>
      </c14:pivotOptions>
    </c:ext>
  </c:extLst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[Transaction_list.xlsx]Задача2!Сводная таблица3</c:name>
    <c:fmtId val="-1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lang="ru-RU" sz="1600" b="0" i="0" u="none" strike="noStrike" kern="1200" spc="0" baseline="0">
                <a:solidFill>
                  <a:srgbClr val="202020"/>
                </a:solidFill>
                <a:latin typeface="+mn-lt"/>
                <a:ea typeface="+mn-ea"/>
                <a:cs typeface="+mn-cs"/>
              </a:defRPr>
            </a:pPr>
            <a:r>
              <a:rPr lang="ru-RU" sz="1600">
                <a:solidFill>
                  <a:srgbClr val="202020"/>
                </a:solidFill>
              </a:rPr>
              <a:t>Количество транзакций в динамике по серверам после перераспределения</a:t>
            </a:r>
          </a:p>
        </c:rich>
      </c:tx>
      <c:overlay val="0"/>
      <c:spPr>
        <a:noFill/>
        <a:ln>
          <a:noFill/>
        </a:ln>
        <a:effectLst/>
      </c:sp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Задача2!$B$29:$B$30</c:f>
              <c:strCache>
                <c:ptCount val="1"/>
                <c:pt idx="0">
                  <c:v>1</c:v>
                </c:pt>
              </c:strCache>
            </c:strRef>
          </c:tx>
          <c:spPr>
            <a:ln w="28575" cap="rnd" cmpd="sng" algn="ctr">
              <a:solidFill>
                <a:srgbClr val="7030A0"/>
              </a:solidFill>
              <a:prstDash val="solid"/>
              <a:round/>
            </a:ln>
            <a:effectLst/>
          </c:spPr>
          <c:marker>
            <c:symbol val="none"/>
          </c:marker>
          <c:cat>
            <c:strRef>
              <c:f>Задача2!$A$31:$A$35</c:f>
              <c:strCache>
                <c:ptCount val="4"/>
                <c:pt idx="0">
                  <c:v>01.сен</c:v>
                </c:pt>
                <c:pt idx="1">
                  <c:v>02.сен</c:v>
                </c:pt>
                <c:pt idx="2">
                  <c:v>03.сен</c:v>
                </c:pt>
                <c:pt idx="3">
                  <c:v>04.сен</c:v>
                </c:pt>
              </c:strCache>
            </c:strRef>
          </c:cat>
          <c:val>
            <c:numRef>
              <c:f>Задача2!$B$31:$B$35</c:f>
              <c:numCache>
                <c:formatCode>General</c:formatCode>
                <c:ptCount val="4"/>
                <c:pt idx="0">
                  <c:v>1974</c:v>
                </c:pt>
                <c:pt idx="1">
                  <c:v>1980</c:v>
                </c:pt>
                <c:pt idx="2">
                  <c:v>2694</c:v>
                </c:pt>
                <c:pt idx="3">
                  <c:v>2655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AF4B-4321-9010-9D0FAB8248C4}"/>
            </c:ext>
          </c:extLst>
        </c:ser>
        <c:ser>
          <c:idx val="1"/>
          <c:order val="1"/>
          <c:tx>
            <c:strRef>
              <c:f>Задача2!$C$29:$C$30</c:f>
              <c:strCache>
                <c:ptCount val="1"/>
                <c:pt idx="0">
                  <c:v>2</c:v>
                </c:pt>
              </c:strCache>
            </c:strRef>
          </c:tx>
          <c:spPr>
            <a:ln w="28575" cap="rnd" cmpd="sng" algn="ctr">
              <a:solidFill>
                <a:schemeClr val="accent2"/>
              </a:solidFill>
              <a:prstDash val="solid"/>
              <a:round/>
            </a:ln>
            <a:effectLst/>
          </c:spPr>
          <c:marker>
            <c:symbol val="none"/>
          </c:marker>
          <c:cat>
            <c:strRef>
              <c:f>Задача2!$A$31:$A$35</c:f>
              <c:strCache>
                <c:ptCount val="4"/>
                <c:pt idx="0">
                  <c:v>01.сен</c:v>
                </c:pt>
                <c:pt idx="1">
                  <c:v>02.сен</c:v>
                </c:pt>
                <c:pt idx="2">
                  <c:v>03.сен</c:v>
                </c:pt>
                <c:pt idx="3">
                  <c:v>04.сен</c:v>
                </c:pt>
              </c:strCache>
            </c:strRef>
          </c:cat>
          <c:val>
            <c:numRef>
              <c:f>Задача2!$C$31:$C$35</c:f>
              <c:numCache>
                <c:formatCode>General</c:formatCode>
                <c:ptCount val="4"/>
                <c:pt idx="0">
                  <c:v>4467</c:v>
                </c:pt>
                <c:pt idx="1">
                  <c:v>4485</c:v>
                </c:pt>
                <c:pt idx="2">
                  <c:v>4272</c:v>
                </c:pt>
                <c:pt idx="3">
                  <c:v>4248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AF4B-4321-9010-9D0FAB8248C4}"/>
            </c:ext>
          </c:extLst>
        </c:ser>
        <c:ser>
          <c:idx val="2"/>
          <c:order val="2"/>
          <c:tx>
            <c:strRef>
              <c:f>Задача2!$D$29:$D$30</c:f>
              <c:strCache>
                <c:ptCount val="1"/>
                <c:pt idx="0">
                  <c:v>3</c:v>
                </c:pt>
              </c:strCache>
            </c:strRef>
          </c:tx>
          <c:spPr>
            <a:ln w="28575" cap="rnd" cmpd="sng" algn="ctr">
              <a:solidFill>
                <a:schemeClr val="accent1"/>
              </a:solidFill>
              <a:prstDash val="solid"/>
              <a:round/>
            </a:ln>
            <a:effectLst/>
          </c:spPr>
          <c:marker>
            <c:symbol val="none"/>
          </c:marker>
          <c:cat>
            <c:strRef>
              <c:f>Задача2!$A$31:$A$35</c:f>
              <c:strCache>
                <c:ptCount val="4"/>
                <c:pt idx="0">
                  <c:v>01.сен</c:v>
                </c:pt>
                <c:pt idx="1">
                  <c:v>02.сен</c:v>
                </c:pt>
                <c:pt idx="2">
                  <c:v>03.сен</c:v>
                </c:pt>
                <c:pt idx="3">
                  <c:v>04.сен</c:v>
                </c:pt>
              </c:strCache>
            </c:strRef>
          </c:cat>
          <c:val>
            <c:numRef>
              <c:f>Задача2!$D$31:$D$35</c:f>
              <c:numCache>
                <c:formatCode>General</c:formatCode>
                <c:ptCount val="4"/>
                <c:pt idx="0">
                  <c:v>1408</c:v>
                </c:pt>
                <c:pt idx="1">
                  <c:v>1482</c:v>
                </c:pt>
                <c:pt idx="2">
                  <c:v>1823</c:v>
                </c:pt>
                <c:pt idx="3">
                  <c:v>3172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AF4B-4321-9010-9D0FAB8248C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579145663"/>
        <c:axId val="579130783"/>
      </c:lineChart>
      <c:catAx>
        <c:axId val="579145663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lang="ru-RU"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ru-RU"/>
                  <a:t>Дата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prstDash val="solid"/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ru-RU" sz="1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579130783"/>
        <c:crosses val="autoZero"/>
        <c:auto val="1"/>
        <c:lblAlgn val="ctr"/>
        <c:lblOffset val="100"/>
        <c:noMultiLvlLbl val="0"/>
      </c:catAx>
      <c:valAx>
        <c:axId val="579130783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prstDash val="solid"/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lang="ru-RU" sz="1000" b="0" i="0" u="none" strike="noStrike" kern="1200" baseline="0">
                    <a:solidFill>
                      <a:srgbClr val="000000">
                        <a:lumMod val="65000"/>
                        <a:lumOff val="35000"/>
                      </a:srgb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ru-RU" sz="1000" b="0" i="0" u="none" strike="noStrike" kern="1200" baseline="0">
                    <a:solidFill>
                      <a:srgbClr val="000000">
                        <a:lumMod val="65000"/>
                        <a:lumOff val="35000"/>
                      </a:srgbClr>
                    </a:solidFill>
                  </a:rPr>
                  <a:t>Количество транзакций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</c:title>
        <c:numFmt formatCode="General" sourceLinked="1"/>
        <c:majorTickMark val="none"/>
        <c:minorTickMark val="none"/>
        <c:tickLblPos val="nextTo"/>
        <c:spPr>
          <a:noFill/>
          <a:ln w="6350" cap="flat" cmpd="sng" algn="ctr">
            <a:noFill/>
            <a:prstDash val="solid"/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ru-RU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579145663"/>
        <c:crosses val="autoZero"/>
        <c:crossBetween val="between"/>
      </c:valAx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lang="ru-RU" sz="1000" b="0" i="0" u="none" strike="noStrike" kern="1200" baseline="0">
              <a:solidFill>
                <a:srgbClr val="202020"/>
              </a:solidFill>
              <a:latin typeface="+mn-lt"/>
              <a:ea typeface="+mn-ea"/>
              <a:cs typeface="+mn-cs"/>
            </a:defRPr>
          </a:pPr>
          <a:endParaRPr lang="ru-RU"/>
        </a:p>
      </c:txPr>
    </c:legend>
    <c:plotVisOnly val="1"/>
    <c:dispBlanksAs val="gap"/>
    <c:showDLblsOverMax val="0"/>
    <c:extLst>
      <c:ext uri="{0b15fc19-7d7d-44ad-8c2d-2c3a37ce22c3}">
        <chartProps xmlns="https://web.wps.cn/et/2018/main" chartId="{0651488b-be21-4116-abb6-3ed94e670060}"/>
      </c:ext>
    </c:extLst>
  </c:chart>
  <c:txPr>
    <a:bodyPr/>
    <a:lstStyle/>
    <a:p>
      <a:pPr>
        <a:defRPr lang="ru-RU"/>
      </a:pPr>
      <a:endParaRPr lang="ru-RU"/>
    </a:p>
  </c:txPr>
  <c:externalData r:id="rId1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  <c14:dropZonesVisible val="1"/>
      </c14:pivotOptions>
    </c:ext>
  </c:extLst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[Transaction_list.xlsx]Задача3!Сводная таблица1</c:name>
    <c:fmtId val="-1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lang="ru-RU" sz="1600" b="0" i="0" u="none" strike="noStrike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r>
              <a:rPr lang="ru-RU" sz="1600">
                <a:solidFill>
                  <a:schemeClr val="tx1"/>
                </a:solidFill>
              </a:rPr>
              <a:t>Процентное соотношение использования сервиса самообслуживания по торговым точкам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lang="ru-RU" sz="1600" b="0" i="0" u="none" strike="noStrike" kern="1200" spc="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ru-RU"/>
        </a:p>
      </c:txPr>
    </c:title>
    <c:autoTitleDeleted val="0"/>
    <c:plotArea>
      <c:layout/>
      <c:barChart>
        <c:barDir val="col"/>
        <c:grouping val="percentStacked"/>
        <c:varyColors val="0"/>
        <c:ser>
          <c:idx val="0"/>
          <c:order val="0"/>
          <c:tx>
            <c:strRef>
              <c:f>Задача3!$B$3:$B$4</c:f>
              <c:strCache>
                <c:ptCount val="1"/>
                <c:pt idx="0">
                  <c:v>Касса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Pt>
            <c:idx val="3"/>
            <c:invertIfNegative val="0"/>
            <c:bubble3D val="0"/>
            <c:spPr>
              <a:solidFill>
                <a:schemeClr val="accent1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37EE-468B-A3CE-085843B2F884}"/>
              </c:ext>
            </c:extLst>
          </c:dPt>
          <c:dPt>
            <c:idx val="4"/>
            <c:invertIfNegative val="0"/>
            <c:bubble3D val="0"/>
            <c:spPr>
              <a:solidFill>
                <a:schemeClr val="accent1"/>
              </a:solidFill>
              <a:ln w="15875">
                <a:solidFill>
                  <a:srgbClr val="202020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37EE-468B-A3CE-085843B2F884}"/>
              </c:ext>
            </c:extLst>
          </c:dPt>
          <c:cat>
            <c:strRef>
              <c:f>Задача3!$A$5:$A$11</c:f>
              <c:strCache>
                <c:ptCount val="6"/>
                <c:pt idx="0">
                  <c:v>Ленинский пр-т, 162/1</c:v>
                </c:pt>
                <c:pt idx="1">
                  <c:v>пр-т Вернадского, 88к3</c:v>
                </c:pt>
                <c:pt idx="2">
                  <c:v>Ракетный б-р, 14к1</c:v>
                </c:pt>
                <c:pt idx="3">
                  <c:v>Симферопольский б-р, 22</c:v>
                </c:pt>
                <c:pt idx="4">
                  <c:v>ул. Чертановская,  20к2</c:v>
                </c:pt>
                <c:pt idx="5">
                  <c:v>ул. Щорса, 26/3</c:v>
                </c:pt>
              </c:strCache>
            </c:strRef>
          </c:cat>
          <c:val>
            <c:numRef>
              <c:f>Задача3!$B$5:$B$11</c:f>
              <c:numCache>
                <c:formatCode>General</c:formatCode>
                <c:ptCount val="6"/>
                <c:pt idx="0">
                  <c:v>9456</c:v>
                </c:pt>
                <c:pt idx="1">
                  <c:v>4868</c:v>
                </c:pt>
                <c:pt idx="2">
                  <c:v>5604</c:v>
                </c:pt>
                <c:pt idx="3">
                  <c:v>455</c:v>
                </c:pt>
                <c:pt idx="4">
                  <c:v>1255</c:v>
                </c:pt>
                <c:pt idx="5">
                  <c:v>3112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37EE-468B-A3CE-085843B2F884}"/>
            </c:ext>
          </c:extLst>
        </c:ser>
        <c:ser>
          <c:idx val="1"/>
          <c:order val="1"/>
          <c:tx>
            <c:strRef>
              <c:f>Задача3!$C$3:$C$4</c:f>
              <c:strCache>
                <c:ptCount val="1"/>
                <c:pt idx="0">
                  <c:v>Самообслуживание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Pt>
            <c:idx val="3"/>
            <c:invertIfNegative val="0"/>
            <c:bubble3D val="0"/>
            <c:spPr>
              <a:solidFill>
                <a:schemeClr val="accent2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6-37EE-468B-A3CE-085843B2F884}"/>
              </c:ext>
            </c:extLst>
          </c:dPt>
          <c:dPt>
            <c:idx val="4"/>
            <c:invertIfNegative val="0"/>
            <c:bubble3D val="0"/>
            <c:spPr>
              <a:solidFill>
                <a:schemeClr val="accent2"/>
              </a:solidFill>
              <a:ln w="15875">
                <a:solidFill>
                  <a:srgbClr val="202020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8-37EE-468B-A3CE-085843B2F884}"/>
              </c:ext>
            </c:extLst>
          </c:dPt>
          <c:cat>
            <c:strRef>
              <c:f>Задача3!$A$5:$A$11</c:f>
              <c:strCache>
                <c:ptCount val="6"/>
                <c:pt idx="0">
                  <c:v>Ленинский пр-т, 162/1</c:v>
                </c:pt>
                <c:pt idx="1">
                  <c:v>пр-т Вернадского, 88к3</c:v>
                </c:pt>
                <c:pt idx="2">
                  <c:v>Ракетный б-р, 14к1</c:v>
                </c:pt>
                <c:pt idx="3">
                  <c:v>Симферопольский б-р, 22</c:v>
                </c:pt>
                <c:pt idx="4">
                  <c:v>ул. Чертановская,  20к2</c:v>
                </c:pt>
                <c:pt idx="5">
                  <c:v>ул. Щорса, 26/3</c:v>
                </c:pt>
              </c:strCache>
            </c:strRef>
          </c:cat>
          <c:val>
            <c:numRef>
              <c:f>Задача3!$C$5:$C$11</c:f>
              <c:numCache>
                <c:formatCode>General</c:formatCode>
                <c:ptCount val="6"/>
                <c:pt idx="0">
                  <c:v>1387</c:v>
                </c:pt>
                <c:pt idx="1">
                  <c:v>1761</c:v>
                </c:pt>
                <c:pt idx="3">
                  <c:v>1830</c:v>
                </c:pt>
                <c:pt idx="4">
                  <c:v>3740</c:v>
                </c:pt>
                <c:pt idx="5">
                  <c:v>1192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9-37EE-468B-A3CE-085843B2F88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1441351023"/>
        <c:axId val="1441348143"/>
      </c:barChart>
      <c:catAx>
        <c:axId val="1441351023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lang="ru-RU"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ru-RU"/>
                  <a:t>Торговые точки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lang="ru-RU"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ru-RU" sz="1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1441348143"/>
        <c:crosses val="autoZero"/>
        <c:auto val="1"/>
        <c:lblAlgn val="ctr"/>
        <c:lblOffset val="100"/>
        <c:noMultiLvlLbl val="0"/>
      </c:catAx>
      <c:valAx>
        <c:axId val="1441348143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lang="ru-RU"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ru-RU"/>
                  <a:t>Процент самообслуживания</a:t>
                </a:r>
              </a:p>
            </c:rich>
          </c:tx>
          <c:layout>
            <c:manualLayout>
              <c:xMode val="edge"/>
              <c:yMode val="edge"/>
              <c:x val="3.05555555555556E-2"/>
              <c:y val="0.19348926058798899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lang="ru-RU"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</c:title>
        <c:numFmt formatCode="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ru-RU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1441351023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lang="ru-RU" sz="1050" b="0" i="0" u="none" strike="noStrike" kern="120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ru-RU"/>
        </a:p>
      </c:txPr>
    </c:legend>
    <c:plotVisOnly val="1"/>
    <c:dispBlanksAs val="gap"/>
    <c:showDLblsOverMax val="0"/>
    <c:extLst>
      <c:ext uri="{0b15fc19-7d7d-44ad-8c2d-2c3a37ce22c3}">
        <chartProps xmlns="https://web.wps.cn/et/2018/main" chartId="{917ff98c-9c51-433a-a083-16a05a1efc44}"/>
      </c:ext>
    </c:extLst>
  </c:chart>
  <c:spPr>
    <a:noFill/>
    <a:ln>
      <a:noFill/>
    </a:ln>
    <a:effectLst/>
  </c:spPr>
  <c:txPr>
    <a:bodyPr/>
    <a:lstStyle/>
    <a:p>
      <a:pPr>
        <a:defRPr lang="ru-RU"/>
      </a:pPr>
      <a:endParaRPr lang="ru-RU"/>
    </a:p>
  </c:txPr>
  <c:externalData r:id="rId3">
    <c:autoUpdate val="0"/>
  </c:externalData>
  <c:userShapes r:id="rId4"/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  <c14:dropZonesVisible val="1"/>
      </c14:pivotOptions>
    </c:ext>
  </c:extLst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[Transaction_list.xlsx]Задача3!Сводная таблица2</c:name>
    <c:fmtId val="-1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lang="ru-RU" sz="1600" b="0" i="0" u="none" strike="noStrike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r>
              <a:rPr lang="ru-RU" sz="1600">
                <a:solidFill>
                  <a:schemeClr val="tx1"/>
                </a:solidFill>
              </a:rPr>
              <a:t>Доля самообслуживания в динамике 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lang="ru-RU" sz="1600" b="0" i="0" u="none" strike="noStrike" kern="1200" spc="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ru-RU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Задача3!$B$19</c:f>
              <c:strCache>
                <c:ptCount val="1"/>
                <c:pt idx="0">
                  <c:v>Итог</c:v>
                </c:pt>
              </c:strCache>
            </c:strRef>
          </c:tx>
          <c:spPr>
            <a:ln w="3492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strRef>
              <c:f>Задача3!$A$20:$A$24</c:f>
              <c:strCache>
                <c:ptCount val="4"/>
                <c:pt idx="0">
                  <c:v>1-сен</c:v>
                </c:pt>
                <c:pt idx="1">
                  <c:v>2-сен</c:v>
                </c:pt>
                <c:pt idx="2">
                  <c:v>3-сен</c:v>
                </c:pt>
                <c:pt idx="3">
                  <c:v>4-сен</c:v>
                </c:pt>
              </c:strCache>
            </c:strRef>
          </c:cat>
          <c:val>
            <c:numRef>
              <c:f>Задача3!$B$20:$B$24</c:f>
              <c:numCache>
                <c:formatCode>0.00%;\-0.00%;0.00%</c:formatCode>
                <c:ptCount val="4"/>
                <c:pt idx="0">
                  <c:v>0.230857434068034</c:v>
                </c:pt>
                <c:pt idx="1">
                  <c:v>0.22876557191392999</c:v>
                </c:pt>
                <c:pt idx="2">
                  <c:v>0.30071680509728099</c:v>
                </c:pt>
                <c:pt idx="3">
                  <c:v>0.36099255583126499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CF56-46A1-9F05-9E51035C7B0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358939599"/>
        <c:axId val="1354222591"/>
      </c:lineChart>
      <c:catAx>
        <c:axId val="1358939599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lang="ru-RU"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ru-RU"/>
                  <a:t>Дата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lang="ru-RU"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ru-RU" sz="1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1354222591"/>
        <c:crosses val="autoZero"/>
        <c:auto val="1"/>
        <c:lblAlgn val="ctr"/>
        <c:lblOffset val="100"/>
        <c:noMultiLvlLbl val="0"/>
      </c:catAx>
      <c:valAx>
        <c:axId val="1354222591"/>
        <c:scaling>
          <c:orientation val="minMax"/>
          <c:min val="0.15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lang="ru-RU"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ru-RU" b="0"/>
                  <a:t>Процент самообслуживания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lang="ru-RU"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</c:title>
        <c:numFmt formatCode="0.00%;\-0.00%;0.0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ru-RU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1358939599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uri="{0b15fc19-7d7d-44ad-8c2d-2c3a37ce22c3}">
        <chartProps xmlns="https://web.wps.cn/et/2018/main" chartId="{198176b5-fbeb-4239-aed7-5a4e90856679}"/>
      </c:ext>
    </c:extLst>
  </c:chart>
  <c:spPr>
    <a:noFill/>
    <a:ln>
      <a:noFill/>
    </a:ln>
    <a:effectLst/>
  </c:spPr>
  <c:txPr>
    <a:bodyPr/>
    <a:lstStyle/>
    <a:p>
      <a:pPr>
        <a:defRPr lang="ru-RU"/>
      </a:pPr>
      <a:endParaRPr lang="ru-RU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Visible val="1"/>
      </c14:pivotOptions>
    </c:ext>
  </c:extLst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[Transaction_list.xlsx]Задача3!Сводная таблица4</c:name>
    <c:fmtId val="-1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lang="ru-RU" sz="1600" b="0" i="0" u="none" strike="noStrike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r>
              <a:rPr lang="ru-RU" sz="1600">
                <a:solidFill>
                  <a:schemeClr val="tx1"/>
                </a:solidFill>
              </a:rPr>
              <a:t>Средняя продолжительность обслуживания в динамике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lang="ru-RU" sz="1600" b="0" i="0" u="none" strike="noStrike" kern="1200" spc="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ru-RU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Задача3!$B$42</c:f>
              <c:strCache>
                <c:ptCount val="1"/>
                <c:pt idx="0">
                  <c:v>Итог</c:v>
                </c:pt>
              </c:strCache>
            </c:strRef>
          </c:tx>
          <c:spPr>
            <a:ln w="3492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strRef>
              <c:f>Задача3!$A$43:$A$47</c:f>
              <c:strCache>
                <c:ptCount val="4"/>
                <c:pt idx="0">
                  <c:v>01.сен</c:v>
                </c:pt>
                <c:pt idx="1">
                  <c:v>02.сен</c:v>
                </c:pt>
                <c:pt idx="2">
                  <c:v>03.сен</c:v>
                </c:pt>
                <c:pt idx="3">
                  <c:v>04.сен</c:v>
                </c:pt>
              </c:strCache>
            </c:strRef>
          </c:cat>
          <c:val>
            <c:numRef>
              <c:f>Задача3!$B$43:$B$47</c:f>
              <c:numCache>
                <c:formatCode>0.0</c:formatCode>
                <c:ptCount val="4"/>
                <c:pt idx="0">
                  <c:v>124.70721337497901</c:v>
                </c:pt>
                <c:pt idx="1">
                  <c:v>80.103562879249594</c:v>
                </c:pt>
                <c:pt idx="2">
                  <c:v>85.846029801290697</c:v>
                </c:pt>
                <c:pt idx="3">
                  <c:v>90.399762174202394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588B-4CAE-A303-F2A05CEE591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982045359"/>
        <c:axId val="1982043919"/>
      </c:lineChart>
      <c:catAx>
        <c:axId val="1982045359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lang="ru-RU"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ru-RU"/>
                  <a:t>Дата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lang="ru-RU"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ru-RU" sz="1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1982043919"/>
        <c:crosses val="autoZero"/>
        <c:auto val="1"/>
        <c:lblAlgn val="ctr"/>
        <c:lblOffset val="100"/>
        <c:noMultiLvlLbl val="0"/>
      </c:catAx>
      <c:valAx>
        <c:axId val="1982043919"/>
        <c:scaling>
          <c:orientation val="minMax"/>
          <c:min val="60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lang="ru-RU"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ru-RU"/>
                  <a:t>Продолжительность обслуживания</a:t>
                </a:r>
              </a:p>
            </c:rich>
          </c:tx>
          <c:layout>
            <c:manualLayout>
              <c:xMode val="edge"/>
              <c:yMode val="edge"/>
              <c:x val="1.29448617557211E-2"/>
              <c:y val="0.29016851602162702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lang="ru-RU"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</c:title>
        <c:numFmt formatCode="0.0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ru-RU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1982045359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uri="{0b15fc19-7d7d-44ad-8c2d-2c3a37ce22c3}">
        <chartProps xmlns="https://web.wps.cn/et/2018/main" chartId="{c6a0dd65-849d-428f-9393-bbd281cd8bc4}"/>
      </c:ext>
    </c:extLst>
  </c:chart>
  <c:spPr>
    <a:noFill/>
    <a:ln>
      <a:noFill/>
    </a:ln>
    <a:effectLst/>
  </c:spPr>
  <c:txPr>
    <a:bodyPr/>
    <a:lstStyle/>
    <a:p>
      <a:pPr>
        <a:defRPr lang="ru-RU"/>
      </a:pPr>
      <a:endParaRPr lang="ru-RU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Visible val="1"/>
      </c14:pivotOptions>
    </c:ext>
  </c:extLst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[Transaction_list.xlsx]Домашнее задание!Сводная таблица9</c:name>
    <c:fmtId val="-1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lang="ru-RU" sz="1600" b="0" i="0" u="none" strike="noStrike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r>
              <a:rPr lang="ru-RU" sz="1600" b="0" i="0" u="none" strike="noStrike" kern="1200" spc="0" baseline="0">
                <a:solidFill>
                  <a:schemeClr val="tx1"/>
                </a:solidFill>
              </a:rPr>
              <a:t>Количество операций в динамике по торговым точкам за 1-е сентября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lang="ru-RU" sz="1600" b="0" i="0" u="none" strike="noStrike" kern="1200" spc="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ru-RU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'Домашнее задание'!$B$93:$B$94</c:f>
              <c:strCache>
                <c:ptCount val="1"/>
                <c:pt idx="0">
                  <c:v>Ленинский пр-т, 162/1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strRef>
              <c:f>'Домашнее задание'!$A$95:$A$119</c:f>
              <c:strCache>
                <c:ptCount val="24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  <c:pt idx="21">
                  <c:v>21</c:v>
                </c:pt>
                <c:pt idx="22">
                  <c:v>22</c:v>
                </c:pt>
                <c:pt idx="23">
                  <c:v>23</c:v>
                </c:pt>
              </c:strCache>
            </c:strRef>
          </c:cat>
          <c:val>
            <c:numRef>
              <c:f>'Домашнее задание'!$B$95:$B$119</c:f>
              <c:numCache>
                <c:formatCode>General</c:formatCode>
                <c:ptCount val="24"/>
                <c:pt idx="0">
                  <c:v>119</c:v>
                </c:pt>
                <c:pt idx="1">
                  <c:v>97</c:v>
                </c:pt>
                <c:pt idx="2">
                  <c:v>95</c:v>
                </c:pt>
                <c:pt idx="3">
                  <c:v>84</c:v>
                </c:pt>
                <c:pt idx="4">
                  <c:v>110</c:v>
                </c:pt>
                <c:pt idx="5">
                  <c:v>92</c:v>
                </c:pt>
                <c:pt idx="6">
                  <c:v>120</c:v>
                </c:pt>
                <c:pt idx="7">
                  <c:v>114</c:v>
                </c:pt>
                <c:pt idx="8">
                  <c:v>117</c:v>
                </c:pt>
                <c:pt idx="9">
                  <c:v>106</c:v>
                </c:pt>
                <c:pt idx="10">
                  <c:v>115</c:v>
                </c:pt>
                <c:pt idx="11">
                  <c:v>134</c:v>
                </c:pt>
                <c:pt idx="12">
                  <c:v>120</c:v>
                </c:pt>
                <c:pt idx="13">
                  <c:v>147</c:v>
                </c:pt>
                <c:pt idx="14">
                  <c:v>170</c:v>
                </c:pt>
                <c:pt idx="15">
                  <c:v>165</c:v>
                </c:pt>
                <c:pt idx="16">
                  <c:v>113</c:v>
                </c:pt>
                <c:pt idx="17">
                  <c:v>107</c:v>
                </c:pt>
                <c:pt idx="18">
                  <c:v>117</c:v>
                </c:pt>
                <c:pt idx="19">
                  <c:v>110</c:v>
                </c:pt>
                <c:pt idx="20">
                  <c:v>95</c:v>
                </c:pt>
                <c:pt idx="21">
                  <c:v>117</c:v>
                </c:pt>
                <c:pt idx="22">
                  <c:v>109</c:v>
                </c:pt>
                <c:pt idx="23">
                  <c:v>102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108D-44DA-8283-1970A683292E}"/>
            </c:ext>
          </c:extLst>
        </c:ser>
        <c:ser>
          <c:idx val="1"/>
          <c:order val="1"/>
          <c:tx>
            <c:strRef>
              <c:f>'Домашнее задание'!$C$93:$C$94</c:f>
              <c:strCache>
                <c:ptCount val="1"/>
                <c:pt idx="0">
                  <c:v>пр-т Вернадского, 88к3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cat>
            <c:strRef>
              <c:f>'Домашнее задание'!$A$95:$A$119</c:f>
              <c:strCache>
                <c:ptCount val="24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  <c:pt idx="21">
                  <c:v>21</c:v>
                </c:pt>
                <c:pt idx="22">
                  <c:v>22</c:v>
                </c:pt>
                <c:pt idx="23">
                  <c:v>23</c:v>
                </c:pt>
              </c:strCache>
            </c:strRef>
          </c:cat>
          <c:val>
            <c:numRef>
              <c:f>'Домашнее задание'!$C$95:$C$119</c:f>
              <c:numCache>
                <c:formatCode>General</c:formatCode>
                <c:ptCount val="24"/>
                <c:pt idx="0">
                  <c:v>63</c:v>
                </c:pt>
                <c:pt idx="1">
                  <c:v>66</c:v>
                </c:pt>
                <c:pt idx="2">
                  <c:v>57</c:v>
                </c:pt>
                <c:pt idx="3">
                  <c:v>50</c:v>
                </c:pt>
                <c:pt idx="4">
                  <c:v>53</c:v>
                </c:pt>
                <c:pt idx="5">
                  <c:v>57</c:v>
                </c:pt>
                <c:pt idx="6">
                  <c:v>69</c:v>
                </c:pt>
                <c:pt idx="7">
                  <c:v>66</c:v>
                </c:pt>
                <c:pt idx="8">
                  <c:v>71</c:v>
                </c:pt>
                <c:pt idx="9">
                  <c:v>67</c:v>
                </c:pt>
                <c:pt idx="10">
                  <c:v>53</c:v>
                </c:pt>
                <c:pt idx="11">
                  <c:v>90</c:v>
                </c:pt>
                <c:pt idx="12">
                  <c:v>92</c:v>
                </c:pt>
                <c:pt idx="13">
                  <c:v>86</c:v>
                </c:pt>
                <c:pt idx="14">
                  <c:v>78</c:v>
                </c:pt>
                <c:pt idx="15">
                  <c:v>90</c:v>
                </c:pt>
                <c:pt idx="16">
                  <c:v>69</c:v>
                </c:pt>
                <c:pt idx="17">
                  <c:v>66</c:v>
                </c:pt>
                <c:pt idx="18">
                  <c:v>65</c:v>
                </c:pt>
                <c:pt idx="19">
                  <c:v>76</c:v>
                </c:pt>
                <c:pt idx="20">
                  <c:v>77</c:v>
                </c:pt>
                <c:pt idx="21">
                  <c:v>71</c:v>
                </c:pt>
                <c:pt idx="22">
                  <c:v>90</c:v>
                </c:pt>
                <c:pt idx="23">
                  <c:v>70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108D-44DA-8283-1970A683292E}"/>
            </c:ext>
          </c:extLst>
        </c:ser>
        <c:ser>
          <c:idx val="2"/>
          <c:order val="2"/>
          <c:tx>
            <c:strRef>
              <c:f>'Домашнее задание'!$D$93:$D$94</c:f>
              <c:strCache>
                <c:ptCount val="1"/>
                <c:pt idx="0">
                  <c:v>Ракетный б-р, 14к1</c:v>
                </c:pt>
              </c:strCache>
            </c:strRef>
          </c:tx>
          <c:spPr>
            <a:ln w="28575" cap="rnd">
              <a:solidFill>
                <a:schemeClr val="accent3"/>
              </a:solidFill>
              <a:round/>
            </a:ln>
            <a:effectLst/>
          </c:spPr>
          <c:marker>
            <c:symbol val="none"/>
          </c:marker>
          <c:cat>
            <c:strRef>
              <c:f>'Домашнее задание'!$A$95:$A$119</c:f>
              <c:strCache>
                <c:ptCount val="24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  <c:pt idx="21">
                  <c:v>21</c:v>
                </c:pt>
                <c:pt idx="22">
                  <c:v>22</c:v>
                </c:pt>
                <c:pt idx="23">
                  <c:v>23</c:v>
                </c:pt>
              </c:strCache>
            </c:strRef>
          </c:cat>
          <c:val>
            <c:numRef>
              <c:f>'Домашнее задание'!$D$95:$D$119</c:f>
              <c:numCache>
                <c:formatCode>General</c:formatCode>
                <c:ptCount val="24"/>
                <c:pt idx="0">
                  <c:v>49</c:v>
                </c:pt>
                <c:pt idx="1">
                  <c:v>74</c:v>
                </c:pt>
                <c:pt idx="2">
                  <c:v>54</c:v>
                </c:pt>
                <c:pt idx="3">
                  <c:v>49</c:v>
                </c:pt>
                <c:pt idx="4">
                  <c:v>51</c:v>
                </c:pt>
                <c:pt idx="5">
                  <c:v>51</c:v>
                </c:pt>
                <c:pt idx="6">
                  <c:v>53</c:v>
                </c:pt>
                <c:pt idx="7">
                  <c:v>55</c:v>
                </c:pt>
                <c:pt idx="8">
                  <c:v>63</c:v>
                </c:pt>
                <c:pt idx="9">
                  <c:v>57</c:v>
                </c:pt>
                <c:pt idx="10">
                  <c:v>64</c:v>
                </c:pt>
                <c:pt idx="11">
                  <c:v>72</c:v>
                </c:pt>
                <c:pt idx="12">
                  <c:v>60</c:v>
                </c:pt>
                <c:pt idx="13">
                  <c:v>51</c:v>
                </c:pt>
                <c:pt idx="14">
                  <c:v>65</c:v>
                </c:pt>
                <c:pt idx="15">
                  <c:v>62</c:v>
                </c:pt>
                <c:pt idx="16">
                  <c:v>53</c:v>
                </c:pt>
                <c:pt idx="17">
                  <c:v>52</c:v>
                </c:pt>
                <c:pt idx="18">
                  <c:v>58</c:v>
                </c:pt>
                <c:pt idx="19">
                  <c:v>58</c:v>
                </c:pt>
                <c:pt idx="20">
                  <c:v>64</c:v>
                </c:pt>
                <c:pt idx="21">
                  <c:v>61</c:v>
                </c:pt>
                <c:pt idx="22">
                  <c:v>74</c:v>
                </c:pt>
                <c:pt idx="23">
                  <c:v>58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108D-44DA-8283-1970A683292E}"/>
            </c:ext>
          </c:extLst>
        </c:ser>
        <c:ser>
          <c:idx val="3"/>
          <c:order val="3"/>
          <c:tx>
            <c:strRef>
              <c:f>'Домашнее задание'!$E$93:$E$94</c:f>
              <c:strCache>
                <c:ptCount val="1"/>
                <c:pt idx="0">
                  <c:v>Симферопольский б-р, 22</c:v>
                </c:pt>
              </c:strCache>
            </c:strRef>
          </c:tx>
          <c:spPr>
            <a:ln w="28575" cap="rnd">
              <a:solidFill>
                <a:schemeClr val="accent4"/>
              </a:solidFill>
              <a:round/>
            </a:ln>
            <a:effectLst/>
          </c:spPr>
          <c:marker>
            <c:symbol val="none"/>
          </c:marker>
          <c:cat>
            <c:strRef>
              <c:f>'Домашнее задание'!$A$95:$A$119</c:f>
              <c:strCache>
                <c:ptCount val="24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  <c:pt idx="21">
                  <c:v>21</c:v>
                </c:pt>
                <c:pt idx="22">
                  <c:v>22</c:v>
                </c:pt>
                <c:pt idx="23">
                  <c:v>23</c:v>
                </c:pt>
              </c:strCache>
            </c:strRef>
          </c:cat>
          <c:val>
            <c:numRef>
              <c:f>'Домашнее задание'!$E$95:$E$119</c:f>
              <c:numCache>
                <c:formatCode>General</c:formatCode>
                <c:ptCount val="24"/>
                <c:pt idx="0">
                  <c:v>27</c:v>
                </c:pt>
                <c:pt idx="1">
                  <c:v>35</c:v>
                </c:pt>
                <c:pt idx="2">
                  <c:v>26</c:v>
                </c:pt>
                <c:pt idx="3">
                  <c:v>28</c:v>
                </c:pt>
                <c:pt idx="4">
                  <c:v>38</c:v>
                </c:pt>
                <c:pt idx="5">
                  <c:v>26</c:v>
                </c:pt>
                <c:pt idx="6">
                  <c:v>37</c:v>
                </c:pt>
                <c:pt idx="7">
                  <c:v>30</c:v>
                </c:pt>
                <c:pt idx="8">
                  <c:v>35</c:v>
                </c:pt>
                <c:pt idx="9">
                  <c:v>35</c:v>
                </c:pt>
                <c:pt idx="10">
                  <c:v>44</c:v>
                </c:pt>
                <c:pt idx="11">
                  <c:v>40</c:v>
                </c:pt>
                <c:pt idx="12">
                  <c:v>33</c:v>
                </c:pt>
                <c:pt idx="13">
                  <c:v>45</c:v>
                </c:pt>
                <c:pt idx="14">
                  <c:v>33</c:v>
                </c:pt>
                <c:pt idx="15">
                  <c:v>49</c:v>
                </c:pt>
                <c:pt idx="16">
                  <c:v>32</c:v>
                </c:pt>
                <c:pt idx="17">
                  <c:v>42</c:v>
                </c:pt>
                <c:pt idx="18">
                  <c:v>38</c:v>
                </c:pt>
                <c:pt idx="19">
                  <c:v>30</c:v>
                </c:pt>
                <c:pt idx="20">
                  <c:v>34</c:v>
                </c:pt>
                <c:pt idx="21">
                  <c:v>35</c:v>
                </c:pt>
                <c:pt idx="22">
                  <c:v>45</c:v>
                </c:pt>
                <c:pt idx="23">
                  <c:v>38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108D-44DA-8283-1970A683292E}"/>
            </c:ext>
          </c:extLst>
        </c:ser>
        <c:ser>
          <c:idx val="4"/>
          <c:order val="4"/>
          <c:tx>
            <c:strRef>
              <c:f>'Домашнее задание'!$F$93:$F$94</c:f>
              <c:strCache>
                <c:ptCount val="1"/>
                <c:pt idx="0">
                  <c:v>ул. Щорса, 26/3</c:v>
                </c:pt>
              </c:strCache>
            </c:strRef>
          </c:tx>
          <c:spPr>
            <a:ln w="28575" cap="rnd">
              <a:solidFill>
                <a:schemeClr val="accent5"/>
              </a:solidFill>
              <a:round/>
            </a:ln>
            <a:effectLst/>
          </c:spPr>
          <c:marker>
            <c:symbol val="none"/>
          </c:marker>
          <c:cat>
            <c:strRef>
              <c:f>'Домашнее задание'!$A$95:$A$119</c:f>
              <c:strCache>
                <c:ptCount val="24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  <c:pt idx="21">
                  <c:v>21</c:v>
                </c:pt>
                <c:pt idx="22">
                  <c:v>22</c:v>
                </c:pt>
                <c:pt idx="23">
                  <c:v>23</c:v>
                </c:pt>
              </c:strCache>
            </c:strRef>
          </c:cat>
          <c:val>
            <c:numRef>
              <c:f>'Домашнее задание'!$F$95:$F$119</c:f>
              <c:numCache>
                <c:formatCode>General</c:formatCode>
                <c:ptCount val="24"/>
                <c:pt idx="0">
                  <c:v>42</c:v>
                </c:pt>
                <c:pt idx="1">
                  <c:v>40</c:v>
                </c:pt>
                <c:pt idx="2">
                  <c:v>54</c:v>
                </c:pt>
                <c:pt idx="3">
                  <c:v>32</c:v>
                </c:pt>
                <c:pt idx="4">
                  <c:v>37</c:v>
                </c:pt>
                <c:pt idx="5">
                  <c:v>48</c:v>
                </c:pt>
                <c:pt idx="6">
                  <c:v>53</c:v>
                </c:pt>
                <c:pt idx="7">
                  <c:v>49</c:v>
                </c:pt>
                <c:pt idx="8">
                  <c:v>45</c:v>
                </c:pt>
                <c:pt idx="9">
                  <c:v>48</c:v>
                </c:pt>
                <c:pt idx="10">
                  <c:v>35</c:v>
                </c:pt>
                <c:pt idx="11">
                  <c:v>46</c:v>
                </c:pt>
                <c:pt idx="12">
                  <c:v>50</c:v>
                </c:pt>
                <c:pt idx="13">
                  <c:v>47</c:v>
                </c:pt>
                <c:pt idx="14">
                  <c:v>47</c:v>
                </c:pt>
                <c:pt idx="15">
                  <c:v>47</c:v>
                </c:pt>
                <c:pt idx="16">
                  <c:v>60</c:v>
                </c:pt>
                <c:pt idx="17">
                  <c:v>56</c:v>
                </c:pt>
                <c:pt idx="18">
                  <c:v>44</c:v>
                </c:pt>
                <c:pt idx="19">
                  <c:v>51</c:v>
                </c:pt>
                <c:pt idx="20">
                  <c:v>46</c:v>
                </c:pt>
                <c:pt idx="21">
                  <c:v>57</c:v>
                </c:pt>
                <c:pt idx="22">
                  <c:v>41</c:v>
                </c:pt>
                <c:pt idx="23">
                  <c:v>44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4-108D-44DA-8283-1970A683292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39992015"/>
        <c:axId val="139989615"/>
      </c:lineChart>
      <c:catAx>
        <c:axId val="139992015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lang="ru-RU"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ru-RU"/>
                  <a:t>Час начала операции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lang="ru-RU"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ru-RU" sz="1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139989615"/>
        <c:crosses val="autoZero"/>
        <c:auto val="1"/>
        <c:lblAlgn val="ctr"/>
        <c:lblOffset val="100"/>
        <c:noMultiLvlLbl val="0"/>
      </c:catAx>
      <c:valAx>
        <c:axId val="139989615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lang="ru-RU"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ru-RU"/>
                  <a:t>Количество операций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lang="ru-RU"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ru-RU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139992015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lang="ru-RU" sz="1000" b="0" i="0" u="none" strike="noStrike" kern="120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ru-RU"/>
        </a:p>
      </c:txPr>
    </c:legend>
    <c:plotVisOnly val="1"/>
    <c:dispBlanksAs val="gap"/>
    <c:showDLblsOverMax val="0"/>
    <c:extLst>
      <c:ext uri="{0b15fc19-7d7d-44ad-8c2d-2c3a37ce22c3}">
        <chartProps xmlns="https://web.wps.cn/et/2018/main" chartId="{d771be10-20aa-4787-ba41-f92b9f2723bb}"/>
      </c:ext>
    </c:extLst>
  </c:chart>
  <c:spPr>
    <a:noFill/>
    <a:ln>
      <a:noFill/>
    </a:ln>
    <a:effectLst/>
  </c:spPr>
  <c:txPr>
    <a:bodyPr/>
    <a:lstStyle/>
    <a:p>
      <a:pPr>
        <a:defRPr lang="ru-RU"/>
      </a:pPr>
      <a:endParaRPr lang="ru-RU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  <c14:dropZonesVisible val="1"/>
      </c14:pivotOptions>
    </c:ext>
  </c:extLst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[Transaction_list.xlsx]Домашнее задание!Сводная таблица6</c:name>
    <c:fmtId val="-1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lang="ru-RU" sz="1600" b="0" i="0" u="none" strike="noStrike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r>
              <a:rPr lang="ru-RU" sz="1600">
                <a:solidFill>
                  <a:schemeClr val="tx1"/>
                </a:solidFill>
              </a:rPr>
              <a:t>Длительность операций</a:t>
            </a:r>
            <a:r>
              <a:rPr lang="ru-RU" sz="1600" baseline="0">
                <a:solidFill>
                  <a:schemeClr val="tx1"/>
                </a:solidFill>
              </a:rPr>
              <a:t> в динамике по торговым точкам за 1-е сентября</a:t>
            </a:r>
            <a:endParaRPr lang="ru-RU" sz="1600">
              <a:solidFill>
                <a:schemeClr val="tx1"/>
              </a:solidFill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lang="ru-RU" sz="1600" b="0" i="0" u="none" strike="noStrike" kern="1200" spc="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ru-RU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'Домашнее задание'!$B$3:$B$4</c:f>
              <c:strCache>
                <c:ptCount val="1"/>
                <c:pt idx="0">
                  <c:v>Ленинский пр-т, 162/1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strRef>
              <c:f>'Домашнее задание'!$A$5:$A$29</c:f>
              <c:strCache>
                <c:ptCount val="24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  <c:pt idx="21">
                  <c:v>21</c:v>
                </c:pt>
                <c:pt idx="22">
                  <c:v>22</c:v>
                </c:pt>
                <c:pt idx="23">
                  <c:v>23</c:v>
                </c:pt>
              </c:strCache>
            </c:strRef>
          </c:cat>
          <c:val>
            <c:numRef>
              <c:f>'Домашнее задание'!$B$5:$B$29</c:f>
              <c:numCache>
                <c:formatCode>0.0</c:formatCode>
                <c:ptCount val="24"/>
                <c:pt idx="0">
                  <c:v>75.395693813505403</c:v>
                </c:pt>
                <c:pt idx="1">
                  <c:v>63.803369537015101</c:v>
                </c:pt>
                <c:pt idx="2">
                  <c:v>64.302538320128093</c:v>
                </c:pt>
                <c:pt idx="3">
                  <c:v>73.825465878637999</c:v>
                </c:pt>
                <c:pt idx="4">
                  <c:v>77.4954812762073</c:v>
                </c:pt>
                <c:pt idx="5">
                  <c:v>70.935052144088104</c:v>
                </c:pt>
                <c:pt idx="6">
                  <c:v>64.322661084006498</c:v>
                </c:pt>
                <c:pt idx="7">
                  <c:v>72.744772363895294</c:v>
                </c:pt>
                <c:pt idx="8">
                  <c:v>75.836212983211695</c:v>
                </c:pt>
                <c:pt idx="9">
                  <c:v>72.093852642124105</c:v>
                </c:pt>
                <c:pt idx="10">
                  <c:v>74.246592381361694</c:v>
                </c:pt>
                <c:pt idx="11">
                  <c:v>166.08146925338701</c:v>
                </c:pt>
                <c:pt idx="12">
                  <c:v>169.63459274265901</c:v>
                </c:pt>
                <c:pt idx="13">
                  <c:v>161.19862416597601</c:v>
                </c:pt>
                <c:pt idx="14">
                  <c:v>156.13551072598301</c:v>
                </c:pt>
                <c:pt idx="15">
                  <c:v>159.069930456409</c:v>
                </c:pt>
                <c:pt idx="16">
                  <c:v>68.654513563466296</c:v>
                </c:pt>
                <c:pt idx="17">
                  <c:v>69.996400116551101</c:v>
                </c:pt>
                <c:pt idx="18">
                  <c:v>78.990293901342</c:v>
                </c:pt>
                <c:pt idx="19">
                  <c:v>82.032843651885003</c:v>
                </c:pt>
                <c:pt idx="20">
                  <c:v>84.799599664677899</c:v>
                </c:pt>
                <c:pt idx="21">
                  <c:v>74.605752171303806</c:v>
                </c:pt>
                <c:pt idx="22">
                  <c:v>65.935049111604599</c:v>
                </c:pt>
                <c:pt idx="23">
                  <c:v>78.353372954434803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02EA-4FCC-B0A7-C55E15EAD716}"/>
            </c:ext>
          </c:extLst>
        </c:ser>
        <c:ser>
          <c:idx val="1"/>
          <c:order val="1"/>
          <c:tx>
            <c:strRef>
              <c:f>'Домашнее задание'!$C$3:$C$4</c:f>
              <c:strCache>
                <c:ptCount val="1"/>
                <c:pt idx="0">
                  <c:v>пр-т Вернадского, 88к3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cat>
            <c:strRef>
              <c:f>'Домашнее задание'!$A$5:$A$29</c:f>
              <c:strCache>
                <c:ptCount val="24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  <c:pt idx="21">
                  <c:v>21</c:v>
                </c:pt>
                <c:pt idx="22">
                  <c:v>22</c:v>
                </c:pt>
                <c:pt idx="23">
                  <c:v>23</c:v>
                </c:pt>
              </c:strCache>
            </c:strRef>
          </c:cat>
          <c:val>
            <c:numRef>
              <c:f>'Домашнее задание'!$C$5:$C$29</c:f>
              <c:numCache>
                <c:formatCode>0.0</c:formatCode>
                <c:ptCount val="24"/>
                <c:pt idx="0">
                  <c:v>107.495824962721</c:v>
                </c:pt>
                <c:pt idx="1">
                  <c:v>124.21704964204299</c:v>
                </c:pt>
                <c:pt idx="2">
                  <c:v>115.94877371956601</c:v>
                </c:pt>
                <c:pt idx="3">
                  <c:v>117.154839500785</c:v>
                </c:pt>
                <c:pt idx="4">
                  <c:v>107.61570963253</c:v>
                </c:pt>
                <c:pt idx="5">
                  <c:v>107.165175503561</c:v>
                </c:pt>
                <c:pt idx="6">
                  <c:v>113.95561235612701</c:v>
                </c:pt>
                <c:pt idx="7">
                  <c:v>112.12564257333401</c:v>
                </c:pt>
                <c:pt idx="8">
                  <c:v>120.523078385806</c:v>
                </c:pt>
                <c:pt idx="9">
                  <c:v>109.859636466978</c:v>
                </c:pt>
                <c:pt idx="10">
                  <c:v>97.629621258128495</c:v>
                </c:pt>
                <c:pt idx="11">
                  <c:v>151.874956742395</c:v>
                </c:pt>
                <c:pt idx="12">
                  <c:v>155.73123885627399</c:v>
                </c:pt>
                <c:pt idx="13">
                  <c:v>164.51194040791299</c:v>
                </c:pt>
                <c:pt idx="14">
                  <c:v>152.39455179096399</c:v>
                </c:pt>
                <c:pt idx="15">
                  <c:v>162.37560112495001</c:v>
                </c:pt>
                <c:pt idx="16">
                  <c:v>108.803810821036</c:v>
                </c:pt>
                <c:pt idx="17">
                  <c:v>99.361860015514196</c:v>
                </c:pt>
                <c:pt idx="18">
                  <c:v>98.405670970320102</c:v>
                </c:pt>
                <c:pt idx="19">
                  <c:v>122.04666592725999</c:v>
                </c:pt>
                <c:pt idx="20">
                  <c:v>105.123385640357</c:v>
                </c:pt>
                <c:pt idx="21">
                  <c:v>104.694666550167</c:v>
                </c:pt>
                <c:pt idx="22">
                  <c:v>96.848222420085193</c:v>
                </c:pt>
                <c:pt idx="23">
                  <c:v>112.393951286961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02EA-4FCC-B0A7-C55E15EAD716}"/>
            </c:ext>
          </c:extLst>
        </c:ser>
        <c:ser>
          <c:idx val="2"/>
          <c:order val="2"/>
          <c:tx>
            <c:strRef>
              <c:f>'Домашнее задание'!$D$3:$D$4</c:f>
              <c:strCache>
                <c:ptCount val="1"/>
                <c:pt idx="0">
                  <c:v>Ракетный б-р, 14к1</c:v>
                </c:pt>
              </c:strCache>
            </c:strRef>
          </c:tx>
          <c:spPr>
            <a:ln w="28575" cap="rnd">
              <a:solidFill>
                <a:schemeClr val="accent3"/>
              </a:solidFill>
              <a:round/>
            </a:ln>
            <a:effectLst/>
          </c:spPr>
          <c:marker>
            <c:symbol val="none"/>
          </c:marker>
          <c:cat>
            <c:strRef>
              <c:f>'Домашнее задание'!$A$5:$A$29</c:f>
              <c:strCache>
                <c:ptCount val="24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  <c:pt idx="21">
                  <c:v>21</c:v>
                </c:pt>
                <c:pt idx="22">
                  <c:v>22</c:v>
                </c:pt>
                <c:pt idx="23">
                  <c:v>23</c:v>
                </c:pt>
              </c:strCache>
            </c:strRef>
          </c:cat>
          <c:val>
            <c:numRef>
              <c:f>'Домашнее задание'!$D$5:$D$29</c:f>
              <c:numCache>
                <c:formatCode>0.0</c:formatCode>
                <c:ptCount val="24"/>
                <c:pt idx="0">
                  <c:v>96.191763466851299</c:v>
                </c:pt>
                <c:pt idx="1">
                  <c:v>98.923699772048295</c:v>
                </c:pt>
                <c:pt idx="2">
                  <c:v>88.127189909573602</c:v>
                </c:pt>
                <c:pt idx="3">
                  <c:v>83.718173347926694</c:v>
                </c:pt>
                <c:pt idx="4">
                  <c:v>96.796966756365293</c:v>
                </c:pt>
                <c:pt idx="5">
                  <c:v>92.736195063437606</c:v>
                </c:pt>
                <c:pt idx="6">
                  <c:v>103.729768485305</c:v>
                </c:pt>
                <c:pt idx="7">
                  <c:v>71.293763483620495</c:v>
                </c:pt>
                <c:pt idx="8">
                  <c:v>89.8743510046708</c:v>
                </c:pt>
                <c:pt idx="9">
                  <c:v>76.593845298415701</c:v>
                </c:pt>
                <c:pt idx="10">
                  <c:v>75.575645894787201</c:v>
                </c:pt>
                <c:pt idx="11">
                  <c:v>92.9812125745229</c:v>
                </c:pt>
                <c:pt idx="12">
                  <c:v>80.630079174879896</c:v>
                </c:pt>
                <c:pt idx="13">
                  <c:v>79.552150428678601</c:v>
                </c:pt>
                <c:pt idx="14">
                  <c:v>103.825016082264</c:v>
                </c:pt>
                <c:pt idx="15">
                  <c:v>95.764655700223798</c:v>
                </c:pt>
                <c:pt idx="16">
                  <c:v>85.787115662956197</c:v>
                </c:pt>
                <c:pt idx="17">
                  <c:v>100.353935129421</c:v>
                </c:pt>
                <c:pt idx="18">
                  <c:v>108.983085433358</c:v>
                </c:pt>
                <c:pt idx="19">
                  <c:v>131.79672170382199</c:v>
                </c:pt>
                <c:pt idx="20">
                  <c:v>110.875697348092</c:v>
                </c:pt>
                <c:pt idx="21">
                  <c:v>141.06709118818</c:v>
                </c:pt>
                <c:pt idx="22">
                  <c:v>131.30673950198201</c:v>
                </c:pt>
                <c:pt idx="23">
                  <c:v>138.680791452623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02EA-4FCC-B0A7-C55E15EAD716}"/>
            </c:ext>
          </c:extLst>
        </c:ser>
        <c:ser>
          <c:idx val="3"/>
          <c:order val="3"/>
          <c:tx>
            <c:strRef>
              <c:f>'Домашнее задание'!$E$3:$E$4</c:f>
              <c:strCache>
                <c:ptCount val="1"/>
                <c:pt idx="0">
                  <c:v>Симферопольский б-р, 22</c:v>
                </c:pt>
              </c:strCache>
            </c:strRef>
          </c:tx>
          <c:spPr>
            <a:ln w="28575" cap="rnd">
              <a:solidFill>
                <a:schemeClr val="accent4"/>
              </a:solidFill>
              <a:round/>
            </a:ln>
            <a:effectLst/>
          </c:spPr>
          <c:marker>
            <c:symbol val="none"/>
          </c:marker>
          <c:cat>
            <c:strRef>
              <c:f>'Домашнее задание'!$A$5:$A$29</c:f>
              <c:strCache>
                <c:ptCount val="24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  <c:pt idx="21">
                  <c:v>21</c:v>
                </c:pt>
                <c:pt idx="22">
                  <c:v>22</c:v>
                </c:pt>
                <c:pt idx="23">
                  <c:v>23</c:v>
                </c:pt>
              </c:strCache>
            </c:strRef>
          </c:cat>
          <c:val>
            <c:numRef>
              <c:f>'Домашнее задание'!$E$5:$E$29</c:f>
              <c:numCache>
                <c:formatCode>0.0</c:formatCode>
                <c:ptCount val="24"/>
                <c:pt idx="0">
                  <c:v>220.62057200819299</c:v>
                </c:pt>
                <c:pt idx="1">
                  <c:v>204.96410390761301</c:v>
                </c:pt>
                <c:pt idx="2">
                  <c:v>221.36091590106801</c:v>
                </c:pt>
                <c:pt idx="3">
                  <c:v>197.459581961656</c:v>
                </c:pt>
                <c:pt idx="4">
                  <c:v>224.71267680735599</c:v>
                </c:pt>
                <c:pt idx="5">
                  <c:v>195.20977961186</c:v>
                </c:pt>
                <c:pt idx="6">
                  <c:v>219.13856745609499</c:v>
                </c:pt>
                <c:pt idx="7">
                  <c:v>215.82051226403601</c:v>
                </c:pt>
                <c:pt idx="8">
                  <c:v>227.35399767689901</c:v>
                </c:pt>
                <c:pt idx="9">
                  <c:v>212.47934923241201</c:v>
                </c:pt>
                <c:pt idx="10">
                  <c:v>216.63862868603701</c:v>
                </c:pt>
                <c:pt idx="11">
                  <c:v>228.137713971664</c:v>
                </c:pt>
                <c:pt idx="12">
                  <c:v>212.38955941728599</c:v>
                </c:pt>
                <c:pt idx="13">
                  <c:v>243.28885256778401</c:v>
                </c:pt>
                <c:pt idx="14">
                  <c:v>223.620568592609</c:v>
                </c:pt>
                <c:pt idx="15">
                  <c:v>226.068433739093</c:v>
                </c:pt>
                <c:pt idx="16">
                  <c:v>227.82689876330599</c:v>
                </c:pt>
                <c:pt idx="17">
                  <c:v>224.228867228209</c:v>
                </c:pt>
                <c:pt idx="18">
                  <c:v>206.21106439809299</c:v>
                </c:pt>
                <c:pt idx="19">
                  <c:v>185.70843723602599</c:v>
                </c:pt>
                <c:pt idx="20">
                  <c:v>213.544838743367</c:v>
                </c:pt>
                <c:pt idx="21">
                  <c:v>240.09581529335799</c:v>
                </c:pt>
                <c:pt idx="22">
                  <c:v>223.106706105173</c:v>
                </c:pt>
                <c:pt idx="23">
                  <c:v>236.15579103352499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02EA-4FCC-B0A7-C55E15EAD716}"/>
            </c:ext>
          </c:extLst>
        </c:ser>
        <c:ser>
          <c:idx val="4"/>
          <c:order val="4"/>
          <c:tx>
            <c:strRef>
              <c:f>'Домашнее задание'!$F$3:$F$4</c:f>
              <c:strCache>
                <c:ptCount val="1"/>
                <c:pt idx="0">
                  <c:v>ул. Щорса, 26/3</c:v>
                </c:pt>
              </c:strCache>
            </c:strRef>
          </c:tx>
          <c:spPr>
            <a:ln w="28575" cap="rnd">
              <a:solidFill>
                <a:schemeClr val="accent5"/>
              </a:solidFill>
              <a:round/>
            </a:ln>
            <a:effectLst/>
          </c:spPr>
          <c:marker>
            <c:symbol val="none"/>
          </c:marker>
          <c:cat>
            <c:strRef>
              <c:f>'Домашнее задание'!$A$5:$A$29</c:f>
              <c:strCache>
                <c:ptCount val="24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  <c:pt idx="21">
                  <c:v>21</c:v>
                </c:pt>
                <c:pt idx="22">
                  <c:v>22</c:v>
                </c:pt>
                <c:pt idx="23">
                  <c:v>23</c:v>
                </c:pt>
              </c:strCache>
            </c:strRef>
          </c:cat>
          <c:val>
            <c:numRef>
              <c:f>'Домашнее задание'!$F$5:$F$29</c:f>
              <c:numCache>
                <c:formatCode>0.0</c:formatCode>
                <c:ptCount val="24"/>
                <c:pt idx="0">
                  <c:v>144.21576653174799</c:v>
                </c:pt>
                <c:pt idx="1">
                  <c:v>126.90396837831899</c:v>
                </c:pt>
                <c:pt idx="2">
                  <c:v>128.80592484725599</c:v>
                </c:pt>
                <c:pt idx="3">
                  <c:v>257.670988822065</c:v>
                </c:pt>
                <c:pt idx="4">
                  <c:v>183.63044598781701</c:v>
                </c:pt>
                <c:pt idx="5">
                  <c:v>287.76392666331998</c:v>
                </c:pt>
                <c:pt idx="6">
                  <c:v>218.77125191309</c:v>
                </c:pt>
                <c:pt idx="7">
                  <c:v>138.806764750589</c:v>
                </c:pt>
                <c:pt idx="8">
                  <c:v>147.88707348983701</c:v>
                </c:pt>
                <c:pt idx="9">
                  <c:v>148.678050097078</c:v>
                </c:pt>
                <c:pt idx="10">
                  <c:v>143.25941399005899</c:v>
                </c:pt>
                <c:pt idx="11">
                  <c:v>131.28065239516599</c:v>
                </c:pt>
                <c:pt idx="12">
                  <c:v>138.665004424285</c:v>
                </c:pt>
                <c:pt idx="13">
                  <c:v>136.430150891674</c:v>
                </c:pt>
                <c:pt idx="14">
                  <c:v>136.04584586994801</c:v>
                </c:pt>
                <c:pt idx="15">
                  <c:v>134.59106298223</c:v>
                </c:pt>
                <c:pt idx="16">
                  <c:v>155.28822427382701</c:v>
                </c:pt>
                <c:pt idx="17">
                  <c:v>136.43725179426801</c:v>
                </c:pt>
                <c:pt idx="18">
                  <c:v>157.17893237914799</c:v>
                </c:pt>
                <c:pt idx="19">
                  <c:v>127.990316836547</c:v>
                </c:pt>
                <c:pt idx="20">
                  <c:v>168.69327854972499</c:v>
                </c:pt>
                <c:pt idx="21">
                  <c:v>146.66882445177899</c:v>
                </c:pt>
                <c:pt idx="22">
                  <c:v>165.48762260254699</c:v>
                </c:pt>
                <c:pt idx="23">
                  <c:v>155.2827788628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4-02EA-4FCC-B0A7-C55E15EAD71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273621759"/>
        <c:axId val="273615519"/>
      </c:lineChart>
      <c:catAx>
        <c:axId val="273621759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lang="ru-RU"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ru-RU"/>
                  <a:t>Час начала операции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lang="ru-RU"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ru-RU" sz="1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273615519"/>
        <c:crosses val="autoZero"/>
        <c:auto val="1"/>
        <c:lblAlgn val="ctr"/>
        <c:lblOffset val="100"/>
        <c:noMultiLvlLbl val="0"/>
      </c:catAx>
      <c:valAx>
        <c:axId val="273615519"/>
        <c:scaling>
          <c:orientation val="minMax"/>
          <c:min val="0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lang="ru-RU"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ru-RU"/>
                  <a:t>Длительность в секундах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lang="ru-RU"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</c:title>
        <c:numFmt formatCode="General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ru-RU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273621759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lang="ru-RU" sz="1000" b="0" i="0" u="none" strike="noStrike" kern="120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ru-RU"/>
        </a:p>
      </c:txPr>
    </c:legend>
    <c:plotVisOnly val="1"/>
    <c:dispBlanksAs val="gap"/>
    <c:showDLblsOverMax val="0"/>
    <c:extLst>
      <c:ext uri="{0b15fc19-7d7d-44ad-8c2d-2c3a37ce22c3}">
        <chartProps xmlns="https://web.wps.cn/et/2018/main" chartId="{d919b325-1295-4b3b-a747-21d7d7708f70}"/>
      </c:ext>
    </c:extLst>
  </c:chart>
  <c:spPr>
    <a:noFill/>
    <a:ln>
      <a:noFill/>
    </a:ln>
    <a:effectLst/>
  </c:spPr>
  <c:txPr>
    <a:bodyPr/>
    <a:lstStyle/>
    <a:p>
      <a:pPr>
        <a:defRPr lang="ru-RU"/>
      </a:pPr>
      <a:endParaRPr lang="ru-RU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  <c14:dropZonesVisible val="1"/>
      </c14:pivotOptions>
    </c:ext>
  </c:extLst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[Transaction_list.xlsx]Домашнее задание!Сводная таблица6</c:name>
    <c:fmtId val="-1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lang="ru-RU" sz="1600" b="0" i="0" u="none" strike="noStrike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r>
              <a:rPr lang="ru-RU" sz="1600">
                <a:solidFill>
                  <a:schemeClr val="tx1"/>
                </a:solidFill>
              </a:rPr>
              <a:t>Длительность операций</a:t>
            </a:r>
            <a:r>
              <a:rPr lang="ru-RU" sz="1600" baseline="0">
                <a:solidFill>
                  <a:schemeClr val="tx1"/>
                </a:solidFill>
              </a:rPr>
              <a:t> в динамике по торговым точкам за 1-е сентября</a:t>
            </a:r>
            <a:endParaRPr lang="ru-RU" sz="1600">
              <a:solidFill>
                <a:schemeClr val="tx1"/>
              </a:solidFill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lang="ru-RU" sz="1600" b="0" i="0" u="none" strike="noStrike" kern="1200" spc="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ru-RU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'Домашнее задание'!$B$3:$B$4</c:f>
              <c:strCache>
                <c:ptCount val="1"/>
                <c:pt idx="0">
                  <c:v>Ленинский пр-т, 162/1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strRef>
              <c:f>'Домашнее задание'!$A$5:$A$29</c:f>
              <c:strCache>
                <c:ptCount val="24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  <c:pt idx="21">
                  <c:v>21</c:v>
                </c:pt>
                <c:pt idx="22">
                  <c:v>22</c:v>
                </c:pt>
                <c:pt idx="23">
                  <c:v>23</c:v>
                </c:pt>
              </c:strCache>
            </c:strRef>
          </c:cat>
          <c:val>
            <c:numRef>
              <c:f>'Домашнее задание'!$B$5:$B$29</c:f>
              <c:numCache>
                <c:formatCode>0.0</c:formatCode>
                <c:ptCount val="24"/>
                <c:pt idx="0">
                  <c:v>75.395693813505403</c:v>
                </c:pt>
                <c:pt idx="1">
                  <c:v>63.803369537015101</c:v>
                </c:pt>
                <c:pt idx="2">
                  <c:v>64.302538320128093</c:v>
                </c:pt>
                <c:pt idx="3">
                  <c:v>73.825465878637999</c:v>
                </c:pt>
                <c:pt idx="4">
                  <c:v>77.4954812762073</c:v>
                </c:pt>
                <c:pt idx="5">
                  <c:v>70.935052144088104</c:v>
                </c:pt>
                <c:pt idx="6">
                  <c:v>64.322661084006498</c:v>
                </c:pt>
                <c:pt idx="7">
                  <c:v>72.744772363895294</c:v>
                </c:pt>
                <c:pt idx="8">
                  <c:v>75.836212983211695</c:v>
                </c:pt>
                <c:pt idx="9">
                  <c:v>72.093852642124105</c:v>
                </c:pt>
                <c:pt idx="10">
                  <c:v>74.246592381361694</c:v>
                </c:pt>
                <c:pt idx="11">
                  <c:v>166.08146925338701</c:v>
                </c:pt>
                <c:pt idx="12">
                  <c:v>169.63459274265901</c:v>
                </c:pt>
                <c:pt idx="13">
                  <c:v>161.19862416597601</c:v>
                </c:pt>
                <c:pt idx="14">
                  <c:v>156.13551072598301</c:v>
                </c:pt>
                <c:pt idx="15">
                  <c:v>159.069930456409</c:v>
                </c:pt>
                <c:pt idx="16">
                  <c:v>68.654513563466296</c:v>
                </c:pt>
                <c:pt idx="17">
                  <c:v>69.996400116551101</c:v>
                </c:pt>
                <c:pt idx="18">
                  <c:v>78.990293901342</c:v>
                </c:pt>
                <c:pt idx="19">
                  <c:v>82.032843651885003</c:v>
                </c:pt>
                <c:pt idx="20">
                  <c:v>84.799599664677899</c:v>
                </c:pt>
                <c:pt idx="21">
                  <c:v>74.605752171303806</c:v>
                </c:pt>
                <c:pt idx="22">
                  <c:v>65.935049111604599</c:v>
                </c:pt>
                <c:pt idx="23">
                  <c:v>78.353372954434803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CFEC-4ABB-AE39-725607972CF7}"/>
            </c:ext>
          </c:extLst>
        </c:ser>
        <c:ser>
          <c:idx val="1"/>
          <c:order val="1"/>
          <c:tx>
            <c:strRef>
              <c:f>'Домашнее задание'!$C$3:$C$4</c:f>
              <c:strCache>
                <c:ptCount val="1"/>
                <c:pt idx="0">
                  <c:v>пр-т Вернадского, 88к3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cat>
            <c:strRef>
              <c:f>'Домашнее задание'!$A$5:$A$29</c:f>
              <c:strCache>
                <c:ptCount val="24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  <c:pt idx="21">
                  <c:v>21</c:v>
                </c:pt>
                <c:pt idx="22">
                  <c:v>22</c:v>
                </c:pt>
                <c:pt idx="23">
                  <c:v>23</c:v>
                </c:pt>
              </c:strCache>
            </c:strRef>
          </c:cat>
          <c:val>
            <c:numRef>
              <c:f>'Домашнее задание'!$C$5:$C$29</c:f>
              <c:numCache>
                <c:formatCode>0.0</c:formatCode>
                <c:ptCount val="24"/>
                <c:pt idx="0">
                  <c:v>107.495824962721</c:v>
                </c:pt>
                <c:pt idx="1">
                  <c:v>124.21704964204299</c:v>
                </c:pt>
                <c:pt idx="2">
                  <c:v>115.94877371956601</c:v>
                </c:pt>
                <c:pt idx="3">
                  <c:v>117.154839500785</c:v>
                </c:pt>
                <c:pt idx="4">
                  <c:v>107.61570963253</c:v>
                </c:pt>
                <c:pt idx="5">
                  <c:v>107.165175503561</c:v>
                </c:pt>
                <c:pt idx="6">
                  <c:v>113.95561235612701</c:v>
                </c:pt>
                <c:pt idx="7">
                  <c:v>112.12564257333401</c:v>
                </c:pt>
                <c:pt idx="8">
                  <c:v>120.523078385806</c:v>
                </c:pt>
                <c:pt idx="9">
                  <c:v>109.859636466978</c:v>
                </c:pt>
                <c:pt idx="10">
                  <c:v>97.629621258128495</c:v>
                </c:pt>
                <c:pt idx="11">
                  <c:v>151.874956742395</c:v>
                </c:pt>
                <c:pt idx="12">
                  <c:v>155.73123885627399</c:v>
                </c:pt>
                <c:pt idx="13">
                  <c:v>164.51194040791299</c:v>
                </c:pt>
                <c:pt idx="14">
                  <c:v>152.39455179096399</c:v>
                </c:pt>
                <c:pt idx="15">
                  <c:v>162.37560112495001</c:v>
                </c:pt>
                <c:pt idx="16">
                  <c:v>108.803810821036</c:v>
                </c:pt>
                <c:pt idx="17">
                  <c:v>99.361860015514196</c:v>
                </c:pt>
                <c:pt idx="18">
                  <c:v>98.405670970320102</c:v>
                </c:pt>
                <c:pt idx="19">
                  <c:v>122.04666592725999</c:v>
                </c:pt>
                <c:pt idx="20">
                  <c:v>105.123385640357</c:v>
                </c:pt>
                <c:pt idx="21">
                  <c:v>104.694666550167</c:v>
                </c:pt>
                <c:pt idx="22">
                  <c:v>96.848222420085193</c:v>
                </c:pt>
                <c:pt idx="23">
                  <c:v>112.393951286961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CFEC-4ABB-AE39-725607972CF7}"/>
            </c:ext>
          </c:extLst>
        </c:ser>
        <c:ser>
          <c:idx val="2"/>
          <c:order val="2"/>
          <c:tx>
            <c:strRef>
              <c:f>'Домашнее задание'!$D$3:$D$4</c:f>
              <c:strCache>
                <c:ptCount val="1"/>
                <c:pt idx="0">
                  <c:v>Ракетный б-р, 14к1</c:v>
                </c:pt>
              </c:strCache>
            </c:strRef>
          </c:tx>
          <c:spPr>
            <a:ln w="28575" cap="rnd">
              <a:solidFill>
                <a:schemeClr val="accent3"/>
              </a:solidFill>
              <a:round/>
            </a:ln>
            <a:effectLst/>
          </c:spPr>
          <c:marker>
            <c:symbol val="none"/>
          </c:marker>
          <c:cat>
            <c:strRef>
              <c:f>'Домашнее задание'!$A$5:$A$29</c:f>
              <c:strCache>
                <c:ptCount val="24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  <c:pt idx="21">
                  <c:v>21</c:v>
                </c:pt>
                <c:pt idx="22">
                  <c:v>22</c:v>
                </c:pt>
                <c:pt idx="23">
                  <c:v>23</c:v>
                </c:pt>
              </c:strCache>
            </c:strRef>
          </c:cat>
          <c:val>
            <c:numRef>
              <c:f>'Домашнее задание'!$D$5:$D$29</c:f>
              <c:numCache>
                <c:formatCode>0.0</c:formatCode>
                <c:ptCount val="24"/>
                <c:pt idx="0">
                  <c:v>96.191763466851299</c:v>
                </c:pt>
                <c:pt idx="1">
                  <c:v>98.923699772048295</c:v>
                </c:pt>
                <c:pt idx="2">
                  <c:v>88.127189909573602</c:v>
                </c:pt>
                <c:pt idx="3">
                  <c:v>83.718173347926694</c:v>
                </c:pt>
                <c:pt idx="4">
                  <c:v>96.796966756365293</c:v>
                </c:pt>
                <c:pt idx="5">
                  <c:v>92.736195063437606</c:v>
                </c:pt>
                <c:pt idx="6">
                  <c:v>103.729768485305</c:v>
                </c:pt>
                <c:pt idx="7">
                  <c:v>71.293763483620495</c:v>
                </c:pt>
                <c:pt idx="8">
                  <c:v>89.8743510046708</c:v>
                </c:pt>
                <c:pt idx="9">
                  <c:v>76.593845298415701</c:v>
                </c:pt>
                <c:pt idx="10">
                  <c:v>75.575645894787201</c:v>
                </c:pt>
                <c:pt idx="11">
                  <c:v>92.9812125745229</c:v>
                </c:pt>
                <c:pt idx="12">
                  <c:v>80.630079174879896</c:v>
                </c:pt>
                <c:pt idx="13">
                  <c:v>79.552150428678601</c:v>
                </c:pt>
                <c:pt idx="14">
                  <c:v>103.825016082264</c:v>
                </c:pt>
                <c:pt idx="15">
                  <c:v>95.764655700223798</c:v>
                </c:pt>
                <c:pt idx="16">
                  <c:v>85.787115662956197</c:v>
                </c:pt>
                <c:pt idx="17">
                  <c:v>100.353935129421</c:v>
                </c:pt>
                <c:pt idx="18">
                  <c:v>108.983085433358</c:v>
                </c:pt>
                <c:pt idx="19">
                  <c:v>131.79672170382199</c:v>
                </c:pt>
                <c:pt idx="20">
                  <c:v>110.875697348092</c:v>
                </c:pt>
                <c:pt idx="21">
                  <c:v>141.06709118818</c:v>
                </c:pt>
                <c:pt idx="22">
                  <c:v>131.30673950198201</c:v>
                </c:pt>
                <c:pt idx="23">
                  <c:v>138.680791452623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CFEC-4ABB-AE39-725607972CF7}"/>
            </c:ext>
          </c:extLst>
        </c:ser>
        <c:ser>
          <c:idx val="3"/>
          <c:order val="3"/>
          <c:tx>
            <c:strRef>
              <c:f>'Домашнее задание'!$E$3:$E$4</c:f>
              <c:strCache>
                <c:ptCount val="1"/>
                <c:pt idx="0">
                  <c:v>Симферопольский б-р, 22</c:v>
                </c:pt>
              </c:strCache>
            </c:strRef>
          </c:tx>
          <c:spPr>
            <a:ln w="28575" cap="rnd">
              <a:solidFill>
                <a:schemeClr val="accent4"/>
              </a:solidFill>
              <a:round/>
            </a:ln>
            <a:effectLst/>
          </c:spPr>
          <c:marker>
            <c:symbol val="none"/>
          </c:marker>
          <c:cat>
            <c:strRef>
              <c:f>'Домашнее задание'!$A$5:$A$29</c:f>
              <c:strCache>
                <c:ptCount val="24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  <c:pt idx="21">
                  <c:v>21</c:v>
                </c:pt>
                <c:pt idx="22">
                  <c:v>22</c:v>
                </c:pt>
                <c:pt idx="23">
                  <c:v>23</c:v>
                </c:pt>
              </c:strCache>
            </c:strRef>
          </c:cat>
          <c:val>
            <c:numRef>
              <c:f>'Домашнее задание'!$E$5:$E$29</c:f>
              <c:numCache>
                <c:formatCode>0.0</c:formatCode>
                <c:ptCount val="24"/>
                <c:pt idx="0">
                  <c:v>220.62057200819299</c:v>
                </c:pt>
                <c:pt idx="1">
                  <c:v>204.96410390761301</c:v>
                </c:pt>
                <c:pt idx="2">
                  <c:v>221.36091590106801</c:v>
                </c:pt>
                <c:pt idx="3">
                  <c:v>197.459581961656</c:v>
                </c:pt>
                <c:pt idx="4">
                  <c:v>224.71267680735599</c:v>
                </c:pt>
                <c:pt idx="5">
                  <c:v>195.20977961186</c:v>
                </c:pt>
                <c:pt idx="6">
                  <c:v>219.13856745609499</c:v>
                </c:pt>
                <c:pt idx="7">
                  <c:v>215.82051226403601</c:v>
                </c:pt>
                <c:pt idx="8">
                  <c:v>227.35399767689901</c:v>
                </c:pt>
                <c:pt idx="9">
                  <c:v>212.47934923241201</c:v>
                </c:pt>
                <c:pt idx="10">
                  <c:v>216.63862868603701</c:v>
                </c:pt>
                <c:pt idx="11">
                  <c:v>228.137713971664</c:v>
                </c:pt>
                <c:pt idx="12">
                  <c:v>212.38955941728599</c:v>
                </c:pt>
                <c:pt idx="13">
                  <c:v>243.28885256778401</c:v>
                </c:pt>
                <c:pt idx="14">
                  <c:v>223.620568592609</c:v>
                </c:pt>
                <c:pt idx="15">
                  <c:v>226.068433739093</c:v>
                </c:pt>
                <c:pt idx="16">
                  <c:v>227.82689876330599</c:v>
                </c:pt>
                <c:pt idx="17">
                  <c:v>224.228867228209</c:v>
                </c:pt>
                <c:pt idx="18">
                  <c:v>206.21106439809299</c:v>
                </c:pt>
                <c:pt idx="19">
                  <c:v>185.70843723602599</c:v>
                </c:pt>
                <c:pt idx="20">
                  <c:v>213.544838743367</c:v>
                </c:pt>
                <c:pt idx="21">
                  <c:v>240.09581529335799</c:v>
                </c:pt>
                <c:pt idx="22">
                  <c:v>223.106706105173</c:v>
                </c:pt>
                <c:pt idx="23">
                  <c:v>236.15579103352499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CFEC-4ABB-AE39-725607972CF7}"/>
            </c:ext>
          </c:extLst>
        </c:ser>
        <c:ser>
          <c:idx val="4"/>
          <c:order val="4"/>
          <c:tx>
            <c:strRef>
              <c:f>'Домашнее задание'!$F$3:$F$4</c:f>
              <c:strCache>
                <c:ptCount val="1"/>
                <c:pt idx="0">
                  <c:v>ул. Щорса, 26/3</c:v>
                </c:pt>
              </c:strCache>
            </c:strRef>
          </c:tx>
          <c:spPr>
            <a:ln w="28575" cap="rnd">
              <a:solidFill>
                <a:schemeClr val="accent5"/>
              </a:solidFill>
              <a:round/>
            </a:ln>
            <a:effectLst/>
          </c:spPr>
          <c:marker>
            <c:symbol val="none"/>
          </c:marker>
          <c:cat>
            <c:strRef>
              <c:f>'Домашнее задание'!$A$5:$A$29</c:f>
              <c:strCache>
                <c:ptCount val="24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  <c:pt idx="21">
                  <c:v>21</c:v>
                </c:pt>
                <c:pt idx="22">
                  <c:v>22</c:v>
                </c:pt>
                <c:pt idx="23">
                  <c:v>23</c:v>
                </c:pt>
              </c:strCache>
            </c:strRef>
          </c:cat>
          <c:val>
            <c:numRef>
              <c:f>'Домашнее задание'!$F$5:$F$29</c:f>
              <c:numCache>
                <c:formatCode>0.0</c:formatCode>
                <c:ptCount val="24"/>
                <c:pt idx="0">
                  <c:v>144.21576653174799</c:v>
                </c:pt>
                <c:pt idx="1">
                  <c:v>126.90396837831899</c:v>
                </c:pt>
                <c:pt idx="2">
                  <c:v>128.80592484725599</c:v>
                </c:pt>
                <c:pt idx="3">
                  <c:v>257.670988822065</c:v>
                </c:pt>
                <c:pt idx="4">
                  <c:v>183.63044598781701</c:v>
                </c:pt>
                <c:pt idx="5">
                  <c:v>287.76392666331998</c:v>
                </c:pt>
                <c:pt idx="6">
                  <c:v>218.77125191309</c:v>
                </c:pt>
                <c:pt idx="7">
                  <c:v>138.806764750589</c:v>
                </c:pt>
                <c:pt idx="8">
                  <c:v>147.88707348983701</c:v>
                </c:pt>
                <c:pt idx="9">
                  <c:v>148.678050097078</c:v>
                </c:pt>
                <c:pt idx="10">
                  <c:v>143.25941399005899</c:v>
                </c:pt>
                <c:pt idx="11">
                  <c:v>131.28065239516599</c:v>
                </c:pt>
                <c:pt idx="12">
                  <c:v>138.665004424285</c:v>
                </c:pt>
                <c:pt idx="13">
                  <c:v>136.430150891674</c:v>
                </c:pt>
                <c:pt idx="14">
                  <c:v>136.04584586994801</c:v>
                </c:pt>
                <c:pt idx="15">
                  <c:v>134.59106298223</c:v>
                </c:pt>
                <c:pt idx="16">
                  <c:v>155.28822427382701</c:v>
                </c:pt>
                <c:pt idx="17">
                  <c:v>136.43725179426801</c:v>
                </c:pt>
                <c:pt idx="18">
                  <c:v>157.17893237914799</c:v>
                </c:pt>
                <c:pt idx="19">
                  <c:v>127.990316836547</c:v>
                </c:pt>
                <c:pt idx="20">
                  <c:v>168.69327854972499</c:v>
                </c:pt>
                <c:pt idx="21">
                  <c:v>146.66882445177899</c:v>
                </c:pt>
                <c:pt idx="22">
                  <c:v>165.48762260254699</c:v>
                </c:pt>
                <c:pt idx="23">
                  <c:v>155.2827788628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4-CFEC-4ABB-AE39-725607972CF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273621759"/>
        <c:axId val="273615519"/>
      </c:lineChart>
      <c:catAx>
        <c:axId val="273621759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lang="ru-RU"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ru-RU"/>
                  <a:t>Час начала операции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lang="ru-RU"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ru-RU" sz="1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273615519"/>
        <c:crosses val="autoZero"/>
        <c:auto val="1"/>
        <c:lblAlgn val="ctr"/>
        <c:lblOffset val="100"/>
        <c:noMultiLvlLbl val="0"/>
      </c:catAx>
      <c:valAx>
        <c:axId val="273615519"/>
        <c:scaling>
          <c:orientation val="minMax"/>
          <c:min val="0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lang="ru-RU"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ru-RU"/>
                  <a:t>Длительность в секундах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lang="ru-RU"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</c:title>
        <c:numFmt formatCode="General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ru-RU" sz="1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273621759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lang="ru-RU" sz="1000" b="0" i="0" u="none" strike="noStrike" kern="120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ru-RU"/>
        </a:p>
      </c:txPr>
    </c:legend>
    <c:plotVisOnly val="1"/>
    <c:dispBlanksAs val="gap"/>
    <c:showDLblsOverMax val="0"/>
    <c:extLst>
      <c:ext uri="{0b15fc19-7d7d-44ad-8c2d-2c3a37ce22c3}">
        <chartProps xmlns="https://web.wps.cn/et/2018/main" chartId="{4a62df79-3435-471b-9d96-9c85d459979e}"/>
      </c:ext>
    </c:extLst>
  </c:chart>
  <c:spPr>
    <a:noFill/>
    <a:ln>
      <a:noFill/>
    </a:ln>
    <a:effectLst/>
  </c:spPr>
  <c:txPr>
    <a:bodyPr/>
    <a:lstStyle/>
    <a:p>
      <a:pPr>
        <a:defRPr lang="ru-RU"/>
      </a:pPr>
      <a:endParaRPr lang="ru-RU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  <c14:dropZonesVisible val="1"/>
      </c14:pivotOptions>
    </c:ext>
  </c:extLst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[Transaction_list.xlsx]Домашнее задание!Сводная таблица8</c:name>
    <c:fmtId val="-1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lang="ru-RU" sz="1600" b="0" i="0" u="none" strike="noStrike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r>
              <a:rPr lang="ru-RU" sz="1600" b="0" i="0" u="none" strike="noStrike" kern="1200" spc="0" baseline="0">
                <a:solidFill>
                  <a:schemeClr val="tx1"/>
                </a:solidFill>
              </a:rPr>
              <a:t>Длительность операций в динамике по системе оплаты за 1-е сентября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lang="ru-RU" sz="1600" b="0" i="0" u="none" strike="noStrike" kern="1200" spc="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ru-RU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'Домашнее задание'!$B$63:$B$64</c:f>
              <c:strCache>
                <c:ptCount val="1"/>
                <c:pt idx="0">
                  <c:v>MasterCard</c:v>
                </c:pt>
              </c:strCache>
            </c:strRef>
          </c:tx>
          <c:spPr>
            <a:ln w="3492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strRef>
              <c:f>'Домашнее задание'!$A$65:$A$89</c:f>
              <c:strCache>
                <c:ptCount val="24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  <c:pt idx="21">
                  <c:v>21</c:v>
                </c:pt>
                <c:pt idx="22">
                  <c:v>22</c:v>
                </c:pt>
                <c:pt idx="23">
                  <c:v>23</c:v>
                </c:pt>
              </c:strCache>
            </c:strRef>
          </c:cat>
          <c:val>
            <c:numRef>
              <c:f>'Домашнее задание'!$B$65:$B$89</c:f>
              <c:numCache>
                <c:formatCode>0.0</c:formatCode>
                <c:ptCount val="24"/>
                <c:pt idx="0">
                  <c:v>98.004942738997002</c:v>
                </c:pt>
                <c:pt idx="1">
                  <c:v>104.50348966902</c:v>
                </c:pt>
                <c:pt idx="2">
                  <c:v>106.63820033893001</c:v>
                </c:pt>
                <c:pt idx="3">
                  <c:v>105.075093469748</c:v>
                </c:pt>
                <c:pt idx="4">
                  <c:v>109.98871595779001</c:v>
                </c:pt>
                <c:pt idx="5">
                  <c:v>136.83009870350401</c:v>
                </c:pt>
                <c:pt idx="6">
                  <c:v>121.095153412439</c:v>
                </c:pt>
                <c:pt idx="7">
                  <c:v>111.687326743075</c:v>
                </c:pt>
                <c:pt idx="8">
                  <c:v>122.78747376269401</c:v>
                </c:pt>
                <c:pt idx="9">
                  <c:v>103.874424013934</c:v>
                </c:pt>
                <c:pt idx="10">
                  <c:v>97.818573527311997</c:v>
                </c:pt>
                <c:pt idx="11">
                  <c:v>152.142040471466</c:v>
                </c:pt>
                <c:pt idx="12">
                  <c:v>144.917436489789</c:v>
                </c:pt>
                <c:pt idx="13">
                  <c:v>153.34645864013601</c:v>
                </c:pt>
                <c:pt idx="14">
                  <c:v>161.04652635216499</c:v>
                </c:pt>
                <c:pt idx="15">
                  <c:v>156.159984421421</c:v>
                </c:pt>
                <c:pt idx="16">
                  <c:v>109.991858000509</c:v>
                </c:pt>
                <c:pt idx="17">
                  <c:v>108.343288069591</c:v>
                </c:pt>
                <c:pt idx="18">
                  <c:v>128.29759712966001</c:v>
                </c:pt>
                <c:pt idx="19">
                  <c:v>145.87931551955501</c:v>
                </c:pt>
                <c:pt idx="20">
                  <c:v>153.02663714319399</c:v>
                </c:pt>
                <c:pt idx="21">
                  <c:v>136.877602633847</c:v>
                </c:pt>
                <c:pt idx="22">
                  <c:v>135.73066582426199</c:v>
                </c:pt>
                <c:pt idx="23">
                  <c:v>160.97159491443401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B20B-4DF1-9B56-2E102E5A49CB}"/>
            </c:ext>
          </c:extLst>
        </c:ser>
        <c:ser>
          <c:idx val="1"/>
          <c:order val="1"/>
          <c:tx>
            <c:strRef>
              <c:f>'Домашнее задание'!$C$63:$C$64</c:f>
              <c:strCache>
                <c:ptCount val="1"/>
                <c:pt idx="0">
                  <c:v>Visa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cat>
            <c:strRef>
              <c:f>'Домашнее задание'!$A$65:$A$89</c:f>
              <c:strCache>
                <c:ptCount val="24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  <c:pt idx="21">
                  <c:v>21</c:v>
                </c:pt>
                <c:pt idx="22">
                  <c:v>22</c:v>
                </c:pt>
                <c:pt idx="23">
                  <c:v>23</c:v>
                </c:pt>
              </c:strCache>
            </c:strRef>
          </c:cat>
          <c:val>
            <c:numRef>
              <c:f>'Домашнее задание'!$C$65:$C$89</c:f>
              <c:numCache>
                <c:formatCode>0.0</c:formatCode>
                <c:ptCount val="24"/>
                <c:pt idx="0">
                  <c:v>113.933118458435</c:v>
                </c:pt>
                <c:pt idx="1">
                  <c:v>118.518138539422</c:v>
                </c:pt>
                <c:pt idx="2">
                  <c:v>106.289214705643</c:v>
                </c:pt>
                <c:pt idx="3">
                  <c:v>122.74794969940601</c:v>
                </c:pt>
                <c:pt idx="4">
                  <c:v>120.902617695351</c:v>
                </c:pt>
                <c:pt idx="5">
                  <c:v>133.529765705057</c:v>
                </c:pt>
                <c:pt idx="6">
                  <c:v>125.25377968268</c:v>
                </c:pt>
                <c:pt idx="7">
                  <c:v>105.523730282827</c:v>
                </c:pt>
                <c:pt idx="8">
                  <c:v>111.120341943215</c:v>
                </c:pt>
                <c:pt idx="9">
                  <c:v>110.746001717577</c:v>
                </c:pt>
                <c:pt idx="10">
                  <c:v>107.80457725307799</c:v>
                </c:pt>
                <c:pt idx="11">
                  <c:v>152.08407824366901</c:v>
                </c:pt>
                <c:pt idx="12">
                  <c:v>149.76138902303899</c:v>
                </c:pt>
                <c:pt idx="13">
                  <c:v>166.640788546008</c:v>
                </c:pt>
                <c:pt idx="14">
                  <c:v>148.334326586701</c:v>
                </c:pt>
                <c:pt idx="15">
                  <c:v>159.87263613444</c:v>
                </c:pt>
                <c:pt idx="16">
                  <c:v>109.55382721005699</c:v>
                </c:pt>
                <c:pt idx="17">
                  <c:v>111.967490414496</c:v>
                </c:pt>
                <c:pt idx="18">
                  <c:v>113.067825512704</c:v>
                </c:pt>
                <c:pt idx="19">
                  <c:v>104.154905941271</c:v>
                </c:pt>
                <c:pt idx="20">
                  <c:v>106.89762774152</c:v>
                </c:pt>
                <c:pt idx="21">
                  <c:v>112.898834230571</c:v>
                </c:pt>
                <c:pt idx="22">
                  <c:v>111.73753200564499</c:v>
                </c:pt>
                <c:pt idx="23">
                  <c:v>113.968869888263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B20B-4DF1-9B56-2E102E5A49CB}"/>
            </c:ext>
          </c:extLst>
        </c:ser>
        <c:ser>
          <c:idx val="2"/>
          <c:order val="2"/>
          <c:tx>
            <c:strRef>
              <c:f>'Домашнее задание'!$D$63:$D$64</c:f>
              <c:strCache>
                <c:ptCount val="1"/>
                <c:pt idx="0">
                  <c:v>МИР</c:v>
                </c:pt>
              </c:strCache>
            </c:strRef>
          </c:tx>
          <c:spPr>
            <a:ln w="28575" cap="rnd">
              <a:solidFill>
                <a:schemeClr val="accent3"/>
              </a:solidFill>
              <a:round/>
            </a:ln>
            <a:effectLst/>
          </c:spPr>
          <c:marker>
            <c:symbol val="none"/>
          </c:marker>
          <c:cat>
            <c:strRef>
              <c:f>'Домашнее задание'!$A$65:$A$89</c:f>
              <c:strCache>
                <c:ptCount val="24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  <c:pt idx="21">
                  <c:v>21</c:v>
                </c:pt>
                <c:pt idx="22">
                  <c:v>22</c:v>
                </c:pt>
                <c:pt idx="23">
                  <c:v>23</c:v>
                </c:pt>
              </c:strCache>
            </c:strRef>
          </c:cat>
          <c:val>
            <c:numRef>
              <c:f>'Домашнее задание'!$D$65:$D$89</c:f>
              <c:numCache>
                <c:formatCode>0.0</c:formatCode>
                <c:ptCount val="24"/>
                <c:pt idx="0">
                  <c:v>109.117511517382</c:v>
                </c:pt>
                <c:pt idx="1">
                  <c:v>90.833559767037798</c:v>
                </c:pt>
                <c:pt idx="2">
                  <c:v>102.107648152441</c:v>
                </c:pt>
                <c:pt idx="3">
                  <c:v>150.70751505810799</c:v>
                </c:pt>
                <c:pt idx="4">
                  <c:v>129.44478819306599</c:v>
                </c:pt>
                <c:pt idx="5">
                  <c:v>123.952837309546</c:v>
                </c:pt>
                <c:pt idx="6">
                  <c:v>118.584145267387</c:v>
                </c:pt>
                <c:pt idx="7">
                  <c:v>90.217914395034299</c:v>
                </c:pt>
                <c:pt idx="8">
                  <c:v>103.999055126652</c:v>
                </c:pt>
                <c:pt idx="9">
                  <c:v>108.916581928133</c:v>
                </c:pt>
                <c:pt idx="10">
                  <c:v>117.589533819119</c:v>
                </c:pt>
                <c:pt idx="11">
                  <c:v>148.02394873946</c:v>
                </c:pt>
                <c:pt idx="12">
                  <c:v>162.95781722778801</c:v>
                </c:pt>
                <c:pt idx="13">
                  <c:v>146.714978221129</c:v>
                </c:pt>
                <c:pt idx="14">
                  <c:v>138.173380887966</c:v>
                </c:pt>
                <c:pt idx="15">
                  <c:v>144.860049126066</c:v>
                </c:pt>
                <c:pt idx="16">
                  <c:v>117.528285563964</c:v>
                </c:pt>
                <c:pt idx="17">
                  <c:v>119.686274313368</c:v>
                </c:pt>
                <c:pt idx="18">
                  <c:v>97.626264247362698</c:v>
                </c:pt>
                <c:pt idx="19">
                  <c:v>108.14739344193799</c:v>
                </c:pt>
                <c:pt idx="20">
                  <c:v>107.862994207268</c:v>
                </c:pt>
                <c:pt idx="21">
                  <c:v>117.94039858068599</c:v>
                </c:pt>
                <c:pt idx="22">
                  <c:v>103.5706426859</c:v>
                </c:pt>
                <c:pt idx="23">
                  <c:v>100.77668904726001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B20B-4DF1-9B56-2E102E5A49C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91386735"/>
        <c:axId val="91389135"/>
      </c:lineChart>
      <c:catAx>
        <c:axId val="91386735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lang="ru-RU"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ru-RU"/>
                  <a:t>Час начала операции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lang="ru-RU"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ru-RU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91389135"/>
        <c:crosses val="autoZero"/>
        <c:auto val="1"/>
        <c:lblAlgn val="ctr"/>
        <c:lblOffset val="100"/>
        <c:noMultiLvlLbl val="0"/>
      </c:catAx>
      <c:valAx>
        <c:axId val="91389135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lang="ru-RU"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ru-RU"/>
                  <a:t>Длительность в секундах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lang="ru-RU"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</c:title>
        <c:numFmt formatCode="0.0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ru-RU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91386735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lang="ru-RU" sz="1000" b="0" i="0" u="none" strike="noStrike" kern="120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ru-RU"/>
        </a:p>
      </c:txPr>
    </c:legend>
    <c:plotVisOnly val="1"/>
    <c:dispBlanksAs val="gap"/>
    <c:showDLblsOverMax val="0"/>
    <c:extLst>
      <c:ext uri="{0b15fc19-7d7d-44ad-8c2d-2c3a37ce22c3}">
        <chartProps xmlns="https://web.wps.cn/et/2018/main" chartId="{b7a6f5cc-4723-48fd-bda0-3573b7fb16c3}"/>
      </c:ext>
    </c:extLst>
  </c:chart>
  <c:spPr>
    <a:noFill/>
    <a:ln>
      <a:noFill/>
    </a:ln>
    <a:effectLst/>
  </c:spPr>
  <c:txPr>
    <a:bodyPr/>
    <a:lstStyle/>
    <a:p>
      <a:pPr>
        <a:defRPr lang="ru-RU"/>
      </a:pPr>
      <a:endParaRPr lang="ru-RU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  <c14:dropZonesVisible val="1"/>
      </c14:pivotOptions>
    </c:ext>
  </c:extLst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lang="ru-RU" sz="1600" b="0" i="0" u="none" strike="noStrike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r>
              <a:rPr lang="ru-RU" sz="1600">
                <a:solidFill>
                  <a:schemeClr val="tx1"/>
                </a:solidFill>
              </a:rPr>
              <a:t>Средняя продолжительность и количество транзакций на 1-м сервере с 0 до 9 часов в</a:t>
            </a:r>
            <a:r>
              <a:rPr lang="ru-RU" sz="1600" baseline="0">
                <a:solidFill>
                  <a:schemeClr val="tx1"/>
                </a:solidFill>
              </a:rPr>
              <a:t> динамике</a:t>
            </a:r>
            <a:endParaRPr lang="ru-RU" sz="1600">
              <a:solidFill>
                <a:schemeClr val="tx1"/>
              </a:solidFill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lang="ru-RU" sz="1600" b="0" i="0" u="none" strike="noStrike" kern="1200" spc="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ru-RU"/>
        </a:p>
      </c:txPr>
    </c:title>
    <c:autoTitleDeleted val="0"/>
    <c:plotArea>
      <c:layout/>
      <c:barChart>
        <c:barDir val="col"/>
        <c:grouping val="clustered"/>
        <c:varyColors val="0"/>
        <c:ser>
          <c:idx val="1"/>
          <c:order val="1"/>
          <c:tx>
            <c:strRef>
              <c:f>'Задача 1'!$K$4</c:f>
              <c:strCache>
                <c:ptCount val="1"/>
                <c:pt idx="0">
                  <c:v>Количество транзакций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chemeClr val="accent2"/>
              </a:solidFill>
              <a:ln w="22225">
                <a:solidFill>
                  <a:schemeClr val="tx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EA79-4468-8C55-3601ADC08CF3}"/>
              </c:ext>
            </c:extLst>
          </c:dPt>
          <c:cat>
            <c:numRef>
              <c:f>'Задача 1'!$I$5:$I$7</c:f>
              <c:numCache>
                <c:formatCode>m/d/yyyy</c:formatCode>
                <c:ptCount val="3"/>
                <c:pt idx="0">
                  <c:v>44809</c:v>
                </c:pt>
                <c:pt idx="1">
                  <c:v>44810</c:v>
                </c:pt>
                <c:pt idx="2">
                  <c:v>44811</c:v>
                </c:pt>
              </c:numCache>
            </c:numRef>
          </c:cat>
          <c:val>
            <c:numRef>
              <c:f>'Задача 1'!$K$5:$K$7</c:f>
              <c:numCache>
                <c:formatCode>General</c:formatCode>
                <c:ptCount val="3"/>
                <c:pt idx="0">
                  <c:v>472</c:v>
                </c:pt>
                <c:pt idx="1">
                  <c:v>550</c:v>
                </c:pt>
                <c:pt idx="2">
                  <c:v>503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EA79-4468-8C55-3601ADC08CF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458834655"/>
        <c:axId val="458835135"/>
      </c:barChart>
      <c:lineChart>
        <c:grouping val="standard"/>
        <c:varyColors val="0"/>
        <c:ser>
          <c:idx val="0"/>
          <c:order val="0"/>
          <c:tx>
            <c:strRef>
              <c:f>'Задача 1'!$J$4</c:f>
              <c:strCache>
                <c:ptCount val="1"/>
                <c:pt idx="0">
                  <c:v>Ср. длительность транзакции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dLbls>
            <c:dLbl>
              <c:idx val="0"/>
              <c:layout>
                <c:manualLayout>
                  <c:x val="-3.1073693022779601E-2"/>
                  <c:y val="-2.7126295761206599E-2"/>
                </c:manualLayout>
              </c:layout>
              <c:spPr>
                <a:solidFill>
                  <a:srgbClr val="00B0F0">
                    <a:alpha val="30000"/>
                  </a:srgbClr>
                </a:solidFill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lang="ru-RU" sz="1000" b="1" i="0" u="none" strike="noStrike" kern="1200" baseline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ru-RU"/>
                </a:p>
              </c:tx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EA79-4468-8C55-3601ADC08CF3}"/>
                </c:ext>
              </c:extLst>
            </c:dLbl>
            <c:dLbl>
              <c:idx val="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EA79-4468-8C55-3601ADC08CF3}"/>
                </c:ext>
              </c:extLst>
            </c:dLbl>
            <c:dLbl>
              <c:idx val="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EA79-4468-8C55-3601ADC08CF3}"/>
                </c:ext>
              </c:extLst>
            </c:dLbl>
            <c:spPr>
              <a:solidFill>
                <a:srgbClr val="00B0F0"/>
              </a:solidFill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lang="ru-RU" sz="10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ru-RU"/>
              </a:p>
            </c:txPr>
            <c:dLblPos val="r"/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'Задача 1'!$I$5:$I$7</c:f>
              <c:numCache>
                <c:formatCode>m/d/yyyy</c:formatCode>
                <c:ptCount val="3"/>
                <c:pt idx="0">
                  <c:v>44809</c:v>
                </c:pt>
                <c:pt idx="1">
                  <c:v>44810</c:v>
                </c:pt>
                <c:pt idx="2">
                  <c:v>44811</c:v>
                </c:pt>
              </c:numCache>
            </c:numRef>
          </c:cat>
          <c:val>
            <c:numRef>
              <c:f>'Задача 1'!$J$5:$J$7</c:f>
              <c:numCache>
                <c:formatCode>0</c:formatCode>
                <c:ptCount val="3"/>
                <c:pt idx="0">
                  <c:v>139.92796599291799</c:v>
                </c:pt>
                <c:pt idx="1">
                  <c:v>98.869090809148105</c:v>
                </c:pt>
                <c:pt idx="2">
                  <c:v>97.499005695958601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6-EA79-4468-8C55-3601ADC08CF3}"/>
            </c:ext>
          </c:extLst>
        </c:ser>
        <c:ser>
          <c:idx val="2"/>
          <c:order val="2"/>
          <c:tx>
            <c:strRef>
              <c:f>'Задача 1'!$L$4</c:f>
              <c:strCache>
                <c:ptCount val="1"/>
                <c:pt idx="0">
                  <c:v>Средневзвешенная длительность тр-й</c:v>
                </c:pt>
              </c:strCache>
            </c:strRef>
          </c:tx>
          <c:spPr>
            <a:ln w="28575" cap="rnd">
              <a:solidFill>
                <a:srgbClr val="FF0000"/>
              </a:solidFill>
              <a:round/>
            </a:ln>
            <a:effectLst/>
          </c:spPr>
          <c:marker>
            <c:symbol val="none"/>
          </c:marker>
          <c:dLbls>
            <c:dLbl>
              <c:idx val="0"/>
              <c:layout>
                <c:manualLayout>
                  <c:x val="5.6334427902663103E-2"/>
                  <c:y val="-4.6233717693439799E-2"/>
                </c:manualLayout>
              </c:layout>
              <c:spPr>
                <a:solidFill>
                  <a:srgbClr val="FF0000">
                    <a:alpha val="30000"/>
                  </a:srgbClr>
                </a:solidFill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lang="ru-RU" sz="1000" b="1" i="0" u="none" strike="noStrike" kern="1200" baseline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ru-RU"/>
                </a:p>
              </c:tx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EA79-4468-8C55-3601ADC08CF3}"/>
                </c:ext>
              </c:extLst>
            </c:dLbl>
            <c:dLbl>
              <c:idx val="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8-EA79-4468-8C55-3601ADC08CF3}"/>
                </c:ext>
              </c:extLst>
            </c:dLbl>
            <c:dLbl>
              <c:idx val="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EA79-4468-8C55-3601ADC08CF3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lang="ru-RU" sz="9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ru-RU"/>
              </a:p>
            </c:txPr>
            <c:dLblPos val="r"/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rgbClr val="FF0000"/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'Задача 1'!$I$5:$I$7</c:f>
              <c:numCache>
                <c:formatCode>m/d/yyyy</c:formatCode>
                <c:ptCount val="3"/>
                <c:pt idx="0">
                  <c:v>44809</c:v>
                </c:pt>
                <c:pt idx="1">
                  <c:v>44810</c:v>
                </c:pt>
                <c:pt idx="2">
                  <c:v>44811</c:v>
                </c:pt>
              </c:numCache>
            </c:numRef>
          </c:cat>
          <c:val>
            <c:numRef>
              <c:f>'Задача 1'!$L$5:$L$7</c:f>
              <c:numCache>
                <c:formatCode>0.0</c:formatCode>
                <c:ptCount val="3"/>
                <c:pt idx="0">
                  <c:v>98.214624700948406</c:v>
                </c:pt>
                <c:pt idx="1">
                  <c:v>98.214624700948406</c:v>
                </c:pt>
                <c:pt idx="2">
                  <c:v>98.214624700948406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A-EA79-4468-8C55-3601ADC08CF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458817855"/>
        <c:axId val="458827455"/>
      </c:lineChart>
      <c:dateAx>
        <c:axId val="458834655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lang="ru-RU"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ru-RU"/>
                  <a:t>Дата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lang="ru-RU"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</c:title>
        <c:numFmt formatCode="m/d/yyyy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ru-RU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458835135"/>
        <c:crosses val="autoZero"/>
        <c:auto val="1"/>
        <c:lblOffset val="100"/>
        <c:baseTimeUnit val="days"/>
      </c:dateAx>
      <c:valAx>
        <c:axId val="458835135"/>
        <c:scaling>
          <c:orientation val="minMax"/>
          <c:min val="0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lang="ru-RU"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ru-RU"/>
                  <a:t>Количество транзакций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lang="ru-RU"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ru-RU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458834655"/>
        <c:crosses val="autoZero"/>
        <c:crossBetween val="between"/>
      </c:valAx>
      <c:dateAx>
        <c:axId val="458817855"/>
        <c:scaling>
          <c:orientation val="minMax"/>
        </c:scaling>
        <c:delete val="1"/>
        <c:axPos val="b"/>
        <c:numFmt formatCode="m/d/yyyy" sourceLinked="1"/>
        <c:majorTickMark val="out"/>
        <c:minorTickMark val="none"/>
        <c:tickLblPos val="nextTo"/>
        <c:crossAx val="458827455"/>
        <c:crosses val="autoZero"/>
        <c:auto val="1"/>
        <c:lblOffset val="100"/>
        <c:baseTimeUnit val="days"/>
      </c:dateAx>
      <c:valAx>
        <c:axId val="458827455"/>
        <c:scaling>
          <c:orientation val="minMax"/>
        </c:scaling>
        <c:delete val="0"/>
        <c:axPos val="r"/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lang="ru-RU"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ru-RU"/>
                  <a:t>Длительность транзакций, сек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lang="ru-RU"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</c:title>
        <c:numFmt formatCode="0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ru-RU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458817855"/>
        <c:crosses val="max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lang="ru-RU" sz="1000" b="0" i="0" u="none" strike="noStrike" kern="120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ru-RU"/>
        </a:p>
      </c:txPr>
    </c:legend>
    <c:plotVisOnly val="1"/>
    <c:dispBlanksAs val="gap"/>
    <c:showDLblsOverMax val="0"/>
    <c:extLst>
      <c:ext uri="{0b15fc19-7d7d-44ad-8c2d-2c3a37ce22c3}">
        <chartProps xmlns="https://web.wps.cn/et/2018/main" chartId="{07007b24-9c8e-4d5c-811d-7c79b3fd9786}"/>
      </c:ext>
    </c:extLst>
  </c:chart>
  <c:spPr>
    <a:noFill/>
    <a:ln>
      <a:noFill/>
    </a:ln>
    <a:effectLst/>
  </c:spPr>
  <c:txPr>
    <a:bodyPr/>
    <a:lstStyle/>
    <a:p>
      <a:pPr>
        <a:defRPr lang="ru-RU"/>
      </a:pPr>
      <a:endParaRPr lang="ru-RU"/>
    </a:p>
  </c:txPr>
  <c:externalData r:id="rId3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lang="ru-RU" sz="1600" b="0" i="0" u="none" strike="noStrike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r>
              <a:rPr lang="ru-RU" sz="1600" b="0" i="0" u="none" strike="noStrike" kern="1200" spc="0" baseline="0" dirty="0">
                <a:solidFill>
                  <a:schemeClr val="tx1"/>
                </a:solidFill>
              </a:rPr>
              <a:t>Средняя продолжительность и количество транзакций на 1-м сервере по программе лояльности с самообслуживанием в динамике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lang="ru-RU" sz="1600" b="0" i="0" u="none" strike="noStrike" kern="1200" spc="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ru-RU"/>
        </a:p>
      </c:txPr>
    </c:title>
    <c:autoTitleDeleted val="0"/>
    <c:plotArea>
      <c:layout/>
      <c:barChart>
        <c:barDir val="col"/>
        <c:grouping val="clustered"/>
        <c:varyColors val="0"/>
        <c:ser>
          <c:idx val="1"/>
          <c:order val="1"/>
          <c:tx>
            <c:strRef>
              <c:f>'Задача 1'!$K$25</c:f>
              <c:strCache>
                <c:ptCount val="1"/>
                <c:pt idx="0">
                  <c:v>Количество транзакций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Pt>
            <c:idx val="1"/>
            <c:invertIfNegative val="0"/>
            <c:bubble3D val="0"/>
            <c:spPr>
              <a:solidFill>
                <a:schemeClr val="accent2"/>
              </a:solidFill>
              <a:ln w="22225">
                <a:solidFill>
                  <a:schemeClr val="tx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20AA-4E94-BEC2-185FD2B64F3A}"/>
              </c:ext>
            </c:extLst>
          </c:dPt>
          <c:cat>
            <c:numRef>
              <c:f>'Задача 1'!$I$26:$I$28</c:f>
              <c:numCache>
                <c:formatCode>m/d/yyyy</c:formatCode>
                <c:ptCount val="3"/>
                <c:pt idx="0">
                  <c:v>44809</c:v>
                </c:pt>
                <c:pt idx="1">
                  <c:v>44810</c:v>
                </c:pt>
                <c:pt idx="2">
                  <c:v>44811</c:v>
                </c:pt>
              </c:numCache>
            </c:numRef>
          </c:cat>
          <c:val>
            <c:numRef>
              <c:f>'Задача 1'!$K$26:$K$28</c:f>
              <c:numCache>
                <c:formatCode>General</c:formatCode>
                <c:ptCount val="3"/>
                <c:pt idx="0">
                  <c:v>153</c:v>
                </c:pt>
                <c:pt idx="1">
                  <c:v>207</c:v>
                </c:pt>
                <c:pt idx="2">
                  <c:v>204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20AA-4E94-BEC2-185FD2B64F3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1307305135"/>
        <c:axId val="1307288335"/>
      </c:barChart>
      <c:lineChart>
        <c:grouping val="standard"/>
        <c:varyColors val="0"/>
        <c:ser>
          <c:idx val="0"/>
          <c:order val="0"/>
          <c:tx>
            <c:strRef>
              <c:f>'Задача 1'!$J$25</c:f>
              <c:strCache>
                <c:ptCount val="1"/>
                <c:pt idx="0">
                  <c:v>Ср. длительность транзакции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dLbls>
            <c:dLbl>
              <c:idx val="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20AA-4E94-BEC2-185FD2B64F3A}"/>
                </c:ext>
              </c:extLst>
            </c:dLbl>
            <c:dLbl>
              <c:idx val="1"/>
              <c:layout>
                <c:manualLayout>
                  <c:x val="-2.1404459759585302E-2"/>
                  <c:y val="-2.9865521449540001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20AA-4E94-BEC2-185FD2B64F3A}"/>
                </c:ext>
              </c:extLst>
            </c:dLbl>
            <c:dLbl>
              <c:idx val="2"/>
              <c:layout>
                <c:manualLayout>
                  <c:x val="0"/>
                  <c:y val="-7.5922460024348104E-2"/>
                </c:manualLayout>
              </c:layout>
              <c:spPr>
                <a:solidFill>
                  <a:srgbClr val="FF0000">
                    <a:alpha val="30000"/>
                  </a:srgbClr>
                </a:solidFill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lang="ru-RU" sz="1000" b="1" i="0" u="none" strike="noStrike" kern="1200" baseline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ru-RU"/>
                </a:p>
              </c:tx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20AA-4E94-BEC2-185FD2B64F3A}"/>
                </c:ext>
              </c:extLst>
            </c:dLbl>
            <c:spPr>
              <a:solidFill>
                <a:srgbClr val="00B0F0">
                  <a:alpha val="30000"/>
                </a:srgbClr>
              </a:solidFill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lang="ru-RU" sz="10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ru-RU"/>
              </a:p>
            </c:txPr>
            <c:dLblPos val="r"/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rgbClr val="FF0000"/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'Задача 1'!$I$26:$I$28</c:f>
              <c:numCache>
                <c:formatCode>m/d/yyyy</c:formatCode>
                <c:ptCount val="3"/>
                <c:pt idx="0">
                  <c:v>44809</c:v>
                </c:pt>
                <c:pt idx="1">
                  <c:v>44810</c:v>
                </c:pt>
                <c:pt idx="2">
                  <c:v>44811</c:v>
                </c:pt>
              </c:numCache>
            </c:numRef>
          </c:cat>
          <c:val>
            <c:numRef>
              <c:f>'Задача 1'!$J$26:$J$28</c:f>
              <c:numCache>
                <c:formatCode>0</c:formatCode>
                <c:ptCount val="3"/>
                <c:pt idx="0">
                  <c:v>207.90849670986901</c:v>
                </c:pt>
                <c:pt idx="1">
                  <c:v>230.29468560328101</c:v>
                </c:pt>
                <c:pt idx="2">
                  <c:v>186.33333312943299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6-20AA-4E94-BEC2-185FD2B64F3A}"/>
            </c:ext>
          </c:extLst>
        </c:ser>
        <c:ser>
          <c:idx val="2"/>
          <c:order val="2"/>
          <c:tx>
            <c:strRef>
              <c:f>'Задача 1'!$L$25</c:f>
              <c:strCache>
                <c:ptCount val="1"/>
                <c:pt idx="0">
                  <c:v>Средневзвешенная длительность тр-й</c:v>
                </c:pt>
              </c:strCache>
            </c:strRef>
          </c:tx>
          <c:spPr>
            <a:ln w="28575" cap="rnd">
              <a:solidFill>
                <a:srgbClr val="FF0000"/>
              </a:solidFill>
              <a:round/>
            </a:ln>
            <a:effectLst/>
          </c:spPr>
          <c:marker>
            <c:symbol val="none"/>
          </c:marker>
          <c:val>
            <c:numRef>
              <c:f>'Задача 1'!$L$26:$L$28</c:f>
              <c:numCache>
                <c:formatCode>0</c:formatCode>
                <c:ptCount val="3"/>
                <c:pt idx="0">
                  <c:v>186.33333312943299</c:v>
                </c:pt>
                <c:pt idx="1">
                  <c:v>186.33333312943299</c:v>
                </c:pt>
                <c:pt idx="2">
                  <c:v>186.33333312943299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7-20AA-4E94-BEC2-185FD2B64F3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307292655"/>
        <c:axId val="1307308495"/>
      </c:lineChart>
      <c:dateAx>
        <c:axId val="1307292655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lang="ru-RU"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ru-RU"/>
                  <a:t>Дата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lang="ru-RU"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</c:title>
        <c:numFmt formatCode="m/d/yyyy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ru-RU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1307308495"/>
        <c:crosses val="autoZero"/>
        <c:auto val="1"/>
        <c:lblOffset val="100"/>
        <c:baseTimeUnit val="days"/>
      </c:dateAx>
      <c:valAx>
        <c:axId val="1307308495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lang="ru-RU" sz="1000" b="0" i="0" u="none" strike="noStrike" kern="1200" baseline="0">
                    <a:solidFill>
                      <a:srgbClr val="000000">
                        <a:lumMod val="65000"/>
                        <a:lumOff val="35000"/>
                      </a:srgb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ru-RU" sz="1000" b="0" i="0" u="none" strike="noStrike" kern="1200" baseline="0">
                    <a:solidFill>
                      <a:srgbClr val="000000">
                        <a:lumMod val="65000"/>
                        <a:lumOff val="35000"/>
                      </a:srgbClr>
                    </a:solidFill>
                  </a:rPr>
                  <a:t>Количество транзакций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 lang="ru-RU" sz="1000" b="0" i="0" u="none" strike="noStrike" kern="1200" baseline="0">
                  <a:solidFill>
                    <a:srgbClr val="000000">
                      <a:lumMod val="65000"/>
                      <a:lumOff val="35000"/>
                    </a:srgb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</c:title>
        <c:numFmt formatCode="0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ru-RU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1307292655"/>
        <c:crosses val="autoZero"/>
        <c:crossBetween val="between"/>
      </c:valAx>
      <c:dateAx>
        <c:axId val="1307305135"/>
        <c:scaling>
          <c:orientation val="minMax"/>
        </c:scaling>
        <c:delete val="1"/>
        <c:axPos val="b"/>
        <c:numFmt formatCode="m/d/yyyy" sourceLinked="1"/>
        <c:majorTickMark val="out"/>
        <c:minorTickMark val="none"/>
        <c:tickLblPos val="nextTo"/>
        <c:crossAx val="1307288335"/>
        <c:crosses val="autoZero"/>
        <c:auto val="1"/>
        <c:lblOffset val="100"/>
        <c:baseTimeUnit val="days"/>
      </c:dateAx>
      <c:valAx>
        <c:axId val="1307288335"/>
        <c:scaling>
          <c:orientation val="minMax"/>
        </c:scaling>
        <c:delete val="0"/>
        <c:axPos val="r"/>
        <c:title>
          <c:tx>
            <c:rich>
              <a:bodyPr rot="-5400000" spcFirstLastPara="1" vertOverflow="ellipsis" vert="horz" wrap="square" anchor="ctr" anchorCtr="1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lang="ru-RU" sz="1000" b="0" i="0" u="none" strike="noStrike" kern="1200" baseline="0">
                    <a:solidFill>
                      <a:srgbClr val="000000">
                        <a:lumMod val="65000"/>
                        <a:lumOff val="35000"/>
                      </a:srgb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ru-RU" sz="1000" b="0" i="0" u="none" strike="noStrike" kern="1200" baseline="0">
                    <a:solidFill>
                      <a:srgbClr val="000000">
                        <a:lumMod val="65000"/>
                        <a:lumOff val="35000"/>
                      </a:srgbClr>
                    </a:solidFill>
                  </a:rPr>
                  <a:t>Длительность транзакций, сек</a:t>
                </a:r>
              </a:p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>
                    <a:solidFill>
                      <a:srgbClr val="000000">
                        <a:lumMod val="65000"/>
                        <a:lumOff val="35000"/>
                      </a:srgbClr>
                    </a:solidFill>
                  </a:defRPr>
                </a:pPr>
                <a:endParaRPr lang="ru-RU"/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 lang="ru-RU" sz="1000" b="0" i="0" u="none" strike="noStrike" kern="1200" baseline="0">
                  <a:solidFill>
                    <a:srgbClr val="000000">
                      <a:lumMod val="65000"/>
                      <a:lumOff val="35000"/>
                    </a:srgb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ru-RU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1307305135"/>
        <c:crosses val="max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lang="ru-RU" sz="1000" b="0" i="0" u="none" strike="noStrike" kern="120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ru-RU"/>
        </a:p>
      </c:txPr>
    </c:legend>
    <c:plotVisOnly val="1"/>
    <c:dispBlanksAs val="gap"/>
    <c:showDLblsOverMax val="0"/>
    <c:extLst>
      <c:ext uri="{0b15fc19-7d7d-44ad-8c2d-2c3a37ce22c3}">
        <chartProps xmlns="https://web.wps.cn/et/2018/main" chartId="{13dbcb4b-2aa1-4554-98db-14bcec835df1}"/>
      </c:ext>
    </c:extLst>
  </c:chart>
  <c:spPr>
    <a:noFill/>
    <a:ln>
      <a:noFill/>
    </a:ln>
    <a:effectLst/>
  </c:spPr>
  <c:txPr>
    <a:bodyPr/>
    <a:lstStyle/>
    <a:p>
      <a:pPr>
        <a:defRPr lang="ru-RU"/>
      </a:pPr>
      <a:endParaRPr lang="ru-RU"/>
    </a:p>
  </c:txPr>
  <c:externalData r:id="rId3">
    <c:autoUpdate val="0"/>
  </c:externalData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lang="ru-RU" sz="1600" b="0" i="0" u="none" strike="noStrike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r>
              <a:rPr lang="ru-RU" sz="1600" b="0" i="0" u="none" strike="noStrike" kern="1200" spc="0" baseline="0">
                <a:solidFill>
                  <a:schemeClr val="tx1"/>
                </a:solidFill>
              </a:rPr>
              <a:t>Средняя продолжительность и количество транзакций на 2-м сервере в 12 часов без самообслуживания в динамике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lang="ru-RU" sz="1600" b="0" i="0" u="none" strike="noStrike" kern="1200" spc="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ru-RU"/>
        </a:p>
      </c:txPr>
    </c:title>
    <c:autoTitleDeleted val="0"/>
    <c:plotArea>
      <c:layout/>
      <c:barChart>
        <c:barDir val="col"/>
        <c:grouping val="clustered"/>
        <c:varyColors val="0"/>
        <c:ser>
          <c:idx val="1"/>
          <c:order val="1"/>
          <c:tx>
            <c:strRef>
              <c:f>'Задача 1'!$K$15</c:f>
              <c:strCache>
                <c:ptCount val="1"/>
                <c:pt idx="0">
                  <c:v>Количество транзакций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Pt>
            <c:idx val="2"/>
            <c:invertIfNegative val="0"/>
            <c:bubble3D val="0"/>
            <c:spPr>
              <a:solidFill>
                <a:schemeClr val="accent2"/>
              </a:solidFill>
              <a:ln w="22225">
                <a:solidFill>
                  <a:schemeClr val="tx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FB82-4702-8892-934222E8CFF0}"/>
              </c:ext>
            </c:extLst>
          </c:dPt>
          <c:cat>
            <c:numRef>
              <c:f>'Задача 1'!$I$16:$I$18</c:f>
              <c:numCache>
                <c:formatCode>m/d/yyyy</c:formatCode>
                <c:ptCount val="3"/>
                <c:pt idx="0">
                  <c:v>44809</c:v>
                </c:pt>
                <c:pt idx="1">
                  <c:v>44810</c:v>
                </c:pt>
                <c:pt idx="2">
                  <c:v>44811</c:v>
                </c:pt>
              </c:numCache>
            </c:numRef>
          </c:cat>
          <c:val>
            <c:numRef>
              <c:f>'Задача 1'!$K$16:$K$18</c:f>
              <c:numCache>
                <c:formatCode>General</c:formatCode>
                <c:ptCount val="3"/>
                <c:pt idx="0">
                  <c:v>150</c:v>
                </c:pt>
                <c:pt idx="1">
                  <c:v>168</c:v>
                </c:pt>
                <c:pt idx="2">
                  <c:v>148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FB82-4702-8892-934222E8CFF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1307305615"/>
        <c:axId val="1307290255"/>
      </c:barChart>
      <c:lineChart>
        <c:grouping val="standard"/>
        <c:varyColors val="0"/>
        <c:ser>
          <c:idx val="0"/>
          <c:order val="0"/>
          <c:tx>
            <c:strRef>
              <c:f>'Задача 1'!$J$15</c:f>
              <c:strCache>
                <c:ptCount val="1"/>
                <c:pt idx="0">
                  <c:v>Ср. длительность транзакции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dLbls>
            <c:dLbl>
              <c:idx val="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FB82-4702-8892-934222E8CFF0}"/>
                </c:ext>
              </c:extLst>
            </c:dLbl>
            <c:dLbl>
              <c:idx val="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FB82-4702-8892-934222E8CFF0}"/>
                </c:ext>
              </c:extLst>
            </c:dLbl>
            <c:dLbl>
              <c:idx val="2"/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FB82-4702-8892-934222E8CFF0}"/>
                </c:ext>
              </c:extLst>
            </c:dLbl>
            <c:spPr>
              <a:solidFill>
                <a:srgbClr val="00B0F0">
                  <a:alpha val="30000"/>
                </a:srgbClr>
              </a:solidFill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lang="ru-RU" sz="10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ru-RU"/>
              </a:p>
            </c:txPr>
            <c:dLblPos val="r"/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'Задача 1'!$I$16:$I$18</c:f>
              <c:numCache>
                <c:formatCode>m/d/yyyy</c:formatCode>
                <c:ptCount val="3"/>
                <c:pt idx="0">
                  <c:v>44809</c:v>
                </c:pt>
                <c:pt idx="1">
                  <c:v>44810</c:v>
                </c:pt>
                <c:pt idx="2">
                  <c:v>44811</c:v>
                </c:pt>
              </c:numCache>
            </c:numRef>
          </c:cat>
          <c:val>
            <c:numRef>
              <c:f>'Задача 1'!$J$16:$J$18</c:f>
              <c:numCache>
                <c:formatCode>0</c:formatCode>
                <c:ptCount val="3"/>
                <c:pt idx="0">
                  <c:v>64.986666665878104</c:v>
                </c:pt>
                <c:pt idx="1">
                  <c:v>69.702380493565997</c:v>
                </c:pt>
                <c:pt idx="2">
                  <c:v>114.074324345455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6-FB82-4702-8892-934222E8CFF0}"/>
            </c:ext>
          </c:extLst>
        </c:ser>
        <c:ser>
          <c:idx val="2"/>
          <c:order val="2"/>
          <c:tx>
            <c:strRef>
              <c:f>'Задача 1'!$L$15</c:f>
              <c:strCache>
                <c:ptCount val="1"/>
                <c:pt idx="0">
                  <c:v>Средневзвешенная длительность тр-й</c:v>
                </c:pt>
              </c:strCache>
            </c:strRef>
          </c:tx>
          <c:spPr>
            <a:ln w="28575" cap="rnd">
              <a:solidFill>
                <a:srgbClr val="FF0000"/>
              </a:solidFill>
              <a:round/>
            </a:ln>
            <a:effectLst/>
          </c:spPr>
          <c:marker>
            <c:symbol val="none"/>
          </c:marker>
          <c:dLbls>
            <c:dLbl>
              <c:idx val="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FB82-4702-8892-934222E8CFF0}"/>
                </c:ext>
              </c:extLst>
            </c:dLbl>
            <c:dLbl>
              <c:idx val="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8-FB82-4702-8892-934222E8CFF0}"/>
                </c:ext>
              </c:extLst>
            </c:dLbl>
            <c:dLbl>
              <c:idx val="2"/>
              <c:layout>
                <c:manualLayout>
                  <c:x val="5.8405315109651197E-2"/>
                  <c:y val="-8.4488256729453398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FB82-4702-8892-934222E8CFF0}"/>
                </c:ext>
              </c:extLst>
            </c:dLbl>
            <c:spPr>
              <a:solidFill>
                <a:srgbClr val="FF0000">
                  <a:alpha val="30000"/>
                </a:srgbClr>
              </a:solidFill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lang="ru-RU" sz="10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ru-RU"/>
              </a:p>
            </c:txPr>
            <c:dLblPos val="r"/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rgbClr val="FF0000"/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'Задача 1'!$I$16:$I$18</c:f>
              <c:numCache>
                <c:formatCode>m/d/yyyy</c:formatCode>
                <c:ptCount val="3"/>
                <c:pt idx="0">
                  <c:v>44809</c:v>
                </c:pt>
                <c:pt idx="1">
                  <c:v>44810</c:v>
                </c:pt>
                <c:pt idx="2">
                  <c:v>44811</c:v>
                </c:pt>
              </c:numCache>
            </c:numRef>
          </c:cat>
          <c:val>
            <c:numRef>
              <c:f>'Задача 1'!$L$16:$L$18</c:f>
              <c:numCache>
                <c:formatCode>0.00</c:formatCode>
                <c:ptCount val="3"/>
                <c:pt idx="0">
                  <c:v>67.477987178618903</c:v>
                </c:pt>
                <c:pt idx="1">
                  <c:v>67.477987178618903</c:v>
                </c:pt>
                <c:pt idx="2">
                  <c:v>67.477987178618903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A-FB82-4702-8892-934222E8CFF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307301295"/>
        <c:axId val="1307318095"/>
      </c:lineChart>
      <c:dateAx>
        <c:axId val="1307305615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lang="ru-RU"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ru-RU"/>
                  <a:t>Дата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lang="ru-RU"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</c:title>
        <c:numFmt formatCode="m/d/yyyy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ru-RU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1307290255"/>
        <c:crosses val="autoZero"/>
        <c:auto val="1"/>
        <c:lblOffset val="100"/>
        <c:baseTimeUnit val="days"/>
      </c:dateAx>
      <c:valAx>
        <c:axId val="1307290255"/>
        <c:scaling>
          <c:orientation val="minMax"/>
          <c:min val="0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lang="ru-RU" sz="1000" b="0" i="0" u="none" strike="noStrike" kern="1200" baseline="0">
                    <a:solidFill>
                      <a:srgbClr val="000000">
                        <a:lumMod val="65000"/>
                        <a:lumOff val="35000"/>
                      </a:srgb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ru-RU" sz="1000" b="0" i="0" u="none" strike="noStrike" kern="1200" baseline="0">
                    <a:solidFill>
                      <a:srgbClr val="000000">
                        <a:lumMod val="65000"/>
                        <a:lumOff val="35000"/>
                      </a:srgbClr>
                    </a:solidFill>
                  </a:rPr>
                  <a:t>Количество транзакций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 lang="ru-RU" sz="1000" b="0" i="0" u="none" strike="noStrike" kern="1200" baseline="0">
                  <a:solidFill>
                    <a:srgbClr val="000000">
                      <a:lumMod val="65000"/>
                      <a:lumOff val="35000"/>
                    </a:srgb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ru-RU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1307305615"/>
        <c:crosses val="autoZero"/>
        <c:crossBetween val="between"/>
      </c:valAx>
      <c:dateAx>
        <c:axId val="1307301295"/>
        <c:scaling>
          <c:orientation val="minMax"/>
        </c:scaling>
        <c:delete val="1"/>
        <c:axPos val="b"/>
        <c:numFmt formatCode="m/d/yyyy" sourceLinked="1"/>
        <c:majorTickMark val="out"/>
        <c:minorTickMark val="none"/>
        <c:tickLblPos val="nextTo"/>
        <c:crossAx val="1307318095"/>
        <c:crosses val="autoZero"/>
        <c:auto val="1"/>
        <c:lblOffset val="100"/>
        <c:baseTimeUnit val="days"/>
      </c:dateAx>
      <c:valAx>
        <c:axId val="1307318095"/>
        <c:scaling>
          <c:orientation val="minMax"/>
        </c:scaling>
        <c:delete val="0"/>
        <c:axPos val="r"/>
        <c:title>
          <c:tx>
            <c:rich>
              <a:bodyPr rot="-5400000" spcFirstLastPara="1" vertOverflow="ellipsis" vert="horz" wrap="square" anchor="ctr" anchorCtr="1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lang="ru-RU" sz="1000" b="0" i="0" u="none" strike="noStrike" kern="1200" baseline="0">
                    <a:solidFill>
                      <a:srgbClr val="000000">
                        <a:lumMod val="65000"/>
                        <a:lumOff val="35000"/>
                      </a:srgb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ru-RU" sz="1000" b="0" i="0" u="none" strike="noStrike" kern="1200" baseline="0">
                    <a:solidFill>
                      <a:srgbClr val="000000">
                        <a:lumMod val="65000"/>
                        <a:lumOff val="35000"/>
                      </a:srgbClr>
                    </a:solidFill>
                  </a:rPr>
                  <a:t>Длительность транзакций, сек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 lang="ru-RU" sz="1000" b="0" i="0" u="none" strike="noStrike" kern="1200" baseline="0">
                  <a:solidFill>
                    <a:srgbClr val="000000">
                      <a:lumMod val="65000"/>
                      <a:lumOff val="35000"/>
                    </a:srgb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</c:title>
        <c:numFmt formatCode="0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ru-RU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1307301295"/>
        <c:crosses val="max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lang="ru-RU" sz="1000" b="0" i="0" u="none" strike="noStrike" kern="120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ru-RU"/>
        </a:p>
      </c:txPr>
    </c:legend>
    <c:plotVisOnly val="1"/>
    <c:dispBlanksAs val="gap"/>
    <c:showDLblsOverMax val="0"/>
    <c:extLst>
      <c:ext uri="{0b15fc19-7d7d-44ad-8c2d-2c3a37ce22c3}">
        <chartProps xmlns="https://web.wps.cn/et/2018/main" chartId="{8e5c530c-3c91-470a-82f8-8e3118d178a1}"/>
      </c:ext>
    </c:extLst>
  </c:chart>
  <c:spPr>
    <a:noFill/>
    <a:ln>
      <a:noFill/>
    </a:ln>
    <a:effectLst/>
  </c:spPr>
  <c:txPr>
    <a:bodyPr/>
    <a:lstStyle/>
    <a:p>
      <a:pPr>
        <a:defRPr lang="ru-RU"/>
      </a:pPr>
      <a:endParaRPr lang="ru-RU"/>
    </a:p>
  </c:txPr>
  <c:externalData r:id="rId3">
    <c:autoUpdate val="0"/>
  </c:externalData>
</c:chartSpace>
</file>

<file path=ppt/charts/chart1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lang="ru-RU" sz="1600" b="0" i="0" u="none" strike="noStrike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r>
              <a:rPr lang="ru-RU" sz="1600" dirty="0">
                <a:solidFill>
                  <a:schemeClr val="tx1"/>
                </a:solidFill>
              </a:rPr>
              <a:t>Средняя сумма</a:t>
            </a:r>
            <a:r>
              <a:rPr lang="ru-RU" sz="1600" baseline="0" dirty="0">
                <a:solidFill>
                  <a:schemeClr val="tx1"/>
                </a:solidFill>
              </a:rPr>
              <a:t> переводов по программе лояльности в динамике</a:t>
            </a:r>
            <a:endParaRPr lang="ru-RU" sz="1600" dirty="0">
              <a:solidFill>
                <a:schemeClr val="tx1"/>
              </a:solidFill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lang="ru-RU" sz="1600" b="0" i="0" u="none" strike="noStrike" kern="1200" spc="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ru-RU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'Задача 2'!$I$4</c:f>
              <c:strCache>
                <c:ptCount val="1"/>
                <c:pt idx="0">
                  <c:v>Количество транзакций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numRef>
              <c:f>'Задача 2'!$H$5:$H$7</c:f>
              <c:numCache>
                <c:formatCode>m/d/yyyy</c:formatCode>
                <c:ptCount val="3"/>
                <c:pt idx="0">
                  <c:v>44809</c:v>
                </c:pt>
                <c:pt idx="1">
                  <c:v>44810</c:v>
                </c:pt>
                <c:pt idx="2">
                  <c:v>44811</c:v>
                </c:pt>
              </c:numCache>
            </c:numRef>
          </c:cat>
          <c:val>
            <c:numRef>
              <c:f>'Задача 2'!$I$5:$I$7</c:f>
              <c:numCache>
                <c:formatCode>General</c:formatCode>
                <c:ptCount val="3"/>
                <c:pt idx="0">
                  <c:v>3388</c:v>
                </c:pt>
                <c:pt idx="1">
                  <c:v>3474</c:v>
                </c:pt>
                <c:pt idx="2">
                  <c:v>3415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FD1-4539-BBCE-2726D0ACE78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1307320975"/>
        <c:axId val="1307320015"/>
      </c:barChart>
      <c:lineChart>
        <c:grouping val="standard"/>
        <c:varyColors val="0"/>
        <c:ser>
          <c:idx val="1"/>
          <c:order val="1"/>
          <c:tx>
            <c:strRef>
              <c:f>'Задача 2'!$J$4</c:f>
              <c:strCache>
                <c:ptCount val="1"/>
                <c:pt idx="0">
                  <c:v>Средняя сумма перевода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dLbls>
            <c:dLbl>
              <c:idx val="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AFD1-4539-BBCE-2726D0ACE78C}"/>
                </c:ext>
              </c:extLst>
            </c:dLbl>
            <c:dLbl>
              <c:idx val="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AFD1-4539-BBCE-2726D0ACE78C}"/>
                </c:ext>
              </c:extLst>
            </c:dLbl>
            <c:dLbl>
              <c:idx val="2"/>
              <c:layout>
                <c:manualLayout>
                  <c:x val="-2.0809287955322001E-3"/>
                  <c:y val="-3.2921436146527198E-2"/>
                </c:manualLayout>
              </c:layout>
              <c:spPr>
                <a:solidFill>
                  <a:srgbClr val="FFC000">
                    <a:alpha val="30000"/>
                  </a:srgbClr>
                </a:solidFill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lang="ru-RU" sz="1000" b="1" i="0" u="none" strike="noStrike" kern="1200" baseline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ru-RU"/>
                </a:p>
              </c:tx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AFD1-4539-BBCE-2726D0ACE78C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lang="ru-RU" sz="10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ru-RU"/>
              </a:p>
            </c:txPr>
            <c:dLblPos val="r"/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'Задача 2'!$H$5:$H$7</c:f>
              <c:numCache>
                <c:formatCode>m/d/yyyy</c:formatCode>
                <c:ptCount val="3"/>
                <c:pt idx="0">
                  <c:v>44809</c:v>
                </c:pt>
                <c:pt idx="1">
                  <c:v>44810</c:v>
                </c:pt>
                <c:pt idx="2">
                  <c:v>44811</c:v>
                </c:pt>
              </c:numCache>
            </c:numRef>
          </c:cat>
          <c:val>
            <c:numRef>
              <c:f>'Задача 2'!$J$5:$J$7</c:f>
              <c:numCache>
                <c:formatCode>#\ ##0\ "₽"</c:formatCode>
                <c:ptCount val="3"/>
                <c:pt idx="0">
                  <c:v>18458.945985832299</c:v>
                </c:pt>
                <c:pt idx="1">
                  <c:v>18401.787852619502</c:v>
                </c:pt>
                <c:pt idx="2">
                  <c:v>19914.488140556401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4-AFD1-4539-BBCE-2726D0ACE78C}"/>
            </c:ext>
          </c:extLst>
        </c:ser>
        <c:ser>
          <c:idx val="2"/>
          <c:order val="2"/>
          <c:tx>
            <c:strRef>
              <c:f>'Задача 2'!$K$4</c:f>
              <c:strCache>
                <c:ptCount val="1"/>
                <c:pt idx="0">
                  <c:v>Средняя сумма за 5-6 число</c:v>
                </c:pt>
              </c:strCache>
            </c:strRef>
          </c:tx>
          <c:spPr>
            <a:ln w="28575" cap="rnd">
              <a:solidFill>
                <a:srgbClr val="FF0000"/>
              </a:solidFill>
              <a:round/>
            </a:ln>
            <a:effectLst/>
          </c:spPr>
          <c:marker>
            <c:symbol val="none"/>
          </c:marker>
          <c:dLbls>
            <c:dLbl>
              <c:idx val="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AFD1-4539-BBCE-2726D0ACE78C}"/>
                </c:ext>
              </c:extLst>
            </c:dLbl>
            <c:dLbl>
              <c:idx val="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6-AFD1-4539-BBCE-2726D0ACE78C}"/>
                </c:ext>
              </c:extLst>
            </c:dLbl>
            <c:dLbl>
              <c:idx val="2"/>
              <c:layout>
                <c:manualLayout>
                  <c:x val="4.5803607414134702E-2"/>
                  <c:y val="-0.15349934556657799"/>
                </c:manualLayout>
              </c:layout>
              <c:spPr>
                <a:solidFill>
                  <a:srgbClr val="FF0000">
                    <a:alpha val="30000"/>
                  </a:srgbClr>
                </a:solidFill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lang="ru-RU" sz="1000" b="1" i="0" u="none" strike="noStrike" kern="1200" baseline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ru-RU"/>
                </a:p>
              </c:tx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AFD1-4539-BBCE-2726D0ACE78C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lang="ru-RU" sz="10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ru-RU"/>
              </a:p>
            </c:txPr>
            <c:dLblPos val="r"/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rgbClr val="FF0000"/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'Задача 2'!$H$5:$H$7</c:f>
              <c:numCache>
                <c:formatCode>m/d/yyyy</c:formatCode>
                <c:ptCount val="3"/>
                <c:pt idx="0">
                  <c:v>44809</c:v>
                </c:pt>
                <c:pt idx="1">
                  <c:v>44810</c:v>
                </c:pt>
                <c:pt idx="2">
                  <c:v>44811</c:v>
                </c:pt>
              </c:numCache>
            </c:numRef>
          </c:cat>
          <c:val>
            <c:numRef>
              <c:f>'Задача 2'!$K$5:$K$7</c:f>
              <c:numCache>
                <c:formatCode>#\ ##0\ "₽"</c:formatCode>
                <c:ptCount val="3"/>
                <c:pt idx="0">
                  <c:v>18430.008743806498</c:v>
                </c:pt>
                <c:pt idx="1">
                  <c:v>18430.008743806498</c:v>
                </c:pt>
                <c:pt idx="2">
                  <c:v>18430.008743806498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8-AFD1-4539-BBCE-2726D0ACE78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307319535"/>
        <c:axId val="1307319055"/>
      </c:lineChart>
      <c:dateAx>
        <c:axId val="1307320975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lang="ru-RU"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ru-RU"/>
                  <a:t>Дата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lang="ru-RU"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</c:title>
        <c:numFmt formatCode="m/d/yyyy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ru-RU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1307320015"/>
        <c:crosses val="autoZero"/>
        <c:auto val="1"/>
        <c:lblOffset val="100"/>
        <c:baseTimeUnit val="days"/>
      </c:dateAx>
      <c:valAx>
        <c:axId val="1307320015"/>
        <c:scaling>
          <c:orientation val="minMax"/>
          <c:min val="3100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lang="ru-RU"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ru-RU"/>
                  <a:t>Количество транзакций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lang="ru-RU"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ru-RU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1307320975"/>
        <c:crosses val="autoZero"/>
        <c:crossBetween val="between"/>
      </c:valAx>
      <c:dateAx>
        <c:axId val="1307319535"/>
        <c:scaling>
          <c:orientation val="minMax"/>
        </c:scaling>
        <c:delete val="1"/>
        <c:axPos val="b"/>
        <c:numFmt formatCode="m/d/yyyy" sourceLinked="1"/>
        <c:majorTickMark val="out"/>
        <c:minorTickMark val="none"/>
        <c:tickLblPos val="nextTo"/>
        <c:crossAx val="1307319055"/>
        <c:crosses val="autoZero"/>
        <c:auto val="1"/>
        <c:lblOffset val="100"/>
        <c:baseTimeUnit val="days"/>
      </c:dateAx>
      <c:valAx>
        <c:axId val="1307319055"/>
        <c:scaling>
          <c:orientation val="minMax"/>
        </c:scaling>
        <c:delete val="0"/>
        <c:axPos val="r"/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lang="ru-RU"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ru-RU"/>
                  <a:t>Сумма</a:t>
                </a:r>
                <a:r>
                  <a:rPr lang="ru-RU" baseline="0"/>
                  <a:t> пеервода</a:t>
                </a:r>
                <a:endParaRPr lang="ru-RU"/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lang="ru-RU"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</c:title>
        <c:numFmt formatCode="#\ ##0\ &quot;₽&quot;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ru-RU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1307319535"/>
        <c:crosses val="max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lang="ru-RU" sz="1000" b="0" i="0" u="none" strike="noStrike" kern="120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ru-RU"/>
        </a:p>
      </c:txPr>
    </c:legend>
    <c:plotVisOnly val="1"/>
    <c:dispBlanksAs val="gap"/>
    <c:showDLblsOverMax val="0"/>
    <c:extLst>
      <c:ext uri="{0b15fc19-7d7d-44ad-8c2d-2c3a37ce22c3}">
        <chartProps xmlns="https://web.wps.cn/et/2018/main" chartId="{822c7de4-efa8-45a4-9c38-2d3661049735}"/>
      </c:ext>
    </c:extLst>
  </c:chart>
  <c:spPr>
    <a:noFill/>
    <a:ln>
      <a:noFill/>
    </a:ln>
    <a:effectLst/>
  </c:spPr>
  <c:txPr>
    <a:bodyPr/>
    <a:lstStyle/>
    <a:p>
      <a:pPr>
        <a:defRPr lang="ru-RU"/>
      </a:pPr>
      <a:endParaRPr lang="ru-RU"/>
    </a:p>
  </c:txPr>
  <c:externalData r:id="rId3">
    <c:autoUpdate val="0"/>
  </c:externalData>
</c:chartSpace>
</file>

<file path=ppt/charts/chart1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lang="ru-RU" sz="1600" b="0" i="0" u="none" strike="noStrike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r>
              <a:rPr lang="ru-RU" sz="1600">
                <a:solidFill>
                  <a:schemeClr val="tx1"/>
                </a:solidFill>
              </a:rPr>
              <a:t>Потери компании в динамике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lang="ru-RU" sz="1600" b="0" i="0" u="none" strike="noStrike" kern="1200" spc="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ru-RU"/>
        </a:p>
      </c:txPr>
    </c:title>
    <c:autoTitleDeleted val="0"/>
    <c:plotArea>
      <c:layout/>
      <c:barChart>
        <c:barDir val="col"/>
        <c:grouping val="clustered"/>
        <c:varyColors val="0"/>
        <c:ser>
          <c:idx val="2"/>
          <c:order val="1"/>
          <c:tx>
            <c:strRef>
              <c:f>'ДЗ 3'!$D$9</c:f>
              <c:strCache>
                <c:ptCount val="1"/>
                <c:pt idx="0">
                  <c:v>Новые средние потери</c:v>
                </c:pt>
              </c:strCache>
            </c:strRef>
          </c:tx>
          <c:spPr>
            <a:solidFill>
              <a:srgbClr val="00B0F0"/>
            </a:solidFill>
            <a:ln>
              <a:noFill/>
            </a:ln>
            <a:effectLst/>
          </c:spPr>
          <c:invertIfNegative val="0"/>
          <c:cat>
            <c:numRef>
              <c:f>'ДЗ 3'!$A$10:$A$12</c:f>
              <c:numCache>
                <c:formatCode>m/d/yyyy</c:formatCode>
                <c:ptCount val="3"/>
                <c:pt idx="0">
                  <c:v>44809</c:v>
                </c:pt>
                <c:pt idx="1">
                  <c:v>44810</c:v>
                </c:pt>
                <c:pt idx="2">
                  <c:v>44811</c:v>
                </c:pt>
              </c:numCache>
            </c:numRef>
          </c:cat>
          <c:val>
            <c:numRef>
              <c:f>'ДЗ 3'!$D$10:$D$12</c:f>
              <c:numCache>
                <c:formatCode>#\ ##0\ "₽"</c:formatCode>
                <c:ptCount val="3"/>
                <c:pt idx="0">
                  <c:v>109.21523429246299</c:v>
                </c:pt>
                <c:pt idx="1">
                  <c:v>112.887258231517</c:v>
                </c:pt>
                <c:pt idx="2">
                  <c:v>123.084829850082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8D7-41F3-8A21-17965A124008}"/>
            </c:ext>
          </c:extLst>
        </c:ser>
        <c:ser>
          <c:idx val="1"/>
          <c:order val="0"/>
          <c:tx>
            <c:strRef>
              <c:f>'ДЗ 3'!$C$9</c:f>
              <c:strCache>
                <c:ptCount val="1"/>
                <c:pt idx="0">
                  <c:v>Средние потери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numRef>
              <c:f>'ДЗ 3'!$A$10:$A$12</c:f>
              <c:numCache>
                <c:formatCode>m/d/yyyy</c:formatCode>
                <c:ptCount val="3"/>
                <c:pt idx="0">
                  <c:v>44809</c:v>
                </c:pt>
                <c:pt idx="1">
                  <c:v>44810</c:v>
                </c:pt>
                <c:pt idx="2">
                  <c:v>44811</c:v>
                </c:pt>
              </c:numCache>
            </c:numRef>
          </c:cat>
          <c:val>
            <c:numRef>
              <c:f>'ДЗ 3'!$C$10:$C$12</c:f>
              <c:numCache>
                <c:formatCode>#\ ##0\ "₽"</c:formatCode>
                <c:ptCount val="3"/>
                <c:pt idx="0">
                  <c:v>124.90486543034</c:v>
                </c:pt>
                <c:pt idx="1">
                  <c:v>129.45734490271801</c:v>
                </c:pt>
                <c:pt idx="2">
                  <c:v>140.679237128712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18D7-41F3-8A21-17965A12400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1307283055"/>
        <c:axId val="1307283535"/>
      </c:barChart>
      <c:lineChart>
        <c:grouping val="standard"/>
        <c:varyColors val="0"/>
        <c:ser>
          <c:idx val="3"/>
          <c:order val="2"/>
          <c:tx>
            <c:strRef>
              <c:f>'ДЗ 3'!$E$9</c:f>
              <c:strCache>
                <c:ptCount val="1"/>
                <c:pt idx="0">
                  <c:v>Средневзвешенные потери</c:v>
                </c:pt>
              </c:strCache>
            </c:strRef>
          </c:tx>
          <c:spPr>
            <a:ln w="28575" cap="rnd">
              <a:solidFill>
                <a:schemeClr val="accent4"/>
              </a:solidFill>
              <a:round/>
            </a:ln>
            <a:effectLst/>
          </c:spPr>
          <c:marker>
            <c:symbol val="none"/>
          </c:marker>
          <c:dLbls>
            <c:dLbl>
              <c:idx val="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18D7-41F3-8A21-17965A124008}"/>
                </c:ext>
              </c:extLst>
            </c:dLbl>
            <c:dLbl>
              <c:idx val="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18D7-41F3-8A21-17965A124008}"/>
                </c:ext>
              </c:extLst>
            </c:dLbl>
            <c:dLbl>
              <c:idx val="2"/>
              <c:layout>
                <c:manualLayout>
                  <c:x val="-6.11000323869536E-2"/>
                  <c:y val="-0.138028175137104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18D7-41F3-8A21-17965A124008}"/>
                </c:ext>
              </c:extLst>
            </c:dLbl>
            <c:spPr>
              <a:solidFill>
                <a:srgbClr val="FFFF00">
                  <a:alpha val="30000"/>
                </a:srgbClr>
              </a:solidFill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lang="ru-RU" sz="10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ru-RU"/>
              </a:p>
            </c:txPr>
            <c:dLblPos val="r"/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rgbClr val="FFFF00"/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'ДЗ 3'!$A$10:$A$12</c:f>
              <c:numCache>
                <c:formatCode>m/d/yyyy</c:formatCode>
                <c:ptCount val="3"/>
                <c:pt idx="0">
                  <c:v>44809</c:v>
                </c:pt>
                <c:pt idx="1">
                  <c:v>44810</c:v>
                </c:pt>
                <c:pt idx="2">
                  <c:v>44811</c:v>
                </c:pt>
              </c:numCache>
            </c:numRef>
          </c:cat>
          <c:val>
            <c:numRef>
              <c:f>'ДЗ 3'!$E$10:$E$12</c:f>
              <c:numCache>
                <c:formatCode>#\ ##0.00\ "₽"</c:formatCode>
                <c:ptCount val="3"/>
                <c:pt idx="0">
                  <c:v>131.653547281377</c:v>
                </c:pt>
                <c:pt idx="1">
                  <c:v>131.653547281377</c:v>
                </c:pt>
                <c:pt idx="2">
                  <c:v>131.653547281377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5-18D7-41F3-8A21-17965A124008}"/>
            </c:ext>
          </c:extLst>
        </c:ser>
        <c:ser>
          <c:idx val="4"/>
          <c:order val="3"/>
          <c:tx>
            <c:strRef>
              <c:f>'ДЗ 3'!$F$9</c:f>
              <c:strCache>
                <c:ptCount val="1"/>
                <c:pt idx="0">
                  <c:v>Новые средневзвешенные потери</c:v>
                </c:pt>
              </c:strCache>
            </c:strRef>
          </c:tx>
          <c:spPr>
            <a:ln w="28575" cap="rnd">
              <a:solidFill>
                <a:schemeClr val="accent5"/>
              </a:solidFill>
              <a:round/>
            </a:ln>
            <a:effectLst/>
          </c:spPr>
          <c:marker>
            <c:symbol val="none"/>
          </c:marker>
          <c:dLbls>
            <c:dLbl>
              <c:idx val="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6-18D7-41F3-8A21-17965A124008}"/>
                </c:ext>
              </c:extLst>
            </c:dLbl>
            <c:dLbl>
              <c:idx val="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18D7-41F3-8A21-17965A124008}"/>
                </c:ext>
              </c:extLst>
            </c:dLbl>
            <c:dLbl>
              <c:idx val="2"/>
              <c:layout>
                <c:manualLayout>
                  <c:x val="3.2988965526116701E-2"/>
                  <c:y val="-0.162339413531185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8-18D7-41F3-8A21-17965A124008}"/>
                </c:ext>
              </c:extLst>
            </c:dLbl>
            <c:spPr>
              <a:solidFill>
                <a:srgbClr val="00B0F0">
                  <a:alpha val="30000"/>
                </a:srgbClr>
              </a:solidFill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lang="ru-RU" sz="10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ru-RU"/>
              </a:p>
            </c:txPr>
            <c:dLblPos val="r"/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rgbClr val="00B0F0"/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'ДЗ 3'!$A$10:$A$12</c:f>
              <c:numCache>
                <c:formatCode>m/d/yyyy</c:formatCode>
                <c:ptCount val="3"/>
                <c:pt idx="0">
                  <c:v>44809</c:v>
                </c:pt>
                <c:pt idx="1">
                  <c:v>44810</c:v>
                </c:pt>
                <c:pt idx="2">
                  <c:v>44811</c:v>
                </c:pt>
              </c:numCache>
            </c:numRef>
          </c:cat>
          <c:val>
            <c:numRef>
              <c:f>'ДЗ 3'!$F$10:$F$12</c:f>
              <c:numCache>
                <c:formatCode>#\ ##0.00\ "₽"</c:formatCode>
                <c:ptCount val="3"/>
                <c:pt idx="0">
                  <c:v>115.03781121665099</c:v>
                </c:pt>
                <c:pt idx="1">
                  <c:v>115.03781121665099</c:v>
                </c:pt>
                <c:pt idx="2">
                  <c:v>115.03781121665099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9-18D7-41F3-8A21-17965A12400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307283055"/>
        <c:axId val="1307283535"/>
      </c:lineChart>
      <c:dateAx>
        <c:axId val="1307283055"/>
        <c:scaling>
          <c:orientation val="minMax"/>
        </c:scaling>
        <c:delete val="0"/>
        <c:axPos val="b"/>
        <c:title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lang="ru-RU"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</c:title>
        <c:numFmt formatCode="m/d/yyyy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ru-RU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1307283535"/>
        <c:crosses val="autoZero"/>
        <c:auto val="1"/>
        <c:lblOffset val="100"/>
        <c:baseTimeUnit val="days"/>
      </c:dateAx>
      <c:valAx>
        <c:axId val="1307283535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lang="ru-RU"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ru-RU"/>
                  <a:t>Велечина потерь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lang="ru-RU"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</c:title>
        <c:numFmt formatCode="#\ ##0\ &quot;₽&quot;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ru-RU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1307283055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lang="ru-RU" sz="1000" b="0" i="0" u="none" strike="noStrike" kern="120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ru-RU"/>
        </a:p>
      </c:txPr>
    </c:legend>
    <c:plotVisOnly val="1"/>
    <c:dispBlanksAs val="zero"/>
    <c:showDLblsOverMax val="0"/>
    <c:extLst>
      <c:ext uri="{0b15fc19-7d7d-44ad-8c2d-2c3a37ce22c3}">
        <chartProps xmlns="https://web.wps.cn/et/2018/main" chartId="{4c32b44a-6bd3-455c-9e66-777cea22a837}"/>
      </c:ext>
    </c:extLst>
  </c:chart>
  <c:spPr>
    <a:noFill/>
    <a:ln>
      <a:noFill/>
    </a:ln>
    <a:effectLst/>
  </c:spPr>
  <c:txPr>
    <a:bodyPr/>
    <a:lstStyle/>
    <a:p>
      <a:pPr>
        <a:defRPr lang="ru-RU"/>
      </a:pPr>
      <a:endParaRPr lang="ru-RU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9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0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7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8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9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0.xml><?xml version="1.0" encoding="utf-8"?>
<cs:chartStyle xmlns:cs="http://schemas.microsoft.com/office/drawing/2012/chartStyle" xmlns:a="http://schemas.openxmlformats.org/drawingml/2006/main" id="32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1.xml><?xml version="1.0" encoding="utf-8"?>
<cs:chartStyle xmlns:cs="http://schemas.microsoft.com/office/drawing/2012/chartStyle" xmlns:a="http://schemas.openxmlformats.org/drawingml/2006/main" id="32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2.xml><?xml version="1.0" encoding="utf-8"?>
<cs:chartStyle xmlns:cs="http://schemas.microsoft.com/office/drawing/2012/chartStyle" xmlns:a="http://schemas.openxmlformats.org/drawingml/2006/main" id="32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3.xml><?xml version="1.0" encoding="utf-8"?>
<cs:chartStyle xmlns:cs="http://schemas.microsoft.com/office/drawing/2012/chartStyle" xmlns:a="http://schemas.openxmlformats.org/drawingml/2006/main" id="32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4.xml><?xml version="1.0" encoding="utf-8"?>
<cs:chartStyle xmlns:cs="http://schemas.microsoft.com/office/drawing/2012/chartStyle" xmlns:a="http://schemas.openxmlformats.org/drawingml/2006/main" id="32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drawings/drawing1.xml><?xml version="1.0" encoding="utf-8"?>
<c:userShapes xmlns:c="http://schemas.openxmlformats.org/drawingml/2006/chart">
  <cdr:relSizeAnchor xmlns:cdr="http://schemas.openxmlformats.org/drawingml/2006/chartDrawing">
    <cdr:from>
      <cdr:x>0.60802</cdr:x>
      <cdr:y>0.13874</cdr:y>
    </cdr:from>
    <cdr:to>
      <cdr:x>0.6144</cdr:x>
      <cdr:y>0.14869</cdr:y>
    </cdr:to>
    <cdr:sp macro="" textlink="">
      <cdr:nvSpPr>
        <cdr:cNvPr id="2" name="Овал 1"/>
        <cdr:cNvSpPr/>
      </cdr:nvSpPr>
      <cdr:spPr>
        <a:xfrm xmlns:a="http://schemas.openxmlformats.org/drawingml/2006/main">
          <a:off x="4354844" y="637224"/>
          <a:ext cx="45695" cy="45700"/>
        </a:xfrm>
        <a:prstGeom xmlns:a="http://schemas.openxmlformats.org/drawingml/2006/main" prst="ellipse">
          <a:avLst/>
        </a:prstGeom>
      </cdr:spPr>
      <cdr:style>
        <a:lnRef xmlns:a="http://schemas.openxmlformats.org/drawingml/2006/main" idx="2">
          <a:schemeClr val="dk1">
            <a:shade val="15000"/>
          </a:schemeClr>
        </a:lnRef>
        <a:fillRef xmlns:a="http://schemas.openxmlformats.org/drawingml/2006/main" idx="1">
          <a:schemeClr val="dk1"/>
        </a:fillRef>
        <a:effectRef xmlns:a="http://schemas.openxmlformats.org/drawingml/2006/main" idx="0">
          <a:schemeClr val="dk1"/>
        </a:effectRef>
        <a:fontRef xmlns:a="http://schemas.openxmlformats.org/drawingml/2006/main" idx="minor">
          <a:schemeClr val="lt1"/>
        </a:fontRef>
      </cdr:style>
      <cdr:txBody>
        <a:bodyPr xmlns:a="http://schemas.openxmlformats.org/drawingml/2006/main" vertOverflow="clip"/>
        <a:lstStyle xmlns:a="http://schemas.openxmlformats.org/drawingml/2006/main"/>
        <a:p xmlns:a="http://schemas.openxmlformats.org/drawingml/2006/main">
          <a:endParaRPr lang="ru-RU" kern="1200"/>
        </a:p>
      </cdr:txBody>
    </cdr:sp>
  </cdr:relSizeAnchor>
</c:userShape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45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4023812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45"/>
            </a:lvl1pPr>
          </a:lstStyle>
          <a:p>
            <a:fld id="{0F9B84EA-7D68-4D60-9CB1-D50884785D1C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45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4023812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45"/>
            </a:lvl1pPr>
          </a:lstStyle>
          <a:p>
            <a:fld id="{8D4E0FC9-F1F8-4FAE-9988-3BA365CFD4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dt" idx="1"/>
          </p:nvPr>
        </p:nvSpPr>
        <p:spPr>
          <a:xfrm>
            <a:off x="4024313" y="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6C8D182-E4C8-4120-9249-FC9774456FFA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4" name="Slide Image Placehoder 3"/>
          <p:cNvSpPr>
            <a:spLocks noGrp="1" noRot="1" noChangeAspect="1"/>
          </p:cNvSpPr>
          <p:nvPr>
            <p:ph type="sldImg" idx="2"/>
          </p:nvPr>
        </p:nvSpPr>
        <p:spPr>
          <a:xfrm>
            <a:off x="482600" y="1279525"/>
            <a:ext cx="6140450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 Placeholder 4"/>
          <p:cNvSpPr>
            <a:spLocks noGrp="1"/>
          </p:cNvSpPr>
          <p:nvPr>
            <p:ph type="body" sz="quarter" idx="3"/>
          </p:nvPr>
        </p:nvSpPr>
        <p:spPr>
          <a:xfrm>
            <a:off x="711200" y="4926013"/>
            <a:ext cx="5683250" cy="402907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72185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24313" y="972185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D0DACE-38E0-42D2-9336-2B707D34BC6D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322962"/>
            <a:ext cx="9144000" cy="2187001"/>
          </a:xfrm>
        </p:spPr>
        <p:txBody>
          <a:bodyPr anchor="b">
            <a:normAutofit/>
          </a:bodyPr>
          <a:lstStyle>
            <a:lvl1pPr algn="ctr">
              <a:lnSpc>
                <a:spcPct val="130000"/>
              </a:lnSpc>
              <a:defRPr sz="6000">
                <a:effectLst/>
                <a:latin typeface="Calibri Light" panose="020F030202020403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Date Placeholder 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  <a:t>‹#›</a:t>
            </a:fld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Calibri Light" panose="020F0302020204030204" pitchFamily="34" charset="0"/>
                <a:ea typeface="+mj-ea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1325563"/>
          </a:xfrm>
        </p:spPr>
        <p:txBody>
          <a:bodyPr anchor="ctr" anchorCtr="0">
            <a:normAutofit/>
          </a:bodyPr>
          <a:lstStyle>
            <a:lvl1pPr>
              <a:defRPr sz="4400" b="1">
                <a:effectLst/>
                <a:latin typeface="Calibri Light" panose="020F030202020403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47700" y="1825625"/>
            <a:ext cx="10515600" cy="4351338"/>
          </a:xfrm>
        </p:spPr>
        <p:txBody>
          <a:bodyPr>
            <a:normAutofit/>
          </a:bodyPr>
          <a:lstStyle>
            <a:lvl1pPr>
              <a:defRPr sz="28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>
              <a:defRPr sz="24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2pPr>
            <a:lvl3pPr>
              <a:defRPr sz="20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3pPr>
            <a:lvl4pPr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4pPr>
            <a:lvl5pPr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 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3750945"/>
            <a:ext cx="9843135" cy="811530"/>
          </a:xfrm>
        </p:spPr>
        <p:txBody>
          <a:bodyPr anchor="b">
            <a:noAutofit/>
          </a:bodyPr>
          <a:lstStyle>
            <a:lvl1pPr>
              <a:defRPr sz="6000">
                <a:effectLst/>
              </a:defRPr>
            </a:lvl1pPr>
          </a:lstStyle>
          <a:p>
            <a:r>
              <a:rPr lang="en-US" dirty="0">
                <a:sym typeface="+mn-ea"/>
              </a:rPr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610028"/>
            <a:ext cx="7321550" cy="647555"/>
          </a:xfrm>
        </p:spPr>
        <p:txBody>
          <a:bodyPr>
            <a:noAutofit/>
          </a:bodyPr>
          <a:lstStyle>
            <a:lvl1pPr marL="0" indent="0">
              <a:buNone/>
              <a:defRPr sz="24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1325563"/>
          </a:xfrm>
        </p:spPr>
        <p:txBody>
          <a:bodyPr>
            <a:normAutofit/>
          </a:bodyPr>
          <a:lstStyle>
            <a:lvl1pPr>
              <a:defRPr sz="4400" b="0" i="0">
                <a:effectLst/>
              </a:defRPr>
            </a:lvl1pPr>
          </a:lstStyle>
          <a:p>
            <a:r>
              <a:rPr lang="en-US" dirty="0">
                <a:sym typeface="+mn-ea"/>
              </a:rPr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47700" y="1825625"/>
            <a:ext cx="5181600" cy="4351338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defRPr sz="28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>
              <a:lnSpc>
                <a:spcPct val="150000"/>
              </a:lnSpc>
              <a:defRPr sz="24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2pPr>
            <a:lvl3pPr>
              <a:lnSpc>
                <a:spcPct val="15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3pPr>
            <a:lvl4pPr>
              <a:lnSpc>
                <a:spcPct val="15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4pPr>
            <a:lvl5pPr>
              <a:lnSpc>
                <a:spcPct val="15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981700" y="1825625"/>
            <a:ext cx="5181600" cy="4351338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defRPr kumimoji="0" lang="en-US" sz="2800" b="0" i="0" u="none" strike="noStrike" kern="1200" cap="none" spc="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ea typeface="+mn-ea"/>
                <a:cs typeface="+mn-cs"/>
              </a:defRPr>
            </a:lvl1pPr>
            <a:lvl2pPr>
              <a:lnSpc>
                <a:spcPct val="150000"/>
              </a:lnSpc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lnSpc>
                <a:spcPct val="15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lnSpc>
                <a:spcPct val="15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lnSpc>
                <a:spcPct val="15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>
                <a:sym typeface="+mn-ea"/>
              </a:rPr>
              <a:t>Second level</a:t>
            </a:r>
            <a:endParaRPr lang="en-US" dirty="0"/>
          </a:p>
          <a:p>
            <a:pPr lvl="2"/>
            <a:r>
              <a:rPr lang="en-US" dirty="0">
                <a:sym typeface="+mn-ea"/>
              </a:rPr>
              <a:t>Third level</a:t>
            </a:r>
            <a:endParaRPr lang="en-US" dirty="0"/>
          </a:p>
          <a:p>
            <a:pPr lvl="3"/>
            <a:r>
              <a:rPr lang="en-US" dirty="0">
                <a:sym typeface="+mn-ea"/>
              </a:rPr>
              <a:t>Fourth level</a:t>
            </a:r>
            <a:endParaRPr lang="en-US" dirty="0"/>
          </a:p>
          <a:p>
            <a:pPr lvl="4"/>
            <a:r>
              <a:rPr lang="en-US" dirty="0">
                <a:sym typeface="+mn-ea"/>
              </a:rPr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>
            <a:lvl1pPr>
              <a:defRPr sz="4400"/>
            </a:lvl1pPr>
          </a:lstStyle>
          <a:p>
            <a:r>
              <a:rPr lang="en-US" dirty="0">
                <a:sym typeface="+mn-ea"/>
              </a:rPr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744961"/>
            <a:ext cx="5157787" cy="823912"/>
          </a:xfrm>
        </p:spPr>
        <p:txBody>
          <a:bodyPr anchor="b"/>
          <a:lstStyle>
            <a:lvl1pPr marL="0" indent="0">
              <a:buNone/>
              <a:defRPr sz="2400" b="1"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615609"/>
            <a:ext cx="5157787" cy="3574054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744961"/>
            <a:ext cx="5183188" cy="823912"/>
          </a:xfrm>
        </p:spPr>
        <p:txBody>
          <a:bodyPr anchor="b"/>
          <a:lstStyle>
            <a:lvl1pPr marL="0" indent="0">
              <a:buNone/>
              <a:defRPr sz="2400" b="1"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615609"/>
            <a:ext cx="5183188" cy="3574054"/>
          </a:xfrm>
        </p:spPr>
        <p:txBody>
          <a:bodyPr/>
          <a:lstStyle/>
          <a:p>
            <a:pPr lvl="0"/>
            <a:r>
              <a:rPr lang="en-US" dirty="0">
                <a:sym typeface="+mn-ea"/>
              </a:rPr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766219"/>
            <a:ext cx="10515600" cy="1325563"/>
          </a:xfrm>
        </p:spPr>
        <p:txBody>
          <a:bodyPr>
            <a:normAutofit/>
          </a:bodyPr>
          <a:lstStyle>
            <a:lvl1pPr algn="ctr">
              <a:defRPr sz="4400" b="0">
                <a:effectLst/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6747" y="127000"/>
            <a:ext cx="4165200" cy="1600200"/>
          </a:xfrm>
        </p:spPr>
        <p:txBody>
          <a:bodyPr anchor="ctr" anchorCtr="0">
            <a:normAutofit/>
          </a:bodyPr>
          <a:lstStyle>
            <a:lvl1pPr>
              <a:defRPr sz="3200" b="0">
                <a:effectLst/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4000" y="766354"/>
            <a:ext cx="5817375" cy="5094446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51827" y="2057400"/>
            <a:ext cx="4165200" cy="3811588"/>
          </a:xfrm>
        </p:spPr>
        <p:txBody>
          <a:bodyPr>
            <a:normAutofit/>
          </a:bodyPr>
          <a:lstStyle>
            <a:lvl1pPr marL="0" indent="0">
              <a:lnSpc>
                <a:spcPct val="150000"/>
              </a:lnSpc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FD9D74-47D9-4702-A33C-335B63B48DBF}" type="datetimeFigureOut">
              <a:rPr lang="en-US" smtClean="0"/>
              <a:t>12/8/2025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BC47A4-756D-490B-A52F-7D9E2C9FC05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824484" y="365125"/>
            <a:ext cx="1529316" cy="5811838"/>
          </a:xfrm>
        </p:spPr>
        <p:txBody>
          <a:bodyPr vert="eaVert">
            <a:normAutofit/>
          </a:bodyPr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8879958" cy="5811838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  <a:t>‹#›</a:t>
            </a:fld>
            <a:endParaRPr lang="en-US"/>
          </a:p>
        </p:txBody>
      </p:sp>
      <p:sp>
        <p:nvSpPr>
          <p:cNvPr id="7" name="Content Placeholder 6"/>
          <p:cNvSpPr>
            <a:spLocks noGrp="1"/>
          </p:cNvSpPr>
          <p:nvPr>
            <p:ph sz="quarter" idx="13"/>
          </p:nvPr>
        </p:nvSpPr>
        <p:spPr>
          <a:xfrm>
            <a:off x="838200" y="551543"/>
            <a:ext cx="10515600" cy="5558971"/>
          </a:xfrm>
        </p:spPr>
        <p:txBody>
          <a:bodyPr/>
          <a:lstStyle/>
          <a:p>
            <a:pPr lvl="0"/>
            <a:r>
              <a:rPr lang="en-US" dirty="0">
                <a:sym typeface="+mn-ea"/>
              </a:rPr>
              <a:t>Click to edit Master text styles</a:t>
            </a:r>
            <a:endParaRPr lang="en-US" dirty="0"/>
          </a:p>
          <a:p>
            <a:pPr lvl="1"/>
            <a:r>
              <a:rPr lang="en-US" dirty="0">
                <a:sym typeface="+mn-ea"/>
              </a:rPr>
              <a:t>Second level</a:t>
            </a:r>
            <a:endParaRPr lang="en-US" dirty="0"/>
          </a:p>
          <a:p>
            <a:pPr lvl="2"/>
            <a:r>
              <a:rPr lang="en-US" dirty="0">
                <a:sym typeface="+mn-ea"/>
              </a:rPr>
              <a:t>Third level</a:t>
            </a:r>
            <a:endParaRPr lang="en-US" dirty="0"/>
          </a:p>
          <a:p>
            <a:pPr lvl="3"/>
            <a:r>
              <a:rPr lang="en-US" dirty="0">
                <a:sym typeface="+mn-ea"/>
              </a:rPr>
              <a:t>Fourth level</a:t>
            </a:r>
            <a:endParaRPr lang="en-US" dirty="0"/>
          </a:p>
          <a:p>
            <a:pPr lvl="4"/>
            <a:r>
              <a:rPr lang="en-US" dirty="0">
                <a:sym typeface="+mn-ea"/>
              </a:rPr>
              <a:t>Fifth level</a:t>
            </a:r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en-US" smtClean="0"/>
              <a:t>12/8/2025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fld id="{49AE70B2-8BF9-45C0-BB95-33D1B9D3A854}" type="slidenum">
              <a:rPr lang="en-US" smtClean="0"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kern="1200">
          <a:solidFill>
            <a:schemeClr val="tx1"/>
          </a:solidFill>
          <a:latin typeface="Calibri Light" panose="020F0302020204030204" pitchFamily="34" charset="0"/>
          <a:ea typeface="+mj-ea"/>
          <a:cs typeface="+mj-cs"/>
        </a:defRPr>
      </a:lvl1pPr>
    </p:titleStyle>
    <p:bodyStyle>
      <a:lvl1pPr marL="0" marR="0" indent="0" algn="l" defTabSz="914400" rtl="0" eaLnBrk="1" fontAlgn="auto" latinLnBrk="0" hangingPunct="1">
        <a:lnSpc>
          <a:spcPct val="90000"/>
        </a:lnSpc>
        <a:spcBef>
          <a:spcPts val="1000"/>
        </a:spcBef>
        <a:spcAft>
          <a:spcPts val="0"/>
        </a:spcAft>
        <a:buClrTx/>
        <a:buSzTx/>
        <a:buFont typeface="Arial" panose="020B0604020202020204" pitchFamily="34" charset="0"/>
        <a:buNone/>
        <a:defRPr sz="2800" b="0" kern="1200">
          <a:solidFill>
            <a:schemeClr val="tx1"/>
          </a:solidFill>
          <a:latin typeface="Calibri Light" panose="020F0302020204030204" pitchFamily="34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 baseline="0">
          <a:solidFill>
            <a:schemeClr val="tx1"/>
          </a:solidFill>
          <a:latin typeface="Calibri Light" panose="020F0302020204030204" pitchFamily="34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 baseline="0">
          <a:solidFill>
            <a:schemeClr val="tx1"/>
          </a:solidFill>
          <a:effectLst/>
          <a:latin typeface="Calibri Light" panose="020F0302020204030204" pitchFamily="34" charset="0"/>
          <a:ea typeface="+mn-ea"/>
          <a:cs typeface="Calibri Light" panose="020F030202020403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 baseline="0">
          <a:solidFill>
            <a:schemeClr val="tx1"/>
          </a:solidFill>
          <a:effectLst/>
          <a:latin typeface="Calibri Light" panose="020F0302020204030204" pitchFamily="34" charset="0"/>
          <a:ea typeface="+mn-ea"/>
          <a:cs typeface="Calibri Light" panose="020F030202020403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 baseline="0">
          <a:solidFill>
            <a:schemeClr val="tx1"/>
          </a:solidFill>
          <a:effectLst/>
          <a:latin typeface="Calibri Light" panose="020F0302020204030204" pitchFamily="34" charset="0"/>
          <a:ea typeface="+mn-ea"/>
          <a:cs typeface="Calibri Light" panose="020F030202020403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chart" Target="../charts/chart4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chart" Target="../charts/chart5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chart" Target="../charts/chart6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chart" Target="../charts/chart7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chart" Target="../charts/chart8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chart" Target="../charts/chart9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0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1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2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3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4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5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ru-RU" altLang="ru-RU">
                <a:latin typeface="Palatino Linotype" panose="02040502050505030304" charset="0"/>
                <a:cs typeface="Palatino Linotype" panose="02040502050505030304" charset="0"/>
              </a:rPr>
              <a:t>Анализ </a:t>
            </a:r>
            <a:r>
              <a:rPr lang="en-US" altLang="ru-RU">
                <a:latin typeface="Palatino Linotype" panose="02040502050505030304" charset="0"/>
                <a:cs typeface="Palatino Linotype" panose="02040502050505030304" charset="0"/>
              </a:rPr>
              <a:t>SkyCrossroads</a:t>
            </a:r>
            <a:br>
              <a:rPr lang="en-US" altLang="ru-RU">
                <a:latin typeface="Palatino Linotype" panose="02040502050505030304" charset="0"/>
                <a:cs typeface="Palatino Linotype" panose="02040502050505030304" charset="0"/>
              </a:rPr>
            </a:br>
            <a:r>
              <a:rPr lang="en-US" altLang="ru-RU">
                <a:latin typeface="Palatino Linotype" panose="02040502050505030304" charset="0"/>
                <a:cs typeface="Palatino Linotype" panose="02040502050505030304" charset="0"/>
              </a:rPr>
              <a:t>1-7 </a:t>
            </a:r>
            <a:r>
              <a:rPr lang="ru-RU" altLang="ru-RU">
                <a:latin typeface="Palatino Linotype" panose="02040502050505030304" charset="0"/>
                <a:cs typeface="Palatino Linotype" panose="02040502050505030304" charset="0"/>
              </a:rPr>
              <a:t>сентября 2022 г.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462405" y="3705543"/>
            <a:ext cx="9144000" cy="1655762"/>
          </a:xfrm>
        </p:spPr>
        <p:txBody>
          <a:bodyPr/>
          <a:lstStyle/>
          <a:p>
            <a:r>
              <a:rPr lang="ru-RU" altLang="en-US" dirty="0">
                <a:solidFill>
                  <a:schemeClr val="tx1"/>
                </a:solidFill>
                <a:latin typeface="Palatino Linotype" panose="02040502050505030304" charset="0"/>
                <a:cs typeface="Palatino Linotype" panose="02040502050505030304" charset="0"/>
              </a:rPr>
              <a:t>Подготовил Чумакин Д.Е.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>
                <a:latin typeface="Palatino Linotype" panose="02040502050505030304" charset="0"/>
              </a:rPr>
              <a:t>Содержание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ru-RU" dirty="0">
                <a:solidFill>
                  <a:schemeClr val="tx1"/>
                </a:solidFill>
                <a:latin typeface="Palatino Linotype" panose="02040502050505030304" charset="0"/>
              </a:rPr>
              <a:t>Инциденты</a:t>
            </a:r>
          </a:p>
          <a:p>
            <a:pPr marL="514350" indent="-514350">
              <a:buFont typeface="+mj-lt"/>
              <a:buAutoNum type="arabicPeriod"/>
            </a:pPr>
            <a:r>
              <a:rPr lang="ru-RU" dirty="0">
                <a:solidFill>
                  <a:schemeClr val="tx1"/>
                </a:solidFill>
                <a:latin typeface="Palatino Linotype" panose="02040502050505030304" charset="0"/>
              </a:rPr>
              <a:t>Маркетинговые активности</a:t>
            </a:r>
          </a:p>
          <a:p>
            <a:pPr marL="514350" indent="-514350">
              <a:buFont typeface="+mj-lt"/>
              <a:buAutoNum type="arabicPeriod"/>
            </a:pPr>
            <a:r>
              <a:rPr lang="ru-RU" dirty="0">
                <a:solidFill>
                  <a:schemeClr val="tx1"/>
                </a:solidFill>
                <a:latin typeface="Palatino Linotype" panose="02040502050505030304" charset="0"/>
              </a:rPr>
              <a:t>Операционная отчётность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>
                <a:latin typeface="Palatino Linotype" panose="02040502050505030304" charset="0"/>
              </a:rPr>
              <a:t>Анализ роста транзакций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8063345" y="1825625"/>
            <a:ext cx="3759200" cy="4351338"/>
          </a:xfrm>
        </p:spPr>
        <p:txBody>
          <a:bodyPr>
            <a:normAutofit/>
          </a:bodyPr>
          <a:lstStyle/>
          <a:p>
            <a:pPr marL="457200" indent="-457200">
              <a:buFont typeface="Wingdings" panose="05000000000000000000" pitchFamily="2" charset="2"/>
              <a:buChar char="§"/>
            </a:pPr>
            <a:r>
              <a:rPr lang="ru-RU" sz="2400" dirty="0">
                <a:solidFill>
                  <a:schemeClr val="tx1"/>
                </a:solidFill>
                <a:latin typeface="Palatino Linotype" panose="02040502050505030304" charset="0"/>
              </a:rPr>
              <a:t>Открылась торговая точка на </a:t>
            </a:r>
            <a:r>
              <a:rPr lang="ru-RU" sz="2400" dirty="0">
                <a:solidFill>
                  <a:srgbClr val="4472C4"/>
                </a:solidFill>
                <a:latin typeface="Palatino Linotype" panose="02040502050505030304" charset="0"/>
              </a:rPr>
              <a:t>Чертановской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ru-RU" sz="2400" dirty="0">
                <a:solidFill>
                  <a:schemeClr val="tx1"/>
                </a:solidFill>
                <a:latin typeface="Palatino Linotype" panose="02040502050505030304" charset="0"/>
              </a:rPr>
              <a:t>Число транзакций на </a:t>
            </a:r>
            <a:r>
              <a:rPr lang="ru-RU" sz="2400" dirty="0">
                <a:solidFill>
                  <a:srgbClr val="FFC000"/>
                </a:solidFill>
                <a:latin typeface="Palatino Linotype" panose="02040502050505030304" charset="0"/>
              </a:rPr>
              <a:t>Симферопольской</a:t>
            </a:r>
            <a:r>
              <a:rPr lang="ru-RU" sz="2400" dirty="0">
                <a:latin typeface="Palatino Linotype" panose="02040502050505030304" charset="0"/>
              </a:rPr>
              <a:t> </a:t>
            </a:r>
            <a:r>
              <a:rPr lang="ru-RU" sz="2400" dirty="0">
                <a:solidFill>
                  <a:schemeClr val="tx1"/>
                </a:solidFill>
                <a:latin typeface="Palatino Linotype" panose="02040502050505030304" charset="0"/>
              </a:rPr>
              <a:t>упало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ru-RU" sz="2400" dirty="0">
                <a:solidFill>
                  <a:schemeClr val="tx1"/>
                </a:solidFill>
                <a:latin typeface="Palatino Linotype" panose="02040502050505030304" charset="0"/>
              </a:rPr>
              <a:t>Общее число транзакций возросло</a:t>
            </a:r>
          </a:p>
        </p:txBody>
      </p:sp>
      <p:graphicFrame>
        <p:nvGraphicFramePr>
          <p:cNvPr id="4" name="Диаграмма 3"/>
          <p:cNvGraphicFramePr/>
          <p:nvPr/>
        </p:nvGraphicFramePr>
        <p:xfrm>
          <a:off x="734290" y="1722943"/>
          <a:ext cx="7329055" cy="455670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>
                <a:latin typeface="Palatino Linotype" panose="02040502050505030304" charset="0"/>
              </a:rPr>
              <a:t>Анализ нагрузки на серверы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8063345" y="1825625"/>
            <a:ext cx="3759200" cy="4351338"/>
          </a:xfrm>
        </p:spPr>
        <p:txBody>
          <a:bodyPr>
            <a:normAutofit/>
          </a:bodyPr>
          <a:lstStyle/>
          <a:p>
            <a:pPr marL="342900" indent="-342900">
              <a:buFont typeface="Wingdings" panose="05000000000000000000" pitchFamily="2" charset="2"/>
              <a:buChar char="§"/>
            </a:pPr>
            <a:r>
              <a:rPr lang="ru-RU" sz="2400" dirty="0">
                <a:solidFill>
                  <a:schemeClr val="tx1"/>
                </a:solidFill>
                <a:latin typeface="Palatino Linotype" panose="02040502050505030304" charset="0"/>
              </a:rPr>
              <a:t>Небольшое падение транзакций на </a:t>
            </a:r>
            <a:r>
              <a:rPr lang="ru-RU" sz="2400" dirty="0">
                <a:solidFill>
                  <a:srgbClr val="F09253"/>
                </a:solidFill>
                <a:latin typeface="Palatino Linotype" panose="02040502050505030304" charset="0"/>
              </a:rPr>
              <a:t>2-м</a:t>
            </a:r>
            <a:r>
              <a:rPr lang="ru-RU" sz="2400" dirty="0">
                <a:solidFill>
                  <a:schemeClr val="tx1"/>
                </a:solidFill>
                <a:latin typeface="Palatino Linotype" panose="02040502050505030304" charset="0"/>
              </a:rPr>
              <a:t> сервере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ru-RU" sz="2400" dirty="0">
                <a:solidFill>
                  <a:schemeClr val="tx1"/>
                </a:solidFill>
                <a:latin typeface="Palatino Linotype" panose="02040502050505030304" charset="0"/>
              </a:rPr>
              <a:t>Резкий рост транзакций на </a:t>
            </a:r>
            <a:r>
              <a:rPr lang="ru-RU" sz="2400" dirty="0">
                <a:solidFill>
                  <a:srgbClr val="4472C4"/>
                </a:solidFill>
                <a:latin typeface="Palatino Linotype" panose="02040502050505030304" charset="0"/>
              </a:rPr>
              <a:t>3-м</a:t>
            </a:r>
            <a:r>
              <a:rPr lang="ru-RU" sz="2400" dirty="0">
                <a:latin typeface="Palatino Linotype" panose="02040502050505030304" charset="0"/>
              </a:rPr>
              <a:t> </a:t>
            </a:r>
            <a:r>
              <a:rPr lang="ru-RU" sz="2400" dirty="0">
                <a:solidFill>
                  <a:schemeClr val="tx1"/>
                </a:solidFill>
                <a:latin typeface="Palatino Linotype" panose="02040502050505030304" charset="0"/>
              </a:rPr>
              <a:t>сервере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ru-RU" sz="2400" dirty="0">
                <a:solidFill>
                  <a:schemeClr val="tx1"/>
                </a:solidFill>
                <a:latin typeface="Palatino Linotype" panose="02040502050505030304" charset="0"/>
              </a:rPr>
              <a:t>Низкая падающая нагрузка на  </a:t>
            </a:r>
            <a:r>
              <a:rPr lang="ru-RU" sz="2400" dirty="0">
                <a:solidFill>
                  <a:srgbClr val="7030A0"/>
                </a:solidFill>
                <a:latin typeface="Palatino Linotype" panose="02040502050505030304" charset="0"/>
              </a:rPr>
              <a:t>1-м</a:t>
            </a:r>
            <a:r>
              <a:rPr lang="ru-RU" sz="2400" dirty="0">
                <a:latin typeface="Palatino Linotype" panose="02040502050505030304" charset="0"/>
              </a:rPr>
              <a:t> </a:t>
            </a:r>
            <a:r>
              <a:rPr lang="ru-RU" sz="2400" dirty="0">
                <a:solidFill>
                  <a:schemeClr val="tx1"/>
                </a:solidFill>
                <a:latin typeface="Palatino Linotype" panose="02040502050505030304" charset="0"/>
              </a:rPr>
              <a:t>сервере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endParaRPr lang="ru-RU" sz="2400" dirty="0">
              <a:latin typeface="Palatino Linotype" panose="02040502050505030304" charset="0"/>
            </a:endParaRPr>
          </a:p>
          <a:p>
            <a:pPr marL="457200" indent="-457200">
              <a:buFont typeface="Wingdings" panose="05000000000000000000" pitchFamily="2" charset="2"/>
              <a:buChar char="§"/>
            </a:pPr>
            <a:endParaRPr lang="ru-RU" sz="2400" dirty="0">
              <a:latin typeface="Palatino Linotype" panose="02040502050505030304" charset="0"/>
            </a:endParaRPr>
          </a:p>
        </p:txBody>
      </p:sp>
      <p:graphicFrame>
        <p:nvGraphicFramePr>
          <p:cNvPr id="5" name="Диаграмма 4"/>
          <p:cNvGraphicFramePr/>
          <p:nvPr/>
        </p:nvGraphicFramePr>
        <p:xfrm>
          <a:off x="647700" y="1717215"/>
          <a:ext cx="7175500" cy="441962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>
                <a:latin typeface="Palatino Linotype" panose="02040502050505030304" charset="0"/>
              </a:rPr>
              <a:t>Анализ нагрузки на серверы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8063345" y="1825625"/>
            <a:ext cx="3759200" cy="4351338"/>
          </a:xfrm>
        </p:spPr>
        <p:txBody>
          <a:bodyPr>
            <a:normAutofit/>
          </a:bodyPr>
          <a:lstStyle/>
          <a:p>
            <a:pPr marL="342900" indent="-342900">
              <a:buFont typeface="Wingdings" panose="05000000000000000000" pitchFamily="2" charset="2"/>
              <a:buChar char="§"/>
            </a:pPr>
            <a:r>
              <a:rPr lang="ru-RU" sz="2400" dirty="0">
                <a:solidFill>
                  <a:schemeClr val="tx1"/>
                </a:solidFill>
                <a:latin typeface="Palatino Linotype" panose="02040502050505030304" charset="0"/>
              </a:rPr>
              <a:t>Ракетный б-р</a:t>
            </a:r>
            <a:r>
              <a:rPr lang="en-US" sz="2400" dirty="0">
                <a:solidFill>
                  <a:schemeClr val="tx1"/>
                </a:solidFill>
                <a:latin typeface="Palatino Linotype" panose="02040502050505030304" charset="0"/>
              </a:rPr>
              <a:t>: </a:t>
            </a:r>
            <a:r>
              <a:rPr lang="ru-RU" sz="2400" dirty="0">
                <a:solidFill>
                  <a:srgbClr val="4472C4"/>
                </a:solidFill>
                <a:latin typeface="Palatino Linotype" panose="02040502050505030304" charset="0"/>
              </a:rPr>
              <a:t>3</a:t>
            </a:r>
            <a:r>
              <a:rPr lang="ru-RU" sz="2400" dirty="0">
                <a:solidFill>
                  <a:schemeClr val="tx1"/>
                </a:solidFill>
                <a:latin typeface="Palatino Linotype" panose="02040502050505030304" charset="0"/>
              </a:rPr>
              <a:t> -</a:t>
            </a:r>
            <a:r>
              <a:rPr lang="en-US" sz="2400" dirty="0">
                <a:solidFill>
                  <a:schemeClr val="tx1"/>
                </a:solidFill>
                <a:latin typeface="Palatino Linotype" panose="02040502050505030304" charset="0"/>
              </a:rPr>
              <a:t>&gt; </a:t>
            </a:r>
            <a:r>
              <a:rPr lang="en-US" sz="2400" dirty="0">
                <a:solidFill>
                  <a:srgbClr val="7030A0"/>
                </a:solidFill>
                <a:latin typeface="Palatino Linotype" panose="02040502050505030304" charset="0"/>
              </a:rPr>
              <a:t>1</a:t>
            </a:r>
            <a:endParaRPr lang="ru-RU" sz="2400" dirty="0">
              <a:solidFill>
                <a:srgbClr val="7030A0"/>
              </a:solidFill>
              <a:latin typeface="Palatino Linotype" panose="02040502050505030304" charset="0"/>
            </a:endParaRP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ru-RU" sz="2400" dirty="0">
                <a:solidFill>
                  <a:schemeClr val="tx1"/>
                </a:solidFill>
                <a:latin typeface="Palatino Linotype" panose="02040502050505030304" charset="0"/>
              </a:rPr>
              <a:t>Допустимый рост транзакций на </a:t>
            </a:r>
            <a:r>
              <a:rPr lang="ru-RU" sz="2400" dirty="0">
                <a:solidFill>
                  <a:srgbClr val="7030A0"/>
                </a:solidFill>
                <a:latin typeface="Palatino Linotype" panose="02040502050505030304" charset="0"/>
              </a:rPr>
              <a:t>1-м</a:t>
            </a:r>
            <a:r>
              <a:rPr lang="ru-RU" sz="2400" dirty="0">
                <a:solidFill>
                  <a:schemeClr val="tx1"/>
                </a:solidFill>
                <a:latin typeface="Palatino Linotype" panose="02040502050505030304" charset="0"/>
              </a:rPr>
              <a:t> и </a:t>
            </a:r>
            <a:r>
              <a:rPr lang="ru-RU" sz="2400" dirty="0">
                <a:solidFill>
                  <a:srgbClr val="4472C4"/>
                </a:solidFill>
                <a:latin typeface="Palatino Linotype" panose="02040502050505030304" charset="0"/>
              </a:rPr>
              <a:t>3-м</a:t>
            </a:r>
            <a:r>
              <a:rPr lang="ru-RU" sz="2400" dirty="0">
                <a:solidFill>
                  <a:schemeClr val="tx1"/>
                </a:solidFill>
                <a:latin typeface="Palatino Linotype" panose="02040502050505030304" charset="0"/>
              </a:rPr>
              <a:t> серверах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endParaRPr lang="ru-RU" sz="2400" dirty="0">
              <a:solidFill>
                <a:schemeClr val="tx1"/>
              </a:solidFill>
              <a:latin typeface="Palatino Linotype" panose="02040502050505030304" charset="0"/>
            </a:endParaRPr>
          </a:p>
          <a:p>
            <a:pPr marL="457200" indent="-457200">
              <a:buFont typeface="Wingdings" panose="05000000000000000000" pitchFamily="2" charset="2"/>
              <a:buChar char="§"/>
            </a:pPr>
            <a:endParaRPr lang="ru-RU" sz="2400" dirty="0">
              <a:latin typeface="Palatino Linotype" panose="02040502050505030304" charset="0"/>
            </a:endParaRPr>
          </a:p>
          <a:p>
            <a:pPr marL="457200" indent="-457200">
              <a:buFont typeface="Wingdings" panose="05000000000000000000" pitchFamily="2" charset="2"/>
              <a:buChar char="§"/>
            </a:pPr>
            <a:endParaRPr lang="ru-RU" sz="2400" dirty="0">
              <a:latin typeface="Palatino Linotype" panose="02040502050505030304" charset="0"/>
            </a:endParaRPr>
          </a:p>
        </p:txBody>
      </p:sp>
      <p:graphicFrame>
        <p:nvGraphicFramePr>
          <p:cNvPr id="6" name="Диаграмма 5"/>
          <p:cNvGraphicFramePr/>
          <p:nvPr/>
        </p:nvGraphicFramePr>
        <p:xfrm>
          <a:off x="647700" y="1506070"/>
          <a:ext cx="7175500" cy="459351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Диаграмма 3"/>
          <p:cNvGraphicFramePr/>
          <p:nvPr>
            <p:extLst>
              <p:ext uri="{D42A27DB-BD31-4B8C-83A1-F6EECF244321}">
                <p14:modId xmlns:p14="http://schemas.microsoft.com/office/powerpoint/2010/main" val="386596843"/>
              </p:ext>
            </p:extLst>
          </p:nvPr>
        </p:nvGraphicFramePr>
        <p:xfrm>
          <a:off x="647699" y="1584007"/>
          <a:ext cx="7162353" cy="459295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>
                <a:latin typeface="Palatino Linotype" panose="02040502050505030304" charset="0"/>
              </a:rPr>
              <a:t>Анализ сервиса самообслуживания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8063345" y="1825625"/>
            <a:ext cx="3759200" cy="4351338"/>
          </a:xfrm>
        </p:spPr>
        <p:txBody>
          <a:bodyPr>
            <a:normAutofit/>
          </a:bodyPr>
          <a:lstStyle/>
          <a:p>
            <a:pPr marL="342900" indent="-342900">
              <a:buFont typeface="Wingdings" panose="05000000000000000000" pitchFamily="2" charset="2"/>
              <a:buChar char="§"/>
            </a:pPr>
            <a:r>
              <a:rPr lang="ru-RU" sz="2400" dirty="0">
                <a:solidFill>
                  <a:schemeClr val="tx1"/>
                </a:solidFill>
                <a:latin typeface="Palatino Linotype" panose="02040502050505030304" charset="0"/>
              </a:rPr>
              <a:t>В новой т. т. на Чертановской преобладает самообслуживание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ru-RU" sz="2400" dirty="0">
                <a:solidFill>
                  <a:schemeClr val="tx1"/>
                </a:solidFill>
                <a:latin typeface="Palatino Linotype" panose="02040502050505030304" charset="0"/>
              </a:rPr>
              <a:t>Ср. длительность</a:t>
            </a:r>
            <a:r>
              <a:rPr lang="en-US" sz="2400" dirty="0">
                <a:solidFill>
                  <a:schemeClr val="tx1"/>
                </a:solidFill>
                <a:latin typeface="Palatino Linotype" panose="02040502050505030304" charset="0"/>
              </a:rPr>
              <a:t>:</a:t>
            </a:r>
            <a:endParaRPr lang="ru-RU" sz="2400" dirty="0">
              <a:solidFill>
                <a:schemeClr val="tx1"/>
              </a:solidFill>
              <a:latin typeface="Palatino Linotype" panose="0204050205050503030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400" b="1" dirty="0">
                <a:solidFill>
                  <a:srgbClr val="ED7D31"/>
                </a:solidFill>
              </a:rPr>
              <a:t>155сек.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400" b="1" dirty="0">
                <a:solidFill>
                  <a:srgbClr val="4472C4"/>
                </a:solidFill>
              </a:rPr>
              <a:t>71сек.</a:t>
            </a:r>
            <a:endParaRPr lang="ru-RU" sz="2400" dirty="0">
              <a:solidFill>
                <a:schemeClr val="tx1"/>
              </a:solidFill>
              <a:latin typeface="Palatino Linotype" panose="02040502050505030304" charset="0"/>
            </a:endParaRPr>
          </a:p>
          <a:p>
            <a:pPr marL="457200" indent="-457200">
              <a:buFont typeface="Wingdings" panose="05000000000000000000" pitchFamily="2" charset="2"/>
              <a:buChar char="§"/>
            </a:pPr>
            <a:endParaRPr lang="ru-RU" sz="2400" dirty="0">
              <a:latin typeface="Palatino Linotype" panose="02040502050505030304" charset="0"/>
            </a:endParaRPr>
          </a:p>
          <a:p>
            <a:pPr marL="457200" indent="-457200">
              <a:buFont typeface="Wingdings" panose="05000000000000000000" pitchFamily="2" charset="2"/>
              <a:buChar char="§"/>
            </a:pPr>
            <a:endParaRPr lang="ru-RU" sz="2400" dirty="0">
              <a:latin typeface="Palatino Linotype" panose="02040502050505030304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>
                <a:latin typeface="Palatino Linotype" panose="02040502050505030304" charset="0"/>
              </a:rPr>
              <a:t>Анализ сервиса самообслуживания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8063345" y="1825625"/>
            <a:ext cx="3759200" cy="4351338"/>
          </a:xfrm>
        </p:spPr>
        <p:txBody>
          <a:bodyPr>
            <a:normAutofit/>
          </a:bodyPr>
          <a:lstStyle/>
          <a:p>
            <a:pPr marL="342900" indent="-342900">
              <a:buFont typeface="Wingdings" panose="05000000000000000000" pitchFamily="2" charset="2"/>
              <a:buChar char="§"/>
            </a:pPr>
            <a:r>
              <a:rPr lang="ru-RU" sz="2400" dirty="0">
                <a:solidFill>
                  <a:schemeClr val="tx1"/>
                </a:solidFill>
                <a:latin typeface="Palatino Linotype" panose="02040502050505030304" charset="0"/>
              </a:rPr>
              <a:t>Открытие новой т. точки привело к росту доли самообслуживания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endParaRPr lang="ru-RU" sz="2400" dirty="0">
              <a:latin typeface="Palatino Linotype" panose="02040502050505030304" charset="0"/>
            </a:endParaRPr>
          </a:p>
        </p:txBody>
      </p:sp>
      <p:graphicFrame>
        <p:nvGraphicFramePr>
          <p:cNvPr id="5" name="Диаграмма 4"/>
          <p:cNvGraphicFramePr/>
          <p:nvPr/>
        </p:nvGraphicFramePr>
        <p:xfrm>
          <a:off x="647700" y="1584008"/>
          <a:ext cx="7205980" cy="435133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>
                <a:latin typeface="Palatino Linotype" panose="02040502050505030304" charset="0"/>
              </a:rPr>
              <a:t>Анализ продолжительности обслуживания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8063345" y="1825625"/>
            <a:ext cx="3759200" cy="4351338"/>
          </a:xfrm>
        </p:spPr>
        <p:txBody>
          <a:bodyPr>
            <a:normAutofit/>
          </a:bodyPr>
          <a:lstStyle/>
          <a:p>
            <a:pPr marL="457200" indent="-457200">
              <a:buFont typeface="Wingdings" panose="05000000000000000000" pitchFamily="2" charset="2"/>
              <a:buChar char="§"/>
            </a:pPr>
            <a:r>
              <a:rPr lang="ru-RU" sz="2400" dirty="0">
                <a:solidFill>
                  <a:schemeClr val="tx1"/>
                </a:solidFill>
                <a:latin typeface="Palatino Linotype" panose="02040502050505030304" charset="0"/>
              </a:rPr>
              <a:t>Аномально высокая длительность обслуживания 1-го сентября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ru-RU" sz="2400" dirty="0">
                <a:solidFill>
                  <a:schemeClr val="tx1"/>
                </a:solidFill>
                <a:latin typeface="Palatino Linotype" panose="02040502050505030304" charset="0"/>
              </a:rPr>
              <a:t>Рост длительности обслуживания 2-4 сентября </a:t>
            </a:r>
          </a:p>
        </p:txBody>
      </p:sp>
      <p:graphicFrame>
        <p:nvGraphicFramePr>
          <p:cNvPr id="4" name="Диаграмма 3"/>
          <p:cNvGraphicFramePr/>
          <p:nvPr/>
        </p:nvGraphicFramePr>
        <p:xfrm>
          <a:off x="647700" y="1825624"/>
          <a:ext cx="7211510" cy="435133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Диаграмма 4"/>
          <p:cNvGraphicFramePr/>
          <p:nvPr/>
        </p:nvGraphicFramePr>
        <p:xfrm>
          <a:off x="369455" y="1584008"/>
          <a:ext cx="7693890" cy="468947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8" name="Прямоугольник 7"/>
          <p:cNvSpPr/>
          <p:nvPr/>
        </p:nvSpPr>
        <p:spPr>
          <a:xfrm>
            <a:off x="3229337" y="2465408"/>
            <a:ext cx="1203767" cy="2303362"/>
          </a:xfrm>
          <a:prstGeom prst="rect">
            <a:avLst/>
          </a:prstGeom>
          <a:solidFill>
            <a:srgbClr val="FF0000">
              <a:alpha val="7000"/>
            </a:srgbClr>
          </a:solidFill>
          <a:ln w="25400">
            <a:solidFill>
              <a:srgbClr val="FF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>
                <a:latin typeface="Palatino Linotype" panose="02040502050505030304" charset="0"/>
              </a:rPr>
              <a:t>Анализ 1-го сентября (акция)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8063345" y="1825625"/>
            <a:ext cx="3759200" cy="4351338"/>
          </a:xfrm>
        </p:spPr>
        <p:txBody>
          <a:bodyPr>
            <a:normAutofit/>
          </a:bodyPr>
          <a:lstStyle/>
          <a:p>
            <a:pPr marL="457200" indent="-457200">
              <a:buFont typeface="Wingdings" panose="05000000000000000000" pitchFamily="2" charset="2"/>
              <a:buChar char="§"/>
            </a:pPr>
            <a:r>
              <a:rPr lang="ru-RU" sz="2400" dirty="0">
                <a:solidFill>
                  <a:schemeClr val="tx1"/>
                </a:solidFill>
                <a:latin typeface="Palatino Linotype" panose="02040502050505030304" charset="0"/>
              </a:rPr>
              <a:t>Рост числа транзакций на Ленинском и Вернадского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Диаграмма 3"/>
          <p:cNvGraphicFramePr/>
          <p:nvPr/>
        </p:nvGraphicFramePr>
        <p:xfrm>
          <a:off x="339810" y="1584008"/>
          <a:ext cx="7577691" cy="478861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8" name="Прямоугольник 7"/>
          <p:cNvSpPr/>
          <p:nvPr/>
        </p:nvSpPr>
        <p:spPr>
          <a:xfrm>
            <a:off x="3229337" y="4016414"/>
            <a:ext cx="1215341" cy="1030147"/>
          </a:xfrm>
          <a:prstGeom prst="rect">
            <a:avLst/>
          </a:prstGeom>
          <a:solidFill>
            <a:srgbClr val="FF0000">
              <a:alpha val="7000"/>
            </a:srgbClr>
          </a:solidFill>
          <a:ln w="25400">
            <a:solidFill>
              <a:srgbClr val="FF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>
                <a:latin typeface="Palatino Linotype" panose="02040502050505030304" charset="0"/>
              </a:rPr>
              <a:t>Анализ 1-го сентября </a:t>
            </a:r>
            <a:br>
              <a:rPr lang="ru-RU" dirty="0">
                <a:latin typeface="Palatino Linotype" panose="02040502050505030304" charset="0"/>
              </a:rPr>
            </a:br>
            <a:r>
              <a:rPr lang="ru-RU" dirty="0">
                <a:latin typeface="Palatino Linotype" panose="02040502050505030304" charset="0"/>
              </a:rPr>
              <a:t>(акция)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8063345" y="1825625"/>
            <a:ext cx="3759200" cy="4351338"/>
          </a:xfrm>
        </p:spPr>
        <p:txBody>
          <a:bodyPr>
            <a:normAutofit/>
          </a:bodyPr>
          <a:lstStyle/>
          <a:p>
            <a:pPr marL="457200" indent="-457200">
              <a:buFont typeface="Wingdings" panose="05000000000000000000" pitchFamily="2" charset="2"/>
              <a:buChar char="§"/>
            </a:pPr>
            <a:r>
              <a:rPr lang="ru-RU" sz="2400" dirty="0">
                <a:solidFill>
                  <a:schemeClr val="tx1"/>
                </a:solidFill>
                <a:latin typeface="Palatino Linotype" panose="02040502050505030304" charset="0"/>
              </a:rPr>
              <a:t>Рост числа транзакций на Ленинском и Вернадского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ru-RU" sz="2400" dirty="0">
                <a:solidFill>
                  <a:schemeClr val="tx1"/>
                </a:solidFill>
                <a:latin typeface="Palatino Linotype" panose="02040502050505030304" charset="0"/>
              </a:rPr>
              <a:t>Увеличение длительности транзакций на этих  т. точках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Диаграмма 3"/>
          <p:cNvGraphicFramePr/>
          <p:nvPr/>
        </p:nvGraphicFramePr>
        <p:xfrm>
          <a:off x="339810" y="1584008"/>
          <a:ext cx="7577691" cy="478861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8" name="Прямоугольник 7"/>
          <p:cNvSpPr/>
          <p:nvPr/>
        </p:nvSpPr>
        <p:spPr>
          <a:xfrm>
            <a:off x="1446836" y="2909572"/>
            <a:ext cx="1145894" cy="1662428"/>
          </a:xfrm>
          <a:prstGeom prst="rect">
            <a:avLst/>
          </a:prstGeom>
          <a:solidFill>
            <a:srgbClr val="FF0000">
              <a:alpha val="7000"/>
            </a:srgbClr>
          </a:solidFill>
          <a:ln w="25400">
            <a:solidFill>
              <a:srgbClr val="FF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>
                <a:latin typeface="Palatino Linotype" panose="02040502050505030304" charset="0"/>
              </a:rPr>
              <a:t>Анализ 1-го сентября </a:t>
            </a:r>
            <a:br>
              <a:rPr lang="ru-RU" dirty="0">
                <a:latin typeface="Palatino Linotype" panose="02040502050505030304" charset="0"/>
              </a:rPr>
            </a:br>
            <a:r>
              <a:rPr lang="ru-RU" dirty="0">
                <a:latin typeface="Palatino Linotype" panose="02040502050505030304" charset="0"/>
              </a:rPr>
              <a:t>(сбои)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8063345" y="1825625"/>
            <a:ext cx="3759200" cy="4351338"/>
          </a:xfrm>
        </p:spPr>
        <p:txBody>
          <a:bodyPr>
            <a:normAutofit/>
          </a:bodyPr>
          <a:lstStyle/>
          <a:p>
            <a:pPr marL="457200" indent="-457200">
              <a:buFont typeface="Wingdings" panose="05000000000000000000" pitchFamily="2" charset="2"/>
              <a:buChar char="§"/>
            </a:pPr>
            <a:r>
              <a:rPr lang="ru-RU" sz="2400" dirty="0">
                <a:solidFill>
                  <a:schemeClr val="tx1"/>
                </a:solidFill>
                <a:latin typeface="Palatino Linotype" panose="02040502050505030304" charset="0"/>
              </a:rPr>
              <a:t>Увеличение продолжительности транзакций на Щорса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Диаграмма 5"/>
          <p:cNvGraphicFramePr/>
          <p:nvPr/>
        </p:nvGraphicFramePr>
        <p:xfrm>
          <a:off x="369455" y="1584008"/>
          <a:ext cx="7559203" cy="47341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8" name="Прямоугольник 7"/>
          <p:cNvSpPr/>
          <p:nvPr/>
        </p:nvSpPr>
        <p:spPr>
          <a:xfrm>
            <a:off x="1666754" y="2777924"/>
            <a:ext cx="1203767" cy="995423"/>
          </a:xfrm>
          <a:prstGeom prst="rect">
            <a:avLst/>
          </a:prstGeom>
          <a:solidFill>
            <a:srgbClr val="ED7D31">
              <a:alpha val="5000"/>
            </a:srgbClr>
          </a:solidFill>
          <a:ln w="25400">
            <a:solidFill>
              <a:srgbClr val="ED7D3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47699" y="258445"/>
            <a:ext cx="11174845" cy="1325563"/>
          </a:xfrm>
        </p:spPr>
        <p:txBody>
          <a:bodyPr/>
          <a:lstStyle/>
          <a:p>
            <a:r>
              <a:rPr lang="ru-RU" dirty="0">
                <a:latin typeface="Palatino Linotype" panose="02040502050505030304" charset="0"/>
              </a:rPr>
              <a:t>Анализ 1-го сентября </a:t>
            </a:r>
            <a:br>
              <a:rPr lang="ru-RU" dirty="0">
                <a:latin typeface="Palatino Linotype" panose="02040502050505030304" charset="0"/>
              </a:rPr>
            </a:br>
            <a:r>
              <a:rPr lang="ru-RU" dirty="0">
                <a:latin typeface="Palatino Linotype" panose="02040502050505030304" charset="0"/>
              </a:rPr>
              <a:t>(платёжные системы)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8063345" y="1825625"/>
            <a:ext cx="3759200" cy="4351338"/>
          </a:xfrm>
        </p:spPr>
        <p:txBody>
          <a:bodyPr>
            <a:normAutofit/>
          </a:bodyPr>
          <a:lstStyle/>
          <a:p>
            <a:pPr marL="457200" indent="-457200">
              <a:buFont typeface="Wingdings" panose="05000000000000000000" pitchFamily="2" charset="2"/>
              <a:buChar char="§"/>
            </a:pPr>
            <a:r>
              <a:rPr lang="ru-RU" sz="2400" dirty="0">
                <a:solidFill>
                  <a:schemeClr val="tx1"/>
                </a:solidFill>
                <a:latin typeface="Palatino Linotype" panose="02040502050505030304" charset="0"/>
              </a:rPr>
              <a:t>Общее увеличение продолжительности транзакций из-за акций и сбоев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ru-RU" sz="2400" dirty="0">
                <a:solidFill>
                  <a:schemeClr val="tx1"/>
                </a:solidFill>
                <a:latin typeface="Palatino Linotype" panose="02040502050505030304" charset="0"/>
              </a:rPr>
              <a:t>Увеличение продолжительности транзакций с </a:t>
            </a:r>
            <a:r>
              <a:rPr lang="en-US" sz="2400" dirty="0">
                <a:solidFill>
                  <a:schemeClr val="tx1"/>
                </a:solidFill>
                <a:latin typeface="Palatino Linotype" panose="02040502050505030304" charset="0"/>
              </a:rPr>
              <a:t>MasterCard</a:t>
            </a:r>
            <a:endParaRPr lang="ru-RU" sz="2400" dirty="0">
              <a:solidFill>
                <a:schemeClr val="tx1"/>
              </a:solidFill>
              <a:latin typeface="Palatino Linotype" panose="02040502050505030304" charset="0"/>
            </a:endParaRPr>
          </a:p>
        </p:txBody>
      </p:sp>
      <p:sp>
        <p:nvSpPr>
          <p:cNvPr id="7" name="Прямоугольник 6"/>
          <p:cNvSpPr/>
          <p:nvPr/>
        </p:nvSpPr>
        <p:spPr>
          <a:xfrm>
            <a:off x="3555357" y="2495411"/>
            <a:ext cx="1514355" cy="1451556"/>
          </a:xfrm>
          <a:prstGeom prst="rect">
            <a:avLst/>
          </a:prstGeom>
          <a:solidFill>
            <a:srgbClr val="ED7D31">
              <a:alpha val="5000"/>
            </a:srgbClr>
          </a:solidFill>
          <a:ln w="25400">
            <a:solidFill>
              <a:srgbClr val="ED7D3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" name="Прямоугольник 8"/>
          <p:cNvSpPr/>
          <p:nvPr/>
        </p:nvSpPr>
        <p:spPr>
          <a:xfrm>
            <a:off x="5204399" y="2597786"/>
            <a:ext cx="1609201" cy="1175561"/>
          </a:xfrm>
          <a:prstGeom prst="rect">
            <a:avLst/>
          </a:prstGeom>
          <a:solidFill>
            <a:srgbClr val="FF0000">
              <a:alpha val="7000"/>
            </a:srgbClr>
          </a:solidFill>
          <a:ln w="25400">
            <a:solidFill>
              <a:srgbClr val="FF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47699" y="258445"/>
            <a:ext cx="11174845" cy="1325563"/>
          </a:xfrm>
        </p:spPr>
        <p:txBody>
          <a:bodyPr/>
          <a:lstStyle/>
          <a:p>
            <a:r>
              <a:rPr lang="ru-RU" dirty="0">
                <a:latin typeface="Palatino Linotype" panose="02040502050505030304" charset="0"/>
              </a:rPr>
              <a:t>Анализ технических сбоев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8063345" y="1825625"/>
            <a:ext cx="3759200" cy="4351338"/>
          </a:xfrm>
        </p:spPr>
        <p:txBody>
          <a:bodyPr>
            <a:normAutofit/>
          </a:bodyPr>
          <a:lstStyle/>
          <a:p>
            <a:pPr marL="457200" indent="-457200">
              <a:buFont typeface="Wingdings" panose="05000000000000000000" pitchFamily="2" charset="2"/>
              <a:buChar char="§"/>
            </a:pPr>
            <a:r>
              <a:rPr lang="ru-RU" sz="2400" dirty="0">
                <a:solidFill>
                  <a:schemeClr val="tx1"/>
                </a:solidFill>
                <a:latin typeface="Palatino Linotype" panose="02040502050505030304" charset="0"/>
              </a:rPr>
              <a:t>Процентный прирост длительности транзакций = </a:t>
            </a:r>
            <a:r>
              <a:rPr lang="ru-RU" sz="2400" dirty="0">
                <a:solidFill>
                  <a:srgbClr val="FF0000"/>
                </a:solidFill>
                <a:latin typeface="Palatino Linotype" panose="02040502050505030304" charset="0"/>
              </a:rPr>
              <a:t>42,5</a:t>
            </a:r>
            <a:r>
              <a:rPr lang="en-US" sz="2400" dirty="0">
                <a:solidFill>
                  <a:schemeClr val="tx1"/>
                </a:solidFill>
                <a:latin typeface="Palatino Linotype" panose="02040502050505030304" charset="0"/>
              </a:rPr>
              <a:t>%</a:t>
            </a:r>
            <a:endParaRPr lang="ru-RU" sz="2400" dirty="0">
              <a:solidFill>
                <a:schemeClr val="tx1"/>
              </a:solidFill>
              <a:latin typeface="Palatino Linotype" panose="02040502050505030304" charset="0"/>
            </a:endParaRPr>
          </a:p>
        </p:txBody>
      </p:sp>
      <p:graphicFrame>
        <p:nvGraphicFramePr>
          <p:cNvPr id="4" name="Диаграмма 3"/>
          <p:cNvGraphicFramePr/>
          <p:nvPr/>
        </p:nvGraphicFramePr>
        <p:xfrm>
          <a:off x="647699" y="1584008"/>
          <a:ext cx="6482306" cy="480521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47699" y="258445"/>
            <a:ext cx="11174845" cy="1325563"/>
          </a:xfrm>
        </p:spPr>
        <p:txBody>
          <a:bodyPr/>
          <a:lstStyle/>
          <a:p>
            <a:r>
              <a:rPr lang="ru-RU" dirty="0">
                <a:latin typeface="Palatino Linotype" panose="02040502050505030304" charset="0"/>
              </a:rPr>
              <a:t>Анализ технических сбоев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8063345" y="1825625"/>
            <a:ext cx="3759200" cy="4351338"/>
          </a:xfrm>
        </p:spPr>
        <p:txBody>
          <a:bodyPr>
            <a:normAutofit/>
          </a:bodyPr>
          <a:lstStyle/>
          <a:p>
            <a:pPr marL="457200" indent="-457200">
              <a:buFont typeface="Wingdings" panose="05000000000000000000" pitchFamily="2" charset="2"/>
              <a:buChar char="§"/>
            </a:pPr>
            <a:r>
              <a:rPr lang="ru-RU" sz="2400" dirty="0">
                <a:solidFill>
                  <a:schemeClr val="tx1"/>
                </a:solidFill>
                <a:latin typeface="Palatino Linotype" panose="02040502050505030304" charset="0"/>
              </a:rPr>
              <a:t>Процентный прирост длительности транзакций = </a:t>
            </a:r>
            <a:r>
              <a:rPr lang="ru-RU" sz="2400" dirty="0">
                <a:solidFill>
                  <a:srgbClr val="FF0000"/>
                </a:solidFill>
                <a:latin typeface="Palatino Linotype" panose="02040502050505030304" charset="0"/>
              </a:rPr>
              <a:t>23,6</a:t>
            </a:r>
            <a:r>
              <a:rPr lang="en-US" sz="2400" dirty="0">
                <a:solidFill>
                  <a:schemeClr val="tx1"/>
                </a:solidFill>
                <a:latin typeface="Palatino Linotype" panose="02040502050505030304" charset="0"/>
              </a:rPr>
              <a:t>%</a:t>
            </a:r>
            <a:endParaRPr lang="ru-RU" sz="2400" dirty="0">
              <a:solidFill>
                <a:schemeClr val="tx1"/>
              </a:solidFill>
              <a:latin typeface="Palatino Linotype" panose="02040502050505030304" charset="0"/>
            </a:endParaRPr>
          </a:p>
        </p:txBody>
      </p:sp>
      <p:graphicFrame>
        <p:nvGraphicFramePr>
          <p:cNvPr id="5" name="Диаграмма 4"/>
          <p:cNvGraphicFramePr/>
          <p:nvPr>
            <p:extLst>
              <p:ext uri="{D42A27DB-BD31-4B8C-83A1-F6EECF244321}">
                <p14:modId xmlns:p14="http://schemas.microsoft.com/office/powerpoint/2010/main" val="2938322965"/>
              </p:ext>
            </p:extLst>
          </p:nvPr>
        </p:nvGraphicFramePr>
        <p:xfrm>
          <a:off x="647699" y="1584007"/>
          <a:ext cx="6445828" cy="477061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47699" y="258445"/>
            <a:ext cx="11174845" cy="1325563"/>
          </a:xfrm>
        </p:spPr>
        <p:txBody>
          <a:bodyPr/>
          <a:lstStyle/>
          <a:p>
            <a:r>
              <a:rPr lang="ru-RU" dirty="0">
                <a:latin typeface="Palatino Linotype" panose="02040502050505030304" charset="0"/>
              </a:rPr>
              <a:t>Анализ технических сбоев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8063345" y="1825625"/>
            <a:ext cx="3759200" cy="4351338"/>
          </a:xfrm>
        </p:spPr>
        <p:txBody>
          <a:bodyPr>
            <a:normAutofit/>
          </a:bodyPr>
          <a:lstStyle/>
          <a:p>
            <a:pPr marL="457200" indent="-457200">
              <a:buFont typeface="Wingdings" panose="05000000000000000000" pitchFamily="2" charset="2"/>
              <a:buChar char="§"/>
            </a:pPr>
            <a:r>
              <a:rPr lang="ru-RU" sz="2400" dirty="0">
                <a:solidFill>
                  <a:schemeClr val="tx1"/>
                </a:solidFill>
                <a:latin typeface="Palatino Linotype" panose="02040502050505030304" charset="0"/>
              </a:rPr>
              <a:t>Процентный прирост длительности транзакций = </a:t>
            </a:r>
            <a:r>
              <a:rPr lang="ru-RU" sz="2400" dirty="0">
                <a:solidFill>
                  <a:srgbClr val="FF0000"/>
                </a:solidFill>
                <a:latin typeface="Palatino Linotype" panose="02040502050505030304" charset="0"/>
              </a:rPr>
              <a:t>69,1</a:t>
            </a:r>
            <a:r>
              <a:rPr lang="en-US" sz="2400" dirty="0">
                <a:solidFill>
                  <a:schemeClr val="tx1"/>
                </a:solidFill>
                <a:latin typeface="Palatino Linotype" panose="02040502050505030304" charset="0"/>
              </a:rPr>
              <a:t>%</a:t>
            </a:r>
            <a:endParaRPr lang="ru-RU" sz="2400" dirty="0">
              <a:solidFill>
                <a:schemeClr val="tx1"/>
              </a:solidFill>
              <a:latin typeface="Palatino Linotype" panose="02040502050505030304" charset="0"/>
            </a:endParaRPr>
          </a:p>
        </p:txBody>
      </p:sp>
      <p:graphicFrame>
        <p:nvGraphicFramePr>
          <p:cNvPr id="5" name="Диаграмма 4"/>
          <p:cNvGraphicFramePr/>
          <p:nvPr/>
        </p:nvGraphicFramePr>
        <p:xfrm>
          <a:off x="647699" y="1584008"/>
          <a:ext cx="6447581" cy="472419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47699" y="258445"/>
            <a:ext cx="11174845" cy="1325563"/>
          </a:xfrm>
        </p:spPr>
        <p:txBody>
          <a:bodyPr/>
          <a:lstStyle/>
          <a:p>
            <a:r>
              <a:rPr lang="ru-RU" dirty="0">
                <a:latin typeface="Palatino Linotype" panose="02040502050505030304" charset="0"/>
              </a:rPr>
              <a:t>Анализ маркетинговой акции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8063345" y="1825625"/>
            <a:ext cx="3759200" cy="1866699"/>
          </a:xfrm>
        </p:spPr>
        <p:txBody>
          <a:bodyPr>
            <a:normAutofit/>
          </a:bodyPr>
          <a:lstStyle/>
          <a:p>
            <a:pPr marL="457200" indent="-457200">
              <a:buFont typeface="Wingdings" panose="05000000000000000000" pitchFamily="2" charset="2"/>
              <a:buChar char="§"/>
            </a:pPr>
            <a:r>
              <a:rPr lang="ru-RU" sz="2400" dirty="0">
                <a:solidFill>
                  <a:schemeClr val="tx1"/>
                </a:solidFill>
                <a:latin typeface="Palatino Linotype" panose="02040502050505030304" charset="0"/>
              </a:rPr>
              <a:t>Увеличение суммы переводов на момент акции способствовало её успеху</a:t>
            </a:r>
          </a:p>
        </p:txBody>
      </p:sp>
      <p:graphicFrame>
        <p:nvGraphicFramePr>
          <p:cNvPr id="4" name="Диаграмма 3"/>
          <p:cNvGraphicFramePr/>
          <p:nvPr/>
        </p:nvGraphicFramePr>
        <p:xfrm>
          <a:off x="647699" y="1584008"/>
          <a:ext cx="7415646" cy="459295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6" name="Прямоугольник 5"/>
          <p:cNvSpPr/>
          <p:nvPr/>
        </p:nvSpPr>
        <p:spPr>
          <a:xfrm>
            <a:off x="8063345" y="3958542"/>
            <a:ext cx="3759200" cy="428263"/>
          </a:xfrm>
          <a:prstGeom prst="rect">
            <a:avLst/>
          </a:prstGeom>
          <a:solidFill>
            <a:srgbClr val="00B050">
              <a:alpha val="5000"/>
            </a:srgbClr>
          </a:solidFill>
          <a:ln w="28575">
            <a:solidFill>
              <a:srgbClr val="00B05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dirty="0">
                <a:latin typeface="Palatino Linotype" panose="02040502050505030304" charset="0"/>
              </a:rPr>
              <a:t>Прирост выручки</a:t>
            </a:r>
            <a:r>
              <a:rPr lang="en-US" dirty="0">
                <a:latin typeface="Palatino Linotype" panose="02040502050505030304" charset="0"/>
              </a:rPr>
              <a:t>:</a:t>
            </a:r>
            <a:r>
              <a:rPr lang="ru-RU" dirty="0">
                <a:latin typeface="Palatino Linotype" panose="02040502050505030304" charset="0"/>
              </a:rPr>
              <a:t> 5</a:t>
            </a:r>
            <a:r>
              <a:rPr lang="en-US" dirty="0">
                <a:latin typeface="Palatino Linotype" panose="02040502050505030304" charset="0"/>
              </a:rPr>
              <a:t>’</a:t>
            </a:r>
            <a:r>
              <a:rPr lang="ru-RU" dirty="0">
                <a:latin typeface="Palatino Linotype" panose="02040502050505030304" charset="0"/>
              </a:rPr>
              <a:t>06</a:t>
            </a:r>
            <a:r>
              <a:rPr lang="en-US" dirty="0">
                <a:latin typeface="Palatino Linotype" panose="02040502050505030304" charset="0"/>
              </a:rPr>
              <a:t>9’</a:t>
            </a:r>
            <a:r>
              <a:rPr lang="ru-RU" dirty="0">
                <a:latin typeface="Palatino Linotype" panose="02040502050505030304" charset="0"/>
              </a:rPr>
              <a:t>497 р. </a:t>
            </a:r>
          </a:p>
        </p:txBody>
      </p:sp>
      <p:sp>
        <p:nvSpPr>
          <p:cNvPr id="7" name="Прямоугольник 6"/>
          <p:cNvSpPr/>
          <p:nvPr/>
        </p:nvSpPr>
        <p:spPr>
          <a:xfrm>
            <a:off x="8063344" y="4753789"/>
            <a:ext cx="3759200" cy="428263"/>
          </a:xfrm>
          <a:prstGeom prst="rect">
            <a:avLst/>
          </a:prstGeom>
          <a:solidFill>
            <a:srgbClr val="FF0000">
              <a:alpha val="5000"/>
            </a:srgbClr>
          </a:solidFill>
          <a:ln w="28575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dirty="0">
                <a:latin typeface="Palatino Linotype" panose="02040502050505030304" charset="0"/>
              </a:rPr>
              <a:t>Косты</a:t>
            </a:r>
            <a:r>
              <a:rPr lang="en-US" dirty="0">
                <a:latin typeface="Palatino Linotype" panose="02040502050505030304" charset="0"/>
              </a:rPr>
              <a:t>:</a:t>
            </a:r>
            <a:r>
              <a:rPr lang="ru-RU" dirty="0">
                <a:latin typeface="Palatino Linotype" panose="02040502050505030304" charset="0"/>
              </a:rPr>
              <a:t> 2</a:t>
            </a:r>
            <a:r>
              <a:rPr lang="en-US" dirty="0">
                <a:latin typeface="Palatino Linotype" panose="02040502050505030304" charset="0"/>
              </a:rPr>
              <a:t>’</a:t>
            </a:r>
            <a:r>
              <a:rPr lang="ru-RU" dirty="0">
                <a:latin typeface="Palatino Linotype" panose="02040502050505030304" charset="0"/>
              </a:rPr>
              <a:t>418</a:t>
            </a:r>
            <a:r>
              <a:rPr lang="en-US" dirty="0">
                <a:latin typeface="Palatino Linotype" panose="02040502050505030304" charset="0"/>
              </a:rPr>
              <a:t>’</a:t>
            </a:r>
            <a:r>
              <a:rPr lang="ru-RU" dirty="0">
                <a:latin typeface="Palatino Linotype" panose="02040502050505030304" charset="0"/>
              </a:rPr>
              <a:t>500 р. </a:t>
            </a:r>
          </a:p>
        </p:txBody>
      </p:sp>
      <p:sp>
        <p:nvSpPr>
          <p:cNvPr id="8" name="Прямоугольник 7"/>
          <p:cNvSpPr/>
          <p:nvPr/>
        </p:nvSpPr>
        <p:spPr>
          <a:xfrm>
            <a:off x="8063344" y="5549037"/>
            <a:ext cx="3759200" cy="428263"/>
          </a:xfrm>
          <a:prstGeom prst="rect">
            <a:avLst/>
          </a:prstGeom>
          <a:solidFill>
            <a:srgbClr val="FFC000">
              <a:alpha val="5000"/>
            </a:srgbClr>
          </a:solidFill>
          <a:ln w="28575">
            <a:solidFill>
              <a:srgbClr val="FFC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dirty="0">
                <a:latin typeface="Palatino Linotype" panose="02040502050505030304" charset="0"/>
              </a:rPr>
              <a:t>Прибыль</a:t>
            </a:r>
            <a:r>
              <a:rPr lang="en-US" dirty="0">
                <a:latin typeface="Palatino Linotype" panose="02040502050505030304" charset="0"/>
              </a:rPr>
              <a:t>:</a:t>
            </a:r>
            <a:r>
              <a:rPr lang="ru-RU" dirty="0">
                <a:latin typeface="Palatino Linotype" panose="02040502050505030304" charset="0"/>
              </a:rPr>
              <a:t> 2</a:t>
            </a:r>
            <a:r>
              <a:rPr lang="en-US" dirty="0">
                <a:latin typeface="Palatino Linotype" panose="02040502050505030304" charset="0"/>
              </a:rPr>
              <a:t>’650’997</a:t>
            </a:r>
            <a:r>
              <a:rPr lang="ru-RU" dirty="0">
                <a:latin typeface="Palatino Linotype" panose="02040502050505030304" charset="0"/>
              </a:rPr>
              <a:t> р. </a:t>
            </a:r>
          </a:p>
        </p:txBody>
      </p:sp>
      <p:sp>
        <p:nvSpPr>
          <p:cNvPr id="9" name="Знак ''минус'' 8"/>
          <p:cNvSpPr/>
          <p:nvPr/>
        </p:nvSpPr>
        <p:spPr>
          <a:xfrm>
            <a:off x="9694088" y="4477355"/>
            <a:ext cx="497712" cy="185195"/>
          </a:xfrm>
          <a:prstGeom prst="mathMinus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0" name="Равно 9"/>
          <p:cNvSpPr/>
          <p:nvPr/>
        </p:nvSpPr>
        <p:spPr>
          <a:xfrm>
            <a:off x="9694088" y="5237909"/>
            <a:ext cx="497712" cy="255270"/>
          </a:xfrm>
          <a:prstGeom prst="mathEqual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47699" y="258445"/>
            <a:ext cx="11174845" cy="1325563"/>
          </a:xfrm>
        </p:spPr>
        <p:txBody>
          <a:bodyPr/>
          <a:lstStyle/>
          <a:p>
            <a:r>
              <a:rPr lang="ru-RU" dirty="0">
                <a:latin typeface="Palatino Linotype" panose="02040502050505030304" charset="0"/>
              </a:rPr>
              <a:t>Анализ изменения программы лояльности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8063345" y="1825625"/>
            <a:ext cx="3759200" cy="4351338"/>
          </a:xfrm>
        </p:spPr>
        <p:txBody>
          <a:bodyPr>
            <a:normAutofit/>
          </a:bodyPr>
          <a:lstStyle/>
          <a:p>
            <a:pPr marL="457200" indent="-457200">
              <a:buFont typeface="Wingdings" panose="05000000000000000000" pitchFamily="2" charset="2"/>
              <a:buChar char="§"/>
            </a:pPr>
            <a:r>
              <a:rPr lang="ru-RU" sz="2400" dirty="0">
                <a:solidFill>
                  <a:schemeClr val="tx1"/>
                </a:solidFill>
                <a:latin typeface="Palatino Linotype" panose="02040502050505030304" charset="0"/>
              </a:rPr>
              <a:t>Средневзвешенные потери на клиента снизятся на </a:t>
            </a:r>
            <a:r>
              <a:rPr lang="ru-RU" sz="2400" dirty="0">
                <a:solidFill>
                  <a:srgbClr val="FF0000"/>
                </a:solidFill>
                <a:latin typeface="Palatino Linotype" panose="02040502050505030304" charset="0"/>
              </a:rPr>
              <a:t>12,6</a:t>
            </a:r>
            <a:r>
              <a:rPr lang="ru-RU" sz="2400" dirty="0">
                <a:solidFill>
                  <a:schemeClr val="tx1"/>
                </a:solidFill>
                <a:latin typeface="Palatino Linotype" panose="02040502050505030304" charset="0"/>
              </a:rPr>
              <a:t>%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ru-RU" sz="2400" dirty="0">
                <a:solidFill>
                  <a:schemeClr val="tx1"/>
                </a:solidFill>
                <a:latin typeface="Palatino Linotype" panose="02040502050505030304" charset="0"/>
              </a:rPr>
              <a:t>Суммарные убытки снизятся на </a:t>
            </a:r>
            <a:r>
              <a:rPr lang="ru-RU" sz="2400" dirty="0">
                <a:solidFill>
                  <a:srgbClr val="FF0000"/>
                </a:solidFill>
                <a:latin typeface="Palatino Linotype" panose="02040502050505030304" charset="0"/>
              </a:rPr>
              <a:t>504</a:t>
            </a:r>
            <a:r>
              <a:rPr lang="en-US" sz="2400" dirty="0">
                <a:solidFill>
                  <a:srgbClr val="FF0000"/>
                </a:solidFill>
                <a:latin typeface="Palatino Linotype" panose="02040502050505030304" charset="0"/>
              </a:rPr>
              <a:t>’</a:t>
            </a:r>
            <a:r>
              <a:rPr lang="ru-RU" sz="2400" dirty="0">
                <a:solidFill>
                  <a:srgbClr val="FF0000"/>
                </a:solidFill>
                <a:latin typeface="Palatino Linotype" panose="02040502050505030304" charset="0"/>
              </a:rPr>
              <a:t>952</a:t>
            </a:r>
            <a:r>
              <a:rPr lang="ru-RU" sz="2400" dirty="0">
                <a:solidFill>
                  <a:schemeClr val="tx1"/>
                </a:solidFill>
                <a:latin typeface="Palatino Linotype" panose="02040502050505030304" charset="0"/>
              </a:rPr>
              <a:t> р.</a:t>
            </a:r>
          </a:p>
        </p:txBody>
      </p:sp>
      <p:graphicFrame>
        <p:nvGraphicFramePr>
          <p:cNvPr id="4" name="Диаграмма 3"/>
          <p:cNvGraphicFramePr/>
          <p:nvPr/>
        </p:nvGraphicFramePr>
        <p:xfrm>
          <a:off x="647698" y="1825625"/>
          <a:ext cx="7304109" cy="449415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47699" y="258445"/>
            <a:ext cx="11174845" cy="1325563"/>
          </a:xfrm>
        </p:spPr>
        <p:txBody>
          <a:bodyPr/>
          <a:lstStyle/>
          <a:p>
            <a:r>
              <a:rPr lang="ru-RU" dirty="0">
                <a:latin typeface="Palatino Linotype" panose="02040502050505030304" charset="0"/>
              </a:rPr>
              <a:t>Дашборд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7878151" y="1404736"/>
            <a:ext cx="3759200" cy="1188721"/>
          </a:xfrm>
        </p:spPr>
        <p:txBody>
          <a:bodyPr>
            <a:normAutofit fontScale="92500"/>
          </a:bodyPr>
          <a:lstStyle/>
          <a:p>
            <a:r>
              <a:rPr lang="ru-RU" sz="2400" dirty="0">
                <a:solidFill>
                  <a:schemeClr val="tx1"/>
                </a:solidFill>
                <a:latin typeface="Palatino Linotype" panose="02040502050505030304" charset="0"/>
              </a:rPr>
              <a:t>Дашборд позволяет анализировать данные по 4-ём входным параметрам</a:t>
            </a:r>
          </a:p>
        </p:txBody>
      </p:sp>
      <p:graphicFrame>
        <p:nvGraphicFramePr>
          <p:cNvPr id="5" name="Таблица 4"/>
          <p:cNvGraphicFramePr>
            <a:graphicFrameLocks noGrp="1"/>
          </p:cNvGraphicFramePr>
          <p:nvPr/>
        </p:nvGraphicFramePr>
        <p:xfrm>
          <a:off x="647698" y="1404736"/>
          <a:ext cx="2871005" cy="1188720"/>
        </p:xfrm>
        <a:graphic>
          <a:graphicData uri="http://schemas.openxmlformats.org/drawingml/2006/table">
            <a:tbl>
              <a:tblPr/>
              <a:tblGrid>
                <a:gridCol w="186715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384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1536"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US" sz="1400" dirty="0">
                          <a:effectLst/>
                        </a:rPr>
                        <a:t>address</a:t>
                      </a:r>
                    </a:p>
                  </a:txBody>
                  <a:tcPr marL="22860" marR="22860" marT="15240" marB="15240" anchor="b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ru-RU" sz="1400" dirty="0">
                          <a:effectLst/>
                        </a:rPr>
                        <a:t>Ленинский пр-т, 162/1</a:t>
                      </a:r>
                    </a:p>
                  </a:txBody>
                  <a:tcPr marL="22860" marR="22860" marT="15240" marB="15240" anchor="b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7650"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US" sz="1400" dirty="0">
                          <a:effectLst/>
                        </a:rPr>
                        <a:t>currency</a:t>
                      </a:r>
                    </a:p>
                  </a:txBody>
                  <a:tcPr marL="22860" marR="22860" marT="15240" marB="15240" anchor="b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ru-RU" sz="1400" dirty="0">
                          <a:effectLst/>
                        </a:rPr>
                        <a:t>Рубль</a:t>
                      </a:r>
                    </a:p>
                  </a:txBody>
                  <a:tcPr marL="21600" marR="22860" marT="15240" marB="15240" anchor="b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7650"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US" sz="1400" dirty="0" err="1">
                          <a:effectLst/>
                        </a:rPr>
                        <a:t>min_sum</a:t>
                      </a:r>
                      <a:endParaRPr lang="en-US" sz="1400" dirty="0">
                        <a:effectLst/>
                      </a:endParaRPr>
                    </a:p>
                  </a:txBody>
                  <a:tcPr marL="22860" marR="22860" marT="15240" marB="15240" anchor="b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">
                        <a:buNone/>
                      </a:pPr>
                      <a:r>
                        <a:rPr lang="ru-RU" sz="1400" dirty="0">
                          <a:effectLst/>
                        </a:rPr>
                        <a:t>10</a:t>
                      </a:r>
                    </a:p>
                  </a:txBody>
                  <a:tcPr marL="22860" marR="22860" marT="15240" marB="15240" anchor="b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7650"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US" sz="1400" dirty="0" err="1">
                          <a:effectLst/>
                        </a:rPr>
                        <a:t>max_sum</a:t>
                      </a:r>
                      <a:endParaRPr lang="en-US" sz="1400" dirty="0">
                        <a:effectLst/>
                      </a:endParaRPr>
                    </a:p>
                  </a:txBody>
                  <a:tcPr marL="22860" marR="22860" marT="15240" marB="15240" anchor="b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">
                        <a:buNone/>
                      </a:pPr>
                      <a:r>
                        <a:rPr lang="ru-RU" sz="1400" dirty="0">
                          <a:effectLst/>
                        </a:rPr>
                        <a:t>50000</a:t>
                      </a:r>
                    </a:p>
                  </a:txBody>
                  <a:tcPr marL="22860" marR="22860" marT="15240" marB="15240" anchor="b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1288" y="2596792"/>
            <a:ext cx="6111288" cy="42612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42576" y="2596792"/>
            <a:ext cx="5618137" cy="42612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47699" y="258445"/>
            <a:ext cx="11174845" cy="1325563"/>
          </a:xfrm>
        </p:spPr>
        <p:txBody>
          <a:bodyPr/>
          <a:lstStyle/>
          <a:p>
            <a:r>
              <a:rPr lang="ru-RU" dirty="0">
                <a:latin typeface="Palatino Linotype" panose="02040502050505030304" charset="0"/>
              </a:rPr>
              <a:t>Дашборд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7785101" y="1995772"/>
            <a:ext cx="3759200" cy="1188721"/>
          </a:xfrm>
        </p:spPr>
        <p:txBody>
          <a:bodyPr>
            <a:normAutofit/>
          </a:bodyPr>
          <a:lstStyle/>
          <a:p>
            <a:r>
              <a:rPr lang="ru-RU" sz="2400" dirty="0">
                <a:solidFill>
                  <a:schemeClr val="tx1"/>
                </a:solidFill>
                <a:latin typeface="Palatino Linotype" panose="02040502050505030304" charset="0"/>
              </a:rPr>
              <a:t>Вторая часть дашборда позволяет рассчитывать данные о платежах </a:t>
            </a:r>
          </a:p>
        </p:txBody>
      </p:sp>
      <p:graphicFrame>
        <p:nvGraphicFramePr>
          <p:cNvPr id="6" name="Таблица 5"/>
          <p:cNvGraphicFramePr>
            <a:graphicFrameLocks noGrp="1"/>
          </p:cNvGraphicFramePr>
          <p:nvPr/>
        </p:nvGraphicFramePr>
        <p:xfrm>
          <a:off x="647699" y="1999096"/>
          <a:ext cx="3292708" cy="2407920"/>
        </p:xfrm>
        <a:graphic>
          <a:graphicData uri="http://schemas.openxmlformats.org/drawingml/2006/table">
            <a:tbl>
              <a:tblPr/>
              <a:tblGrid>
                <a:gridCol w="214141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5129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60020"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US">
                          <a:effectLst/>
                        </a:rPr>
                        <a:t>payCode</a:t>
                      </a:r>
                    </a:p>
                  </a:txBody>
                  <a:tcPr marL="22860" marR="22860" marT="15240" marB="15240" anchor="b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US">
                          <a:effectLst/>
                        </a:rPr>
                        <a:t>R_01</a:t>
                      </a:r>
                    </a:p>
                  </a:txBody>
                  <a:tcPr marL="22860" marR="22860" marT="15240" marB="15240" anchor="b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6BDC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0020"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US">
                          <a:effectLst/>
                        </a:rPr>
                        <a:t>name_system</a:t>
                      </a:r>
                    </a:p>
                  </a:txBody>
                  <a:tcPr marL="22860" marR="22860" marT="15240" marB="15240" anchor="b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US">
                          <a:effectLst/>
                        </a:rPr>
                        <a:t>Visa</a:t>
                      </a:r>
                    </a:p>
                  </a:txBody>
                  <a:tcPr marL="22860" marR="22860" marT="15240" marB="15240" anchor="b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6BDC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60020"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ru-RU">
                        <a:effectLst/>
                      </a:endParaRPr>
                    </a:p>
                  </a:txBody>
                  <a:tcPr marL="22860" marR="22860" marT="15240" marB="15240" anchor="b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ru-RU">
                        <a:effectLst/>
                      </a:endParaRPr>
                    </a:p>
                  </a:txBody>
                  <a:tcPr marL="22860" marR="22860" marT="15240" marB="15240" anchor="b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60020"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ru-RU" b="1">
                          <a:effectLst/>
                        </a:rPr>
                        <a:t>Свод</a:t>
                      </a:r>
                    </a:p>
                  </a:txBody>
                  <a:tcPr marL="22860" marR="22860" marT="15240" marB="15240" anchor="b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ru-RU">
                        <a:effectLst/>
                      </a:endParaRPr>
                    </a:p>
                  </a:txBody>
                  <a:tcPr marL="22860" marR="22860" marT="15240" marB="15240" anchor="b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60020"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ru-RU">
                          <a:effectLst/>
                        </a:rPr>
                        <a:t>Сумма платежей</a:t>
                      </a:r>
                    </a:p>
                  </a:txBody>
                  <a:tcPr marL="22860" marR="22860" marT="15240" marB="15240" anchor="b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ru-RU">
                          <a:effectLst/>
                        </a:rPr>
                        <a:t>р.1 923 681</a:t>
                      </a:r>
                    </a:p>
                  </a:txBody>
                  <a:tcPr marL="22860" marR="22860" marT="15240" marB="15240" anchor="b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60020"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ru-RU">
                          <a:effectLst/>
                        </a:rPr>
                        <a:t>Количество платежей</a:t>
                      </a:r>
                    </a:p>
                  </a:txBody>
                  <a:tcPr marL="22860" marR="22860" marT="15240" marB="15240" anchor="b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ru-RU">
                          <a:effectLst/>
                        </a:rPr>
                        <a:t>р.1 046</a:t>
                      </a:r>
                    </a:p>
                  </a:txBody>
                  <a:tcPr marL="22860" marR="22860" marT="15240" marB="15240" anchor="b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60020"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ru-RU">
                          <a:effectLst/>
                        </a:rPr>
                        <a:t>Средний платёж</a:t>
                      </a:r>
                    </a:p>
                  </a:txBody>
                  <a:tcPr marL="22860" marR="22860" marT="15240" marB="15240" anchor="b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ru-RU" dirty="0">
                          <a:effectLst/>
                        </a:rPr>
                        <a:t>р.1 839</a:t>
                      </a:r>
                    </a:p>
                  </a:txBody>
                  <a:tcPr marL="22860" marR="22860" marT="15240" marB="15240" anchor="b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pic>
        <p:nvPicPr>
          <p:cNvPr id="10" name="Рисунок 9"/>
          <p:cNvPicPr>
            <a:picLocks noChangeAspect="1"/>
          </p:cNvPicPr>
          <p:nvPr/>
        </p:nvPicPr>
        <p:blipFill>
          <a:blip r:embed="rId2"/>
          <a:srcRect b="28395"/>
          <a:stretch>
            <a:fillRect/>
          </a:stretch>
        </p:blipFill>
        <p:spPr>
          <a:xfrm>
            <a:off x="4545796" y="1981352"/>
            <a:ext cx="2419688" cy="2094144"/>
          </a:xfrm>
          <a:prstGeom prst="rect">
            <a:avLst/>
          </a:prstGeom>
        </p:spPr>
      </p:pic>
      <p:sp>
        <p:nvSpPr>
          <p:cNvPr id="11" name="Стрелка: вправо 10"/>
          <p:cNvSpPr/>
          <p:nvPr/>
        </p:nvSpPr>
        <p:spPr>
          <a:xfrm>
            <a:off x="4009855" y="2087687"/>
            <a:ext cx="466493" cy="162046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47699" y="258445"/>
            <a:ext cx="11174845" cy="1325563"/>
          </a:xfrm>
        </p:spPr>
        <p:txBody>
          <a:bodyPr/>
          <a:lstStyle/>
          <a:p>
            <a:r>
              <a:rPr lang="ru-RU" dirty="0">
                <a:latin typeface="Palatino Linotype" panose="02040502050505030304" charset="0"/>
              </a:rPr>
              <a:t>Корректировка отчёта калькулятора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647699" y="1584008"/>
            <a:ext cx="7216141" cy="4351338"/>
          </a:xfrm>
        </p:spPr>
        <p:txBody>
          <a:bodyPr>
            <a:normAutofit/>
          </a:bodyPr>
          <a:lstStyle/>
          <a:p>
            <a:pPr marL="457200" indent="-457200">
              <a:buClr>
                <a:srgbClr val="92D050"/>
              </a:buClr>
              <a:buFont typeface="Wingdings" panose="05000000000000000000" pitchFamily="2" charset="2"/>
              <a:buChar char="ü"/>
            </a:pPr>
            <a:r>
              <a:rPr lang="ru-RU" sz="2400" dirty="0">
                <a:solidFill>
                  <a:schemeClr val="tx1"/>
                </a:solidFill>
                <a:latin typeface="Palatino Linotype" panose="02040502050505030304" charset="0"/>
              </a:rPr>
              <a:t>Упрощён алгоритм работы калькулятора</a:t>
            </a:r>
          </a:p>
          <a:p>
            <a:pPr marL="457200" indent="-457200">
              <a:buClr>
                <a:srgbClr val="92D050"/>
              </a:buClr>
              <a:buFont typeface="Wingdings" panose="05000000000000000000" pitchFamily="2" charset="2"/>
              <a:buChar char="ü"/>
            </a:pPr>
            <a:r>
              <a:rPr lang="ru-RU" sz="2400" dirty="0">
                <a:solidFill>
                  <a:schemeClr val="tx1"/>
                </a:solidFill>
                <a:latin typeface="Palatino Linotype" panose="02040502050505030304" charset="0"/>
              </a:rPr>
              <a:t>Скорректирован расчёт стоимости</a:t>
            </a:r>
          </a:p>
          <a:p>
            <a:pPr marL="457200" indent="-457200">
              <a:buClr>
                <a:srgbClr val="92D050"/>
              </a:buClr>
              <a:buFont typeface="Wingdings" panose="05000000000000000000" pitchFamily="2" charset="2"/>
              <a:buChar char="ü"/>
            </a:pPr>
            <a:r>
              <a:rPr lang="ru-RU" sz="2400" dirty="0">
                <a:solidFill>
                  <a:schemeClr val="tx1"/>
                </a:solidFill>
                <a:latin typeface="Palatino Linotype" panose="02040502050505030304" charset="0"/>
              </a:rPr>
              <a:t>Учтены скидки. Экономия</a:t>
            </a:r>
            <a:r>
              <a:rPr lang="en-US" sz="2400" dirty="0">
                <a:solidFill>
                  <a:schemeClr val="tx1"/>
                </a:solidFill>
                <a:latin typeface="Palatino Linotype" panose="02040502050505030304" charset="0"/>
              </a:rPr>
              <a:t>: </a:t>
            </a:r>
            <a:r>
              <a:rPr lang="en-US" sz="2400" dirty="0">
                <a:solidFill>
                  <a:srgbClr val="92D050"/>
                </a:solidFill>
                <a:latin typeface="Palatino Linotype" panose="02040502050505030304" charset="0"/>
              </a:rPr>
              <a:t>1’942</a:t>
            </a:r>
            <a:r>
              <a:rPr lang="ru-RU" sz="2400" dirty="0">
                <a:solidFill>
                  <a:schemeClr val="tx1"/>
                </a:solidFill>
                <a:latin typeface="Palatino Linotype" panose="02040502050505030304" charset="0"/>
              </a:rPr>
              <a:t> р.</a:t>
            </a:r>
          </a:p>
          <a:p>
            <a:pPr marL="457200" indent="-457200">
              <a:buClr>
                <a:srgbClr val="92D050"/>
              </a:buClr>
              <a:buFont typeface="Wingdings" panose="05000000000000000000" pitchFamily="2" charset="2"/>
              <a:buChar char="ü"/>
            </a:pPr>
            <a:r>
              <a:rPr lang="ru-RU" sz="2400" dirty="0">
                <a:solidFill>
                  <a:schemeClr val="tx1"/>
                </a:solidFill>
                <a:latin typeface="Palatino Linotype" panose="02040502050505030304" charset="0"/>
              </a:rPr>
              <a:t>Рассчитана финальная сумма затрат</a:t>
            </a:r>
            <a:r>
              <a:rPr lang="en-US" sz="2400" dirty="0">
                <a:solidFill>
                  <a:schemeClr val="tx1"/>
                </a:solidFill>
                <a:latin typeface="Palatino Linotype" panose="02040502050505030304" charset="0"/>
              </a:rPr>
              <a:t>: </a:t>
            </a:r>
            <a:r>
              <a:rPr lang="ru-RU" sz="2400" dirty="0">
                <a:solidFill>
                  <a:srgbClr val="FF0000"/>
                </a:solidFill>
                <a:latin typeface="Palatino Linotype" panose="02040502050505030304" charset="0"/>
              </a:rPr>
              <a:t>39</a:t>
            </a:r>
            <a:r>
              <a:rPr lang="en-US" sz="2400" dirty="0">
                <a:solidFill>
                  <a:srgbClr val="FF0000"/>
                </a:solidFill>
                <a:latin typeface="Palatino Linotype" panose="02040502050505030304" charset="0"/>
              </a:rPr>
              <a:t>’</a:t>
            </a:r>
            <a:r>
              <a:rPr lang="ru-RU" sz="2400" dirty="0">
                <a:solidFill>
                  <a:srgbClr val="FF0000"/>
                </a:solidFill>
                <a:latin typeface="Palatino Linotype" panose="02040502050505030304" charset="0"/>
              </a:rPr>
              <a:t>496</a:t>
            </a:r>
            <a:r>
              <a:rPr lang="ru-RU" sz="2400" dirty="0">
                <a:solidFill>
                  <a:schemeClr val="tx1"/>
                </a:solidFill>
                <a:latin typeface="Palatino Linotype" panose="02040502050505030304" charset="0"/>
              </a:rPr>
              <a:t> р.</a:t>
            </a:r>
            <a:endParaRPr lang="en-US" sz="2400" dirty="0">
              <a:solidFill>
                <a:schemeClr val="tx1"/>
              </a:solidFill>
              <a:latin typeface="Palatino Linotype" panose="02040502050505030304" charset="0"/>
            </a:endParaRPr>
          </a:p>
          <a:p>
            <a:pPr marL="457200" indent="-457200">
              <a:buClr>
                <a:srgbClr val="92D050"/>
              </a:buClr>
              <a:buFont typeface="Wingdings" panose="05000000000000000000" pitchFamily="2" charset="2"/>
              <a:buChar char="ü"/>
            </a:pPr>
            <a:endParaRPr lang="ru-RU" sz="2400" dirty="0">
              <a:solidFill>
                <a:schemeClr val="tx1"/>
              </a:solidFill>
              <a:latin typeface="Palatino Linotype" panose="02040502050505030304" charset="0"/>
            </a:endParaRPr>
          </a:p>
          <a:p>
            <a:pPr>
              <a:buClr>
                <a:srgbClr val="92D050"/>
              </a:buClr>
            </a:pPr>
            <a:endParaRPr lang="ru-RU" sz="2400" dirty="0">
              <a:solidFill>
                <a:schemeClr val="tx1"/>
              </a:solidFill>
              <a:latin typeface="Palatino Linotype" panose="02040502050505030304" charset="0"/>
            </a:endParaRPr>
          </a:p>
          <a:p>
            <a:pPr marL="457200" indent="-457200">
              <a:buFont typeface="Wingdings" panose="05000000000000000000" pitchFamily="2" charset="2"/>
              <a:buChar char="§"/>
            </a:pPr>
            <a:endParaRPr lang="ru-RU" sz="2400" dirty="0">
              <a:solidFill>
                <a:schemeClr val="tx1"/>
              </a:solidFill>
              <a:latin typeface="Palatino Linotype" panose="02040502050505030304" charset="0"/>
            </a:endParaRPr>
          </a:p>
          <a:p>
            <a:pPr marL="457200" indent="-457200">
              <a:buFont typeface="Wingdings" panose="05000000000000000000" pitchFamily="2" charset="2"/>
              <a:buChar char="§"/>
            </a:pPr>
            <a:endParaRPr lang="ru-RU" sz="2400" dirty="0">
              <a:solidFill>
                <a:schemeClr val="tx1"/>
              </a:solidFill>
              <a:latin typeface="Palatino Linotype" panose="02040502050505030304" charset="0"/>
            </a:endParaRPr>
          </a:p>
        </p:txBody>
      </p:sp>
      <p:graphicFrame>
        <p:nvGraphicFramePr>
          <p:cNvPr id="7" name="Таблица 6"/>
          <p:cNvGraphicFramePr>
            <a:graphicFrameLocks noGrp="1"/>
          </p:cNvGraphicFramePr>
          <p:nvPr/>
        </p:nvGraphicFramePr>
        <p:xfrm>
          <a:off x="1176018" y="3616960"/>
          <a:ext cx="6159502" cy="13919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0907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826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9594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9016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4798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ru-RU" sz="1600" b="1" u="none" strike="noStrike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charset="0"/>
                        </a:rPr>
                        <a:t>Сервер</a:t>
                      </a:r>
                      <a:endParaRPr lang="ru-RU" sz="1600" b="1" i="0" u="none" strike="noStrike" dirty="0">
                        <a:solidFill>
                          <a:schemeClr val="tx1"/>
                        </a:solidFill>
                        <a:effectLst/>
                        <a:latin typeface="Palatino Linotype" panose="02040502050505030304" charset="0"/>
                      </a:endParaRPr>
                    </a:p>
                  </a:txBody>
                  <a:tcPr marL="7620" marR="7620" marT="7620" marB="0" anchor="b">
                    <a:solidFill>
                      <a:srgbClr val="92D050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ru-RU" sz="1600" b="1" u="none" strike="noStrike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charset="0"/>
                        </a:rPr>
                        <a:t>Скидка</a:t>
                      </a:r>
                      <a:endParaRPr lang="ru-RU" sz="1600" b="1" i="0" u="none" strike="noStrike" dirty="0">
                        <a:solidFill>
                          <a:schemeClr val="tx1"/>
                        </a:solidFill>
                        <a:effectLst/>
                        <a:latin typeface="Palatino Linotype" panose="02040502050505030304" charset="0"/>
                      </a:endParaRPr>
                    </a:p>
                  </a:txBody>
                  <a:tcPr marL="7620" marR="7620" marT="7620" marB="0" anchor="b">
                    <a:solidFill>
                      <a:srgbClr val="92D050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ru-RU" sz="1600" b="1" u="none" strike="noStrike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charset="0"/>
                        </a:rPr>
                        <a:t>Кол-во операций</a:t>
                      </a:r>
                      <a:endParaRPr lang="ru-RU" sz="1600" b="1" i="0" u="none" strike="noStrike" dirty="0">
                        <a:solidFill>
                          <a:schemeClr val="tx1"/>
                        </a:solidFill>
                        <a:effectLst/>
                        <a:latin typeface="Palatino Linotype" panose="02040502050505030304" charset="0"/>
                      </a:endParaRPr>
                    </a:p>
                  </a:txBody>
                  <a:tcPr marL="7620" marR="7620" marT="7620" marB="0" anchor="b">
                    <a:solidFill>
                      <a:srgbClr val="92D050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ru-RU" sz="1600" b="1" u="none" strike="noStrike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charset="0"/>
                        </a:rPr>
                        <a:t>Экономия</a:t>
                      </a:r>
                      <a:endParaRPr lang="ru-RU" sz="1600" b="1" i="0" u="none" strike="noStrike" dirty="0">
                        <a:solidFill>
                          <a:schemeClr val="tx1"/>
                        </a:solidFill>
                        <a:effectLst/>
                        <a:latin typeface="Palatino Linotype" panose="02040502050505030304" charset="0"/>
                      </a:endParaRPr>
                    </a:p>
                  </a:txBody>
                  <a:tcPr marL="7620" marR="7620" marT="7620" marB="0" anchor="b">
                    <a:solidFill>
                      <a:srgbClr val="92D050">
                        <a:alpha val="5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798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ru-RU" sz="1600" b="1" u="none" strike="noStrike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charset="0"/>
                        </a:rPr>
                        <a:t>1</a:t>
                      </a:r>
                      <a:endParaRPr lang="ru-RU" sz="1600" b="1" i="0" u="none" strike="noStrike" dirty="0">
                        <a:solidFill>
                          <a:schemeClr val="tx1"/>
                        </a:solidFill>
                        <a:effectLst/>
                        <a:latin typeface="Palatino Linotype" panose="02040502050505030304" charset="0"/>
                      </a:endParaRPr>
                    </a:p>
                  </a:txBody>
                  <a:tcPr marL="7620" marR="7620" marT="7620" marB="0" anchor="b">
                    <a:solidFill>
                      <a:srgbClr val="92D050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ru-RU" sz="1600" u="none" strike="noStrike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charset="0"/>
                        </a:rPr>
                        <a:t>р.0,06</a:t>
                      </a:r>
                      <a:endParaRPr lang="ru-RU" sz="1600" b="0" i="0" u="none" strike="noStrike" dirty="0">
                        <a:solidFill>
                          <a:schemeClr val="tx1"/>
                        </a:solidFill>
                        <a:effectLst/>
                        <a:latin typeface="Palatino Linotype" panose="02040502050505030304" charset="0"/>
                      </a:endParaRPr>
                    </a:p>
                  </a:txBody>
                  <a:tcPr marL="7620" marR="7620" marT="7620" marB="0" anchor="b">
                    <a:solidFill>
                      <a:srgbClr val="92D050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ru-RU" sz="1600" u="none" strike="noStrike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charset="0"/>
                        </a:rPr>
                        <a:t>10 622</a:t>
                      </a:r>
                      <a:endParaRPr lang="ru-RU" sz="1600" b="0" i="0" u="none" strike="noStrike" dirty="0">
                        <a:solidFill>
                          <a:schemeClr val="tx1"/>
                        </a:solidFill>
                        <a:effectLst/>
                        <a:latin typeface="Palatino Linotype" panose="02040502050505030304" charset="0"/>
                      </a:endParaRPr>
                    </a:p>
                  </a:txBody>
                  <a:tcPr marL="7620" marR="7620" marT="7620" marB="0" anchor="b">
                    <a:solidFill>
                      <a:srgbClr val="92D050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ru-RU" sz="1600" u="none" strike="noStrike">
                          <a:solidFill>
                            <a:schemeClr val="tx1"/>
                          </a:solidFill>
                          <a:effectLst/>
                          <a:latin typeface="Palatino Linotype" panose="02040502050505030304" charset="0"/>
                        </a:rPr>
                        <a:t>р.37,32</a:t>
                      </a:r>
                      <a:endParaRPr lang="ru-RU" sz="1600" b="0" i="0" u="none" strike="noStrike">
                        <a:solidFill>
                          <a:schemeClr val="tx1"/>
                        </a:solidFill>
                        <a:effectLst/>
                        <a:latin typeface="Palatino Linotype" panose="02040502050505030304" charset="0"/>
                      </a:endParaRPr>
                    </a:p>
                  </a:txBody>
                  <a:tcPr marL="7620" marR="7620" marT="7620" marB="0" anchor="b">
                    <a:solidFill>
                      <a:srgbClr val="92D050">
                        <a:alpha val="5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798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ru-RU" sz="1600" b="1" u="none" strike="noStrike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charset="0"/>
                        </a:rPr>
                        <a:t>2</a:t>
                      </a:r>
                      <a:endParaRPr lang="ru-RU" sz="1600" b="1" i="0" u="none" strike="noStrike" dirty="0">
                        <a:solidFill>
                          <a:schemeClr val="tx1"/>
                        </a:solidFill>
                        <a:effectLst/>
                        <a:latin typeface="Palatino Linotype" panose="02040502050505030304" charset="0"/>
                      </a:endParaRPr>
                    </a:p>
                  </a:txBody>
                  <a:tcPr marL="7620" marR="7620" marT="7620" marB="0" anchor="b">
                    <a:solidFill>
                      <a:srgbClr val="92D050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ru-RU" sz="1600" u="none" strike="noStrike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charset="0"/>
                        </a:rPr>
                        <a:t>р.0,08</a:t>
                      </a:r>
                      <a:endParaRPr lang="ru-RU" sz="1600" b="0" i="0" u="none" strike="noStrike" dirty="0">
                        <a:solidFill>
                          <a:schemeClr val="tx1"/>
                        </a:solidFill>
                        <a:effectLst/>
                        <a:latin typeface="Palatino Linotype" panose="02040502050505030304" charset="0"/>
                      </a:endParaRPr>
                    </a:p>
                  </a:txBody>
                  <a:tcPr marL="7620" marR="7620" marT="7620" marB="0" anchor="b">
                    <a:solidFill>
                      <a:srgbClr val="92D050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ru-RU" sz="1600" u="none" strike="noStrike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charset="0"/>
                        </a:rPr>
                        <a:t>30 269</a:t>
                      </a:r>
                      <a:endParaRPr lang="ru-RU" sz="1600" b="0" i="0" u="none" strike="noStrike" dirty="0">
                        <a:solidFill>
                          <a:schemeClr val="tx1"/>
                        </a:solidFill>
                        <a:effectLst/>
                        <a:latin typeface="Palatino Linotype" panose="02040502050505030304" charset="0"/>
                      </a:endParaRPr>
                    </a:p>
                  </a:txBody>
                  <a:tcPr marL="7620" marR="7620" marT="7620" marB="0" anchor="b">
                    <a:solidFill>
                      <a:srgbClr val="92D050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ru-RU" sz="1600" u="none" strike="noStrike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charset="0"/>
                        </a:rPr>
                        <a:t>р.1 621,52</a:t>
                      </a:r>
                      <a:endParaRPr lang="ru-RU" sz="1600" b="0" i="0" u="none" strike="noStrike" dirty="0">
                        <a:solidFill>
                          <a:schemeClr val="tx1"/>
                        </a:solidFill>
                        <a:effectLst/>
                        <a:latin typeface="Palatino Linotype" panose="02040502050505030304" charset="0"/>
                      </a:endParaRPr>
                    </a:p>
                  </a:txBody>
                  <a:tcPr marL="7620" marR="7620" marT="7620" marB="0" anchor="b">
                    <a:solidFill>
                      <a:srgbClr val="92D050">
                        <a:alpha val="5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798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ru-RU" sz="1600" b="1" u="none" strike="noStrike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charset="0"/>
                        </a:rPr>
                        <a:t>3</a:t>
                      </a:r>
                      <a:endParaRPr lang="ru-RU" sz="1600" b="1" i="0" u="none" strike="noStrike" dirty="0">
                        <a:solidFill>
                          <a:schemeClr val="tx1"/>
                        </a:solidFill>
                        <a:effectLst/>
                        <a:latin typeface="Palatino Linotype" panose="02040502050505030304" charset="0"/>
                      </a:endParaRPr>
                    </a:p>
                  </a:txBody>
                  <a:tcPr marL="7620" marR="7620" marT="7620" marB="0" anchor="b">
                    <a:solidFill>
                      <a:srgbClr val="92D050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ru-RU" sz="1600" u="none" strike="noStrike">
                          <a:solidFill>
                            <a:schemeClr val="tx1"/>
                          </a:solidFill>
                          <a:effectLst/>
                          <a:latin typeface="Palatino Linotype" panose="02040502050505030304" charset="0"/>
                        </a:rPr>
                        <a:t>р.0,02</a:t>
                      </a:r>
                      <a:endParaRPr lang="ru-RU" sz="1600" b="0" i="0" u="none" strike="noStrike">
                        <a:solidFill>
                          <a:schemeClr val="tx1"/>
                        </a:solidFill>
                        <a:effectLst/>
                        <a:latin typeface="Palatino Linotype" panose="02040502050505030304" charset="0"/>
                      </a:endParaRPr>
                    </a:p>
                  </a:txBody>
                  <a:tcPr marL="7620" marR="7620" marT="7620" marB="0" anchor="b">
                    <a:solidFill>
                      <a:srgbClr val="92D050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ru-RU" sz="1600" u="none" strike="noStrike">
                          <a:solidFill>
                            <a:schemeClr val="tx1"/>
                          </a:solidFill>
                          <a:effectLst/>
                          <a:latin typeface="Palatino Linotype" panose="02040502050505030304" charset="0"/>
                        </a:rPr>
                        <a:t>24 159</a:t>
                      </a:r>
                      <a:endParaRPr lang="ru-RU" sz="1600" b="0" i="0" u="none" strike="noStrike">
                        <a:solidFill>
                          <a:schemeClr val="tx1"/>
                        </a:solidFill>
                        <a:effectLst/>
                        <a:latin typeface="Palatino Linotype" panose="02040502050505030304" charset="0"/>
                      </a:endParaRPr>
                    </a:p>
                  </a:txBody>
                  <a:tcPr marL="7620" marR="7620" marT="7620" marB="0" anchor="b">
                    <a:solidFill>
                      <a:srgbClr val="92D050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ru-RU" sz="1600" u="none" strike="noStrike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charset="0"/>
                        </a:rPr>
                        <a:t>р.283,18</a:t>
                      </a:r>
                      <a:endParaRPr lang="ru-RU" sz="1600" b="0" i="0" u="none" strike="noStrike" dirty="0">
                        <a:solidFill>
                          <a:schemeClr val="tx1"/>
                        </a:solidFill>
                        <a:effectLst/>
                        <a:latin typeface="Palatino Linotype" panose="02040502050505030304" charset="0"/>
                      </a:endParaRPr>
                    </a:p>
                  </a:txBody>
                  <a:tcPr marL="7620" marR="7620" marT="7620" marB="0" anchor="b">
                    <a:solidFill>
                      <a:srgbClr val="92D050">
                        <a:alpha val="5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47699" y="258445"/>
            <a:ext cx="11174845" cy="1325563"/>
          </a:xfrm>
        </p:spPr>
        <p:txBody>
          <a:bodyPr/>
          <a:lstStyle/>
          <a:p>
            <a:r>
              <a:rPr lang="ru-RU" dirty="0">
                <a:latin typeface="Palatino Linotype" panose="02040502050505030304" charset="0"/>
              </a:rPr>
              <a:t>Спасибо за внимание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647699" y="1584008"/>
            <a:ext cx="7216141" cy="1768792"/>
          </a:xfrm>
        </p:spPr>
        <p:txBody>
          <a:bodyPr>
            <a:normAutofit/>
          </a:bodyPr>
          <a:lstStyle/>
          <a:p>
            <a:pPr marL="457200" indent="-457200">
              <a:buClr>
                <a:srgbClr val="92D050"/>
              </a:buClr>
              <a:buFont typeface="Wingdings" panose="05000000000000000000" pitchFamily="2" charset="2"/>
              <a:buChar char="ü"/>
            </a:pPr>
            <a:endParaRPr lang="ru-RU" sz="2400" dirty="0">
              <a:solidFill>
                <a:schemeClr val="tx1"/>
              </a:solidFill>
              <a:latin typeface="Palatino Linotype" panose="02040502050505030304" charset="0"/>
            </a:endParaRPr>
          </a:p>
          <a:p>
            <a:pPr>
              <a:buClr>
                <a:srgbClr val="92D050"/>
              </a:buClr>
            </a:pPr>
            <a:endParaRPr lang="ru-RU" sz="2400" dirty="0">
              <a:solidFill>
                <a:schemeClr val="tx1"/>
              </a:solidFill>
              <a:latin typeface="Palatino Linotype" panose="02040502050505030304" charset="0"/>
            </a:endParaRPr>
          </a:p>
          <a:p>
            <a:pPr marL="457200" indent="-457200">
              <a:buFont typeface="Wingdings" panose="05000000000000000000" pitchFamily="2" charset="2"/>
              <a:buChar char="§"/>
            </a:pPr>
            <a:endParaRPr lang="ru-RU" sz="2400" dirty="0">
              <a:solidFill>
                <a:schemeClr val="tx1"/>
              </a:solidFill>
              <a:latin typeface="Palatino Linotype" panose="02040502050505030304" charset="0"/>
            </a:endParaRPr>
          </a:p>
          <a:p>
            <a:pPr marL="457200" indent="-457200">
              <a:buFont typeface="Wingdings" panose="05000000000000000000" pitchFamily="2" charset="2"/>
              <a:buChar char="§"/>
            </a:pPr>
            <a:endParaRPr lang="ru-RU" sz="2400" dirty="0">
              <a:solidFill>
                <a:schemeClr val="tx1"/>
              </a:solidFill>
              <a:latin typeface="Palatino Linotype" panose="02040502050505030304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微软雅黑"/>
        <a:ea typeface=""/>
        <a:cs typeface=""/>
        <a:font script="Jpan" typeface="游ゴシック Light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微软雅黑"/>
        <a:ea typeface=""/>
        <a:cs typeface=""/>
        <a:font script="Jpan" typeface="游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234</TotalTime>
  <Words>629</Words>
  <Application>Microsoft Office PowerPoint</Application>
  <PresentationFormat>Широкоэкранный</PresentationFormat>
  <Paragraphs>160</Paragraphs>
  <Slides>21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21</vt:i4>
      </vt:variant>
    </vt:vector>
  </HeadingPairs>
  <TitlesOfParts>
    <vt:vector size="28" baseType="lpstr">
      <vt:lpstr>微软雅黑</vt:lpstr>
      <vt:lpstr>Arial</vt:lpstr>
      <vt:lpstr>Calibri</vt:lpstr>
      <vt:lpstr>Calibri Light</vt:lpstr>
      <vt:lpstr>Palatino Linotype</vt:lpstr>
      <vt:lpstr>Wingdings</vt:lpstr>
      <vt:lpstr>Office Theme</vt:lpstr>
      <vt:lpstr>Анализ SkyCrossroads 1-7 сентября 2022 г.</vt:lpstr>
      <vt:lpstr>Содержание</vt:lpstr>
      <vt:lpstr>Анализ роста транзакций</vt:lpstr>
      <vt:lpstr>Анализ нагрузки на серверы</vt:lpstr>
      <vt:lpstr>Анализ нагрузки на серверы</vt:lpstr>
      <vt:lpstr>Анализ сервиса самообслуживания</vt:lpstr>
      <vt:lpstr>Анализ сервиса самообслуживания</vt:lpstr>
      <vt:lpstr>Анализ продолжительности обслуживания</vt:lpstr>
      <vt:lpstr>Анализ 1-го сентября (акция)</vt:lpstr>
      <vt:lpstr>Анализ 1-го сентября  (акция)</vt:lpstr>
      <vt:lpstr>Анализ 1-го сентября  (сбои)</vt:lpstr>
      <vt:lpstr>Анализ 1-го сентября  (платёжные системы)</vt:lpstr>
      <vt:lpstr>Анализ технических сбоев</vt:lpstr>
      <vt:lpstr>Анализ технических сбоев</vt:lpstr>
      <vt:lpstr>Анализ технических сбоев</vt:lpstr>
      <vt:lpstr>Анализ маркетинговой акции</vt:lpstr>
      <vt:lpstr>Анализ изменения программы лояльности</vt:lpstr>
      <vt:lpstr>Дашборд</vt:lpstr>
      <vt:lpstr>Дашборд</vt:lpstr>
      <vt:lpstr>Корректировка отчёта калькулятора</vt:lpstr>
      <vt:lpstr>Спасибо за внимание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/>
  <cp:lastModifiedBy>Даниил Чумакин</cp:lastModifiedBy>
  <cp:revision>13</cp:revision>
  <dcterms:created xsi:type="dcterms:W3CDTF">2025-07-23T00:59:00Z</dcterms:created>
  <dcterms:modified xsi:type="dcterms:W3CDTF">2025-12-08T16:04:01Z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1049-12.2.0.23155</vt:lpwstr>
  </property>
  <property fmtid="{D5CDD505-2E9C-101B-9397-08002B2CF9AE}" pid="3" name="ICV">
    <vt:lpwstr>E9570D2E314C4FE9B5D2497FAA2293AB_13</vt:lpwstr>
  </property>
</Properties>
</file>